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19" r:id="rId2"/>
    <p:sldId id="320" r:id="rId3"/>
    <p:sldId id="324" r:id="rId4"/>
    <p:sldId id="318" r:id="rId5"/>
    <p:sldId id="326" r:id="rId6"/>
    <p:sldId id="323" r:id="rId7"/>
    <p:sldId id="310" r:id="rId8"/>
  </p:sldIdLst>
  <p:sldSz cx="9144000" cy="5143500" type="screen16x9"/>
  <p:notesSz cx="20104100" cy="11309350"/>
  <p:defaultTextStyle>
    <a:defPPr>
      <a:defRPr lang="pt-BR"/>
    </a:defPPr>
    <a:lvl1pPr marL="0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1pPr>
    <a:lvl2pPr marL="207935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2pPr>
    <a:lvl3pPr marL="415869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3pPr>
    <a:lvl4pPr marL="623804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4pPr>
    <a:lvl5pPr marL="831738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5pPr>
    <a:lvl6pPr marL="1039673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6pPr>
    <a:lvl7pPr marL="1247607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7pPr>
    <a:lvl8pPr marL="1455542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8pPr>
    <a:lvl9pPr marL="1663476" algn="l" defTabSz="415869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6BAF"/>
    <a:srgbClr val="D9D9D9"/>
    <a:srgbClr val="0E7DD0"/>
    <a:srgbClr val="FF3300"/>
    <a:srgbClr val="727275"/>
    <a:srgbClr val="0D6AB0"/>
    <a:srgbClr val="FFD700"/>
    <a:srgbClr val="008080"/>
    <a:srgbClr val="004C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7" autoAdjust="0"/>
    <p:restoredTop sz="94660"/>
  </p:normalViewPr>
  <p:slideViewPr>
    <p:cSldViewPr>
      <p:cViewPr varScale="1">
        <p:scale>
          <a:sx n="86" d="100"/>
          <a:sy n="86" d="100"/>
        </p:scale>
        <p:origin x="684" y="7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73430-92C3-4EDE-A6E8-9B9FCF0071E0}" type="datetimeFigureOut">
              <a:rPr lang="pt-BR" smtClean="0"/>
              <a:t>13/12/2024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762F3-87DF-4722-8399-CA313C3CA3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59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A diagonal listra o fundo ilustração do vetor. Ilustração de papel -  9225538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998910" y="-2001590"/>
            <a:ext cx="5143500" cy="914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/>
          <p:cNvSpPr/>
          <p:nvPr userDrawn="1"/>
        </p:nvSpPr>
        <p:spPr>
          <a:xfrm>
            <a:off x="0" y="0"/>
            <a:ext cx="9146681" cy="514350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7543" y="977583"/>
            <a:ext cx="6107066" cy="461924"/>
          </a:xfrm>
        </p:spPr>
        <p:txBody>
          <a:bodyPr lIns="0" tIns="0" rIns="0" bIns="0"/>
          <a:lstStyle>
            <a:lvl1pPr>
              <a:defRPr sz="3002" b="0" i="0">
                <a:solidFill>
                  <a:srgbClr val="7D7D7D"/>
                </a:solidFill>
                <a:latin typeface="Roboto"/>
                <a:cs typeface="Robot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26050" y="1740011"/>
            <a:ext cx="5696298" cy="307905"/>
          </a:xfrm>
        </p:spPr>
        <p:txBody>
          <a:bodyPr lIns="0" tIns="0" rIns="0" bIns="0"/>
          <a:lstStyle>
            <a:lvl1pPr algn="just">
              <a:defRPr sz="2001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8467" y="1057177"/>
            <a:ext cx="6107066" cy="430887"/>
          </a:xfrm>
        </p:spPr>
        <p:txBody>
          <a:bodyPr lIns="0" tIns="0" rIns="0" bIns="0"/>
          <a:lstStyle>
            <a:lvl1pPr>
              <a:defRPr sz="2800" b="0" i="0">
                <a:solidFill>
                  <a:srgbClr val="7D7D7D"/>
                </a:solidFill>
                <a:latin typeface="Roboto"/>
                <a:cs typeface="Robot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8"/>
          <p:cNvSpPr/>
          <p:nvPr/>
        </p:nvSpPr>
        <p:spPr>
          <a:xfrm>
            <a:off x="0" y="4947518"/>
            <a:ext cx="9144000" cy="73932"/>
          </a:xfrm>
          <a:custGeom>
            <a:avLst/>
            <a:gdLst/>
            <a:ahLst/>
            <a:cxnLst/>
            <a:rect l="l" t="t" r="r" b="b"/>
            <a:pathLst>
              <a:path w="20104100" h="162559">
                <a:moveTo>
                  <a:pt x="0" y="161932"/>
                </a:moveTo>
                <a:lnTo>
                  <a:pt x="20104099" y="161932"/>
                </a:lnTo>
                <a:lnTo>
                  <a:pt x="20104099" y="0"/>
                </a:lnTo>
                <a:lnTo>
                  <a:pt x="0" y="0"/>
                </a:lnTo>
                <a:lnTo>
                  <a:pt x="0" y="161932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9" name="bg object 19"/>
          <p:cNvSpPr/>
          <p:nvPr/>
        </p:nvSpPr>
        <p:spPr>
          <a:xfrm>
            <a:off x="0" y="5021166"/>
            <a:ext cx="9144000" cy="122162"/>
          </a:xfrm>
          <a:custGeom>
            <a:avLst/>
            <a:gdLst/>
            <a:ahLst/>
            <a:cxnLst/>
            <a:rect l="l" t="t" r="r" b="b"/>
            <a:pathLst>
              <a:path w="20104100" h="268604">
                <a:moveTo>
                  <a:pt x="20104099" y="0"/>
                </a:moveTo>
                <a:lnTo>
                  <a:pt x="0" y="0"/>
                </a:lnTo>
                <a:lnTo>
                  <a:pt x="0" y="268190"/>
                </a:lnTo>
                <a:lnTo>
                  <a:pt x="20104099" y="268190"/>
                </a:lnTo>
                <a:lnTo>
                  <a:pt x="20104099" y="0"/>
                </a:lnTo>
                <a:close/>
              </a:path>
            </a:pathLst>
          </a:custGeom>
          <a:solidFill>
            <a:srgbClr val="0D6AB0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0" name="bg object 20"/>
          <p:cNvSpPr/>
          <p:nvPr/>
        </p:nvSpPr>
        <p:spPr>
          <a:xfrm>
            <a:off x="3356810" y="621739"/>
            <a:ext cx="5787349" cy="23970"/>
          </a:xfrm>
          <a:custGeom>
            <a:avLst/>
            <a:gdLst/>
            <a:ahLst/>
            <a:cxnLst/>
            <a:rect l="l" t="t" r="r" b="b"/>
            <a:pathLst>
              <a:path w="12724130" h="52705">
                <a:moveTo>
                  <a:pt x="0" y="52354"/>
                </a:moveTo>
                <a:lnTo>
                  <a:pt x="12723779" y="52354"/>
                </a:lnTo>
                <a:lnTo>
                  <a:pt x="12723779" y="0"/>
                </a:lnTo>
                <a:lnTo>
                  <a:pt x="0" y="0"/>
                </a:lnTo>
                <a:lnTo>
                  <a:pt x="0" y="52354"/>
                </a:lnTo>
                <a:close/>
              </a:path>
            </a:pathLst>
          </a:custGeom>
          <a:solidFill>
            <a:srgbClr val="454545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1" name="bg object 21"/>
          <p:cNvSpPr/>
          <p:nvPr/>
        </p:nvSpPr>
        <p:spPr>
          <a:xfrm>
            <a:off x="3232985" y="605071"/>
            <a:ext cx="50801" cy="50793"/>
          </a:xfrm>
          <a:prstGeom prst="rect">
            <a:avLst/>
          </a:prstGeo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2" name="bg object 22"/>
          <p:cNvSpPr/>
          <p:nvPr/>
        </p:nvSpPr>
        <p:spPr>
          <a:xfrm>
            <a:off x="3056377" y="605071"/>
            <a:ext cx="50801" cy="50793"/>
          </a:xfrm>
          <a:prstGeom prst="rect">
            <a:avLst/>
          </a:pr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3" name="bg object 23"/>
          <p:cNvSpPr/>
          <p:nvPr/>
        </p:nvSpPr>
        <p:spPr>
          <a:xfrm>
            <a:off x="3144683" y="605071"/>
            <a:ext cx="50797" cy="50793"/>
          </a:xfrm>
          <a:prstGeom prst="rect">
            <a:avLst/>
          </a:pr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4" name="bg object 24"/>
          <p:cNvSpPr/>
          <p:nvPr/>
        </p:nvSpPr>
        <p:spPr>
          <a:xfrm>
            <a:off x="2968071" y="605071"/>
            <a:ext cx="50801" cy="50793"/>
          </a:xfrm>
          <a:prstGeom prst="rect">
            <a:avLst/>
          </a:prstGeom>
          <a:blipFill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5" name="bg object 25"/>
          <p:cNvSpPr/>
          <p:nvPr/>
        </p:nvSpPr>
        <p:spPr>
          <a:xfrm>
            <a:off x="2879769" y="605071"/>
            <a:ext cx="50797" cy="50793"/>
          </a:xfrm>
          <a:prstGeom prst="rect">
            <a:avLst/>
          </a:prstGeom>
          <a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6" name="bg object 26"/>
          <p:cNvSpPr/>
          <p:nvPr/>
        </p:nvSpPr>
        <p:spPr>
          <a:xfrm>
            <a:off x="528309" y="1170464"/>
            <a:ext cx="490703" cy="219198"/>
          </a:xfrm>
          <a:custGeom>
            <a:avLst/>
            <a:gdLst/>
            <a:ahLst/>
            <a:cxnLst/>
            <a:rect l="l" t="t" r="r" b="b"/>
            <a:pathLst>
              <a:path w="1078864" h="481964">
                <a:moveTo>
                  <a:pt x="1078501" y="0"/>
                </a:moveTo>
                <a:lnTo>
                  <a:pt x="0" y="0"/>
                </a:lnTo>
                <a:lnTo>
                  <a:pt x="0" y="481660"/>
                </a:lnTo>
                <a:lnTo>
                  <a:pt x="874318" y="481660"/>
                </a:lnTo>
                <a:lnTo>
                  <a:pt x="1078501" y="0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8467" y="1057177"/>
            <a:ext cx="6107066" cy="430887"/>
          </a:xfrm>
        </p:spPr>
        <p:txBody>
          <a:bodyPr lIns="0" tIns="0" rIns="0" bIns="0"/>
          <a:lstStyle>
            <a:lvl1pPr>
              <a:defRPr sz="2800" b="0" i="0">
                <a:solidFill>
                  <a:srgbClr val="7D7D7D"/>
                </a:solidFill>
                <a:latin typeface="Roboto"/>
                <a:cs typeface="Robot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123495"/>
            <a:ext cx="9144000" cy="3019644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925059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0" descr="A diagonal listra o fundo ilustração do vetor. Ilustração de papel -  9225538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2096743" y="-2099583"/>
            <a:ext cx="4947514" cy="9146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tângulo 16"/>
          <p:cNvSpPr/>
          <p:nvPr userDrawn="1"/>
        </p:nvSpPr>
        <p:spPr>
          <a:xfrm>
            <a:off x="-2681" y="0"/>
            <a:ext cx="9146681" cy="494733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bg object 18"/>
          <p:cNvSpPr/>
          <p:nvPr/>
        </p:nvSpPr>
        <p:spPr>
          <a:xfrm>
            <a:off x="0" y="4947514"/>
            <a:ext cx="9144000" cy="73932"/>
          </a:xfrm>
          <a:custGeom>
            <a:avLst/>
            <a:gdLst/>
            <a:ahLst/>
            <a:cxnLst/>
            <a:rect l="l" t="t" r="r" b="b"/>
            <a:pathLst>
              <a:path w="20104100" h="162559">
                <a:moveTo>
                  <a:pt x="0" y="161932"/>
                </a:moveTo>
                <a:lnTo>
                  <a:pt x="20104099" y="161932"/>
                </a:lnTo>
                <a:lnTo>
                  <a:pt x="20104099" y="0"/>
                </a:lnTo>
                <a:lnTo>
                  <a:pt x="0" y="0"/>
                </a:lnTo>
                <a:lnTo>
                  <a:pt x="0" y="161932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9" name="bg object 19"/>
          <p:cNvSpPr/>
          <p:nvPr/>
        </p:nvSpPr>
        <p:spPr>
          <a:xfrm>
            <a:off x="0" y="5021161"/>
            <a:ext cx="9144000" cy="122162"/>
          </a:xfrm>
          <a:custGeom>
            <a:avLst/>
            <a:gdLst/>
            <a:ahLst/>
            <a:cxnLst/>
            <a:rect l="l" t="t" r="r" b="b"/>
            <a:pathLst>
              <a:path w="20104100" h="268604">
                <a:moveTo>
                  <a:pt x="20104099" y="0"/>
                </a:moveTo>
                <a:lnTo>
                  <a:pt x="0" y="0"/>
                </a:lnTo>
                <a:lnTo>
                  <a:pt x="0" y="268201"/>
                </a:lnTo>
                <a:lnTo>
                  <a:pt x="20104099" y="268201"/>
                </a:lnTo>
                <a:lnTo>
                  <a:pt x="20104099" y="0"/>
                </a:lnTo>
                <a:close/>
              </a:path>
            </a:pathLst>
          </a:custGeom>
          <a:solidFill>
            <a:srgbClr val="0D6AB0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0" name="bg object 20"/>
          <p:cNvSpPr/>
          <p:nvPr/>
        </p:nvSpPr>
        <p:spPr>
          <a:xfrm>
            <a:off x="3356810" y="621739"/>
            <a:ext cx="5787349" cy="23970"/>
          </a:xfrm>
          <a:custGeom>
            <a:avLst/>
            <a:gdLst/>
            <a:ahLst/>
            <a:cxnLst/>
            <a:rect l="l" t="t" r="r" b="b"/>
            <a:pathLst>
              <a:path w="12724130" h="52705">
                <a:moveTo>
                  <a:pt x="0" y="52354"/>
                </a:moveTo>
                <a:lnTo>
                  <a:pt x="12723779" y="52354"/>
                </a:lnTo>
                <a:lnTo>
                  <a:pt x="12723779" y="0"/>
                </a:lnTo>
                <a:lnTo>
                  <a:pt x="0" y="0"/>
                </a:lnTo>
                <a:lnTo>
                  <a:pt x="0" y="52354"/>
                </a:lnTo>
                <a:close/>
              </a:path>
            </a:pathLst>
          </a:custGeom>
          <a:solidFill>
            <a:srgbClr val="454545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28175" y="897241"/>
            <a:ext cx="6107066" cy="14080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150" b="0" i="0">
                <a:solidFill>
                  <a:srgbClr val="7D7D7D"/>
                </a:solidFill>
                <a:latin typeface="Roboto"/>
                <a:cs typeface="Roboto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1653" y="2445693"/>
            <a:ext cx="5500695" cy="684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126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126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1" y="4783455"/>
            <a:ext cx="2103120" cy="126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sp>
        <p:nvSpPr>
          <p:cNvPr id="12" name="bg object 21"/>
          <p:cNvSpPr/>
          <p:nvPr userDrawn="1"/>
        </p:nvSpPr>
        <p:spPr>
          <a:xfrm>
            <a:off x="3232985" y="605071"/>
            <a:ext cx="50801" cy="50793"/>
          </a:xfrm>
          <a:prstGeom prst="rect">
            <a:avLst/>
          </a:prstGeom>
          <a:blipFill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3" name="bg object 22"/>
          <p:cNvSpPr/>
          <p:nvPr userDrawn="1"/>
        </p:nvSpPr>
        <p:spPr>
          <a:xfrm>
            <a:off x="3056377" y="605071"/>
            <a:ext cx="50801" cy="50793"/>
          </a:xfrm>
          <a:prstGeom prst="rect">
            <a:avLst/>
          </a:prstGeom>
          <a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4" name="bg object 23"/>
          <p:cNvSpPr/>
          <p:nvPr userDrawn="1"/>
        </p:nvSpPr>
        <p:spPr>
          <a:xfrm>
            <a:off x="3144683" y="605071"/>
            <a:ext cx="50797" cy="50793"/>
          </a:xfrm>
          <a:prstGeom prst="rect">
            <a:avLst/>
          </a:prstGeom>
          <a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5" name="bg object 24"/>
          <p:cNvSpPr/>
          <p:nvPr userDrawn="1"/>
        </p:nvSpPr>
        <p:spPr>
          <a:xfrm>
            <a:off x="2968071" y="605071"/>
            <a:ext cx="50801" cy="50793"/>
          </a:xfrm>
          <a:prstGeom prst="rect">
            <a:avLst/>
          </a:prstGeom>
          <a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1" name="bg object 25"/>
          <p:cNvSpPr/>
          <p:nvPr userDrawn="1"/>
        </p:nvSpPr>
        <p:spPr>
          <a:xfrm>
            <a:off x="2879769" y="605071"/>
            <a:ext cx="50797" cy="50793"/>
          </a:xfrm>
          <a:prstGeom prst="rect">
            <a:avLst/>
          </a:prstGeom>
          <a:blipFill>
            <a:blip r:embed="rId1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22" name="object 14"/>
          <p:cNvSpPr>
            <a:spLocks noChangeAspect="1"/>
          </p:cNvSpPr>
          <p:nvPr userDrawn="1"/>
        </p:nvSpPr>
        <p:spPr>
          <a:xfrm>
            <a:off x="38684" y="62832"/>
            <a:ext cx="2891882" cy="793689"/>
          </a:xfrm>
          <a:prstGeom prst="rect">
            <a:avLst/>
          </a:prstGeom>
          <a:blipFill>
            <a:blip r:embed="rId1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72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 sz="8800">
          <a:latin typeface="+mj-lt"/>
          <a:ea typeface="+mj-ea"/>
          <a:cs typeface="+mj-cs"/>
        </a:defRPr>
      </a:lvl1pPr>
    </p:titleStyle>
    <p:bodyStyle>
      <a:lvl1pPr marL="0">
        <a:defRPr sz="4400">
          <a:latin typeface="+mn-lt"/>
          <a:ea typeface="+mn-ea"/>
          <a:cs typeface="+mn-cs"/>
        </a:defRPr>
      </a:lvl1pPr>
      <a:lvl2pPr marL="207935">
        <a:defRPr>
          <a:latin typeface="+mn-lt"/>
          <a:ea typeface="+mn-ea"/>
          <a:cs typeface="+mn-cs"/>
        </a:defRPr>
      </a:lvl2pPr>
      <a:lvl3pPr marL="415869">
        <a:defRPr>
          <a:latin typeface="+mn-lt"/>
          <a:ea typeface="+mn-ea"/>
          <a:cs typeface="+mn-cs"/>
        </a:defRPr>
      </a:lvl3pPr>
      <a:lvl4pPr marL="623804">
        <a:defRPr>
          <a:latin typeface="+mn-lt"/>
          <a:ea typeface="+mn-ea"/>
          <a:cs typeface="+mn-cs"/>
        </a:defRPr>
      </a:lvl4pPr>
      <a:lvl5pPr marL="831738">
        <a:defRPr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07935">
        <a:defRPr>
          <a:latin typeface="+mn-lt"/>
          <a:ea typeface="+mn-ea"/>
          <a:cs typeface="+mn-cs"/>
        </a:defRPr>
      </a:lvl2pPr>
      <a:lvl3pPr marL="415869">
        <a:defRPr>
          <a:latin typeface="+mn-lt"/>
          <a:ea typeface="+mn-ea"/>
          <a:cs typeface="+mn-cs"/>
        </a:defRPr>
      </a:lvl3pPr>
      <a:lvl4pPr marL="623804">
        <a:defRPr>
          <a:latin typeface="+mn-lt"/>
          <a:ea typeface="+mn-ea"/>
          <a:cs typeface="+mn-cs"/>
        </a:defRPr>
      </a:lvl4pPr>
      <a:lvl5pPr marL="831738">
        <a:defRPr>
          <a:latin typeface="+mn-lt"/>
          <a:ea typeface="+mn-ea"/>
          <a:cs typeface="+mn-cs"/>
        </a:defRPr>
      </a:lvl5pPr>
      <a:lvl6pPr marL="1039673">
        <a:defRPr>
          <a:latin typeface="+mn-lt"/>
          <a:ea typeface="+mn-ea"/>
          <a:cs typeface="+mn-cs"/>
        </a:defRPr>
      </a:lvl6pPr>
      <a:lvl7pPr marL="1247607">
        <a:defRPr>
          <a:latin typeface="+mn-lt"/>
          <a:ea typeface="+mn-ea"/>
          <a:cs typeface="+mn-cs"/>
        </a:defRPr>
      </a:lvl7pPr>
      <a:lvl8pPr marL="1455542">
        <a:defRPr>
          <a:latin typeface="+mn-lt"/>
          <a:ea typeface="+mn-ea"/>
          <a:cs typeface="+mn-cs"/>
        </a:defRPr>
      </a:lvl8pPr>
      <a:lvl9pPr marL="166347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volucaocompressores.com.br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jpe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36" Type="http://schemas.openxmlformats.org/officeDocument/2006/relationships/image" Target="../media/image55.jpe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jpe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jpeg"/><Relationship Id="rId35" Type="http://schemas.openxmlformats.org/officeDocument/2006/relationships/image" Target="../media/image54.jpeg"/><Relationship Id="rId8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xp5ODjBytuo" TargetMode="External"/><Relationship Id="rId13" Type="http://schemas.openxmlformats.org/officeDocument/2006/relationships/image" Target="../media/image62.png"/><Relationship Id="rId18" Type="http://schemas.openxmlformats.org/officeDocument/2006/relationships/image" Target="../media/image65.png"/><Relationship Id="rId3" Type="http://schemas.openxmlformats.org/officeDocument/2006/relationships/image" Target="../media/image57.png"/><Relationship Id="rId7" Type="http://schemas.openxmlformats.org/officeDocument/2006/relationships/image" Target="../media/image59.jpeg"/><Relationship Id="rId12" Type="http://schemas.openxmlformats.org/officeDocument/2006/relationships/hyperlink" Target="https://br.linkedin.com/company/evolucao-comercio-de-compressores-e-equipamentos" TargetMode="External"/><Relationship Id="rId17" Type="http://schemas.openxmlformats.org/officeDocument/2006/relationships/hyperlink" Target="https://www.youtube.com/channel/UCwd-vQDfQFCs9o1J-7-WiMQ" TargetMode="External"/><Relationship Id="rId2" Type="http://schemas.openxmlformats.org/officeDocument/2006/relationships/image" Target="../media/image56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evolucaocompressores.com.br/" TargetMode="External"/><Relationship Id="rId11" Type="http://schemas.openxmlformats.org/officeDocument/2006/relationships/image" Target="../media/image61.png"/><Relationship Id="rId5" Type="http://schemas.openxmlformats.org/officeDocument/2006/relationships/image" Target="../media/image58.png"/><Relationship Id="rId15" Type="http://schemas.openxmlformats.org/officeDocument/2006/relationships/image" Target="../media/image63.png"/><Relationship Id="rId10" Type="http://schemas.openxmlformats.org/officeDocument/2006/relationships/hyperlink" Target="https://www.facebook.com/EvolucaoCompressores" TargetMode="External"/><Relationship Id="rId4" Type="http://schemas.openxmlformats.org/officeDocument/2006/relationships/hyperlink" Target="https://api.whatsapp.com/send?phone=554799155535" TargetMode="External"/><Relationship Id="rId9" Type="http://schemas.openxmlformats.org/officeDocument/2006/relationships/image" Target="../media/image60.png"/><Relationship Id="rId14" Type="http://schemas.openxmlformats.org/officeDocument/2006/relationships/hyperlink" Target="https://www.instagram.com/evolucaocompressores/?hl=pt-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42;p4">
            <a:extLst>
              <a:ext uri="{FF2B5EF4-FFF2-40B4-BE49-F238E27FC236}">
                <a16:creationId xmlns:a16="http://schemas.microsoft.com/office/drawing/2014/main" id="{2ABC5016-8411-4149-9AA7-AA8AD5367CF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6268" r="22983"/>
          <a:stretch/>
        </p:blipFill>
        <p:spPr>
          <a:xfrm>
            <a:off x="3845880" y="966496"/>
            <a:ext cx="3656809" cy="420957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tângulo Arredondado 3">
            <a:extLst>
              <a:ext uri="{FF2B5EF4-FFF2-40B4-BE49-F238E27FC236}">
                <a16:creationId xmlns:a16="http://schemas.microsoft.com/office/drawing/2014/main" id="{E6D13815-2600-4B7C-972C-63CDC321A3A6}"/>
              </a:ext>
            </a:extLst>
          </p:cNvPr>
          <p:cNvSpPr/>
          <p:nvPr/>
        </p:nvSpPr>
        <p:spPr>
          <a:xfrm>
            <a:off x="5369903" y="367778"/>
            <a:ext cx="3926497" cy="521248"/>
          </a:xfrm>
          <a:prstGeom prst="roundRect">
            <a:avLst/>
          </a:prstGeom>
          <a:solidFill>
            <a:srgbClr val="0C6BAF"/>
          </a:solidFill>
        </p:spPr>
        <p:txBody>
          <a:bodyPr wrap="square" anchor="ctr">
            <a:noAutofit/>
          </a:bodyPr>
          <a:lstStyle/>
          <a:p>
            <a:pPr marL="901700" lvl="3" algn="just">
              <a:spcBef>
                <a:spcPts val="1200"/>
              </a:spcBef>
              <a:spcAft>
                <a:spcPts val="600"/>
              </a:spcAft>
            </a:pPr>
            <a:endParaRPr lang="pt-BR" sz="1400" b="1" dirty="0">
              <a:solidFill>
                <a:schemeClr val="bg1"/>
              </a:solidFill>
              <a:latin typeface="Roboto"/>
            </a:endParaRPr>
          </a:p>
        </p:txBody>
      </p:sp>
      <p:sp>
        <p:nvSpPr>
          <p:cNvPr id="8" name="Retângulo 7"/>
          <p:cNvSpPr>
            <a:spLocks/>
          </p:cNvSpPr>
          <p:nvPr/>
        </p:nvSpPr>
        <p:spPr>
          <a:xfrm>
            <a:off x="-89596" y="-11616"/>
            <a:ext cx="3020170" cy="51435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  <a:gs pos="50000">
                <a:srgbClr val="FFFFFF"/>
              </a:gs>
              <a:gs pos="40000">
                <a:srgbClr val="FFFFFF">
                  <a:alpha val="60000"/>
                </a:srgbClr>
              </a:gs>
              <a:gs pos="30000">
                <a:srgbClr val="FFFFFF">
                  <a:alpha val="40000"/>
                </a:srgbClr>
              </a:gs>
              <a:gs pos="20000">
                <a:srgbClr val="FFFFFF">
                  <a:alpha val="30000"/>
                </a:srgbClr>
              </a:gs>
              <a:gs pos="10000">
                <a:schemeClr val="bg1">
                  <a:alpha val="2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514990" y="443736"/>
            <a:ext cx="3657600" cy="36933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CAÇA–VAZAMENTOS</a:t>
            </a:r>
          </a:p>
        </p:txBody>
      </p:sp>
      <p:sp>
        <p:nvSpPr>
          <p:cNvPr id="26" name="object 13"/>
          <p:cNvSpPr>
            <a:spLocks noChangeAspect="1"/>
          </p:cNvSpPr>
          <p:nvPr/>
        </p:nvSpPr>
        <p:spPr>
          <a:xfrm>
            <a:off x="203661" y="147375"/>
            <a:ext cx="2915920" cy="2915920"/>
          </a:xfrm>
          <a:custGeom>
            <a:avLst/>
            <a:gdLst/>
            <a:ahLst/>
            <a:cxnLst/>
            <a:rect l="l" t="t" r="r" b="b"/>
            <a:pathLst>
              <a:path w="8078470" h="8078470">
                <a:moveTo>
                  <a:pt x="8077869" y="4038934"/>
                </a:moveTo>
                <a:lnTo>
                  <a:pt x="4038934" y="8077869"/>
                </a:lnTo>
                <a:lnTo>
                  <a:pt x="0" y="4038934"/>
                </a:lnTo>
                <a:lnTo>
                  <a:pt x="4038934" y="0"/>
                </a:lnTo>
                <a:lnTo>
                  <a:pt x="8077869" y="4038934"/>
                </a:lnTo>
                <a:close/>
              </a:path>
            </a:pathLst>
          </a:custGeom>
          <a:ln w="2094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72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96CAE29-63B2-4028-9682-83B6D2841109}"/>
              </a:ext>
            </a:extLst>
          </p:cNvPr>
          <p:cNvGrpSpPr/>
          <p:nvPr/>
        </p:nvGrpSpPr>
        <p:grpSpPr>
          <a:xfrm>
            <a:off x="-38269" y="1971"/>
            <a:ext cx="3286875" cy="3210686"/>
            <a:chOff x="-19916" y="-2"/>
            <a:chExt cx="3286875" cy="3210686"/>
          </a:xfrm>
        </p:grpSpPr>
        <p:grpSp>
          <p:nvGrpSpPr>
            <p:cNvPr id="20" name="object 2"/>
            <p:cNvGrpSpPr>
              <a:grpSpLocks noChangeAspect="1"/>
            </p:cNvGrpSpPr>
            <p:nvPr/>
          </p:nvGrpSpPr>
          <p:grpSpPr>
            <a:xfrm>
              <a:off x="-19916" y="-2"/>
              <a:ext cx="3286875" cy="3210686"/>
              <a:chOff x="0" y="1207053"/>
              <a:chExt cx="9106192" cy="8895110"/>
            </a:xfrm>
          </p:grpSpPr>
          <p:sp>
            <p:nvSpPr>
              <p:cNvPr id="21" name="object 3"/>
              <p:cNvSpPr/>
              <p:nvPr/>
            </p:nvSpPr>
            <p:spPr>
              <a:xfrm>
                <a:off x="0" y="1207083"/>
                <a:ext cx="8449945" cy="8895080"/>
              </a:xfrm>
              <a:custGeom>
                <a:avLst/>
                <a:gdLst/>
                <a:ahLst/>
                <a:cxnLst/>
                <a:rect l="l" t="t" r="r" b="b"/>
                <a:pathLst>
                  <a:path w="8449945" h="8895080">
                    <a:moveTo>
                      <a:pt x="4002621" y="0"/>
                    </a:moveTo>
                    <a:lnTo>
                      <a:pt x="0" y="4002611"/>
                    </a:lnTo>
                    <a:lnTo>
                      <a:pt x="0" y="4891840"/>
                    </a:lnTo>
                    <a:lnTo>
                      <a:pt x="4002621" y="8894451"/>
                    </a:lnTo>
                    <a:lnTo>
                      <a:pt x="8449847" y="4447225"/>
                    </a:lnTo>
                    <a:lnTo>
                      <a:pt x="4002621" y="0"/>
                    </a:ln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 wrap="square" lIns="0" tIns="0" rIns="0" bIns="0" rtlCol="0"/>
              <a:lstStyle/>
              <a:p>
                <a:endParaRPr sz="372" dirty="0"/>
              </a:p>
            </p:txBody>
          </p:sp>
          <p:sp>
            <p:nvSpPr>
              <p:cNvPr id="24" name="object 6"/>
              <p:cNvSpPr/>
              <p:nvPr/>
            </p:nvSpPr>
            <p:spPr>
              <a:xfrm>
                <a:off x="211110" y="1207053"/>
                <a:ext cx="8895082" cy="8895080"/>
              </a:xfrm>
              <a:custGeom>
                <a:avLst/>
                <a:gdLst/>
                <a:ahLst/>
                <a:cxnLst/>
                <a:rect l="l" t="t" r="r" b="b"/>
                <a:pathLst>
                  <a:path w="8895080" h="8895080">
                    <a:moveTo>
                      <a:pt x="4447225" y="0"/>
                    </a:moveTo>
                    <a:lnTo>
                      <a:pt x="0" y="4447225"/>
                    </a:lnTo>
                    <a:lnTo>
                      <a:pt x="4447225" y="8894462"/>
                    </a:lnTo>
                    <a:lnTo>
                      <a:pt x="8894451" y="4447225"/>
                    </a:lnTo>
                    <a:lnTo>
                      <a:pt x="4447225" y="0"/>
                    </a:lnTo>
                    <a:close/>
                  </a:path>
                </a:pathLst>
              </a:custGeom>
              <a:solidFill>
                <a:srgbClr val="E3E3E3"/>
              </a:solidFill>
            </p:spPr>
            <p:txBody>
              <a:bodyPr wrap="square" lIns="0" tIns="0" rIns="0" bIns="0" rtlCol="0"/>
              <a:lstStyle/>
              <a:p>
                <a:endParaRPr sz="372"/>
              </a:p>
            </p:txBody>
          </p:sp>
        </p:grpSp>
        <p:sp>
          <p:nvSpPr>
            <p:cNvPr id="28" name="object 14">
              <a:hlinkClick r:id="rId3"/>
            </p:cNvPr>
            <p:cNvSpPr>
              <a:spLocks noChangeAspect="1"/>
            </p:cNvSpPr>
            <p:nvPr/>
          </p:nvSpPr>
          <p:spPr>
            <a:xfrm>
              <a:off x="471273" y="1259138"/>
              <a:ext cx="2522631" cy="692394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72"/>
            </a:p>
          </p:txBody>
        </p:sp>
      </p:grpSp>
    </p:spTree>
    <p:extLst>
      <p:ext uri="{BB962C8B-B14F-4D97-AF65-F5344CB8AC3E}">
        <p14:creationId xmlns:p14="http://schemas.microsoft.com/office/powerpoint/2010/main" val="202238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1"/>
          <p:cNvSpPr txBox="1">
            <a:spLocks/>
          </p:cNvSpPr>
          <p:nvPr/>
        </p:nvSpPr>
        <p:spPr>
          <a:xfrm>
            <a:off x="715224" y="971550"/>
            <a:ext cx="751795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2" b="0" i="0">
                <a:solidFill>
                  <a:srgbClr val="7D7D7D"/>
                </a:solidFill>
                <a:latin typeface="Roboto"/>
                <a:ea typeface="+mj-ea"/>
                <a:cs typeface="Roboto"/>
              </a:defRPr>
            </a:lvl1pPr>
          </a:lstStyle>
          <a:p>
            <a:pPr algn="ctr" defTabSz="914400"/>
            <a:r>
              <a:rPr lang="pt-BR" sz="2000" b="1" kern="0" dirty="0"/>
              <a:t>VOCÊ SABIA?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4464" y="2284111"/>
            <a:ext cx="5739469" cy="1795317"/>
          </a:xfrm>
          <a:prstGeom prst="rect">
            <a:avLst/>
          </a:prstGeom>
        </p:spPr>
      </p:pic>
      <p:sp>
        <p:nvSpPr>
          <p:cNvPr id="2" name="Texto Explicativo Retangular com Cantos Arredondados 1"/>
          <p:cNvSpPr/>
          <p:nvPr/>
        </p:nvSpPr>
        <p:spPr>
          <a:xfrm>
            <a:off x="990600" y="1581150"/>
            <a:ext cx="2438400" cy="721530"/>
          </a:xfrm>
          <a:prstGeom prst="wedgeRoundRectCallout">
            <a:avLst>
              <a:gd name="adj1" fmla="val 47625"/>
              <a:gd name="adj2" fmla="val 150533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b="1" dirty="0">
                <a:solidFill>
                  <a:schemeClr val="bg1"/>
                </a:solidFill>
                <a:latin typeface="Roboto"/>
              </a:rPr>
              <a:t>Vazamentos podem representar </a:t>
            </a:r>
            <a:r>
              <a:rPr lang="pt-BR" sz="1100" b="1" u="sng" dirty="0">
                <a:solidFill>
                  <a:schemeClr val="bg1"/>
                </a:solidFill>
                <a:latin typeface="Roboto"/>
              </a:rPr>
              <a:t>MAIS DE 20%</a:t>
            </a:r>
            <a:r>
              <a:rPr lang="pt-BR" sz="1100" b="1" dirty="0">
                <a:solidFill>
                  <a:schemeClr val="bg1"/>
                </a:solidFill>
                <a:latin typeface="Roboto"/>
              </a:rPr>
              <a:t> da produção de ar comprimido.</a:t>
            </a:r>
          </a:p>
        </p:txBody>
      </p:sp>
      <p:sp>
        <p:nvSpPr>
          <p:cNvPr id="9" name="Texto Explicativo Retangular com Cantos Arredondados 8"/>
          <p:cNvSpPr/>
          <p:nvPr/>
        </p:nvSpPr>
        <p:spPr>
          <a:xfrm>
            <a:off x="5410201" y="4137750"/>
            <a:ext cx="2590799" cy="720000"/>
          </a:xfrm>
          <a:prstGeom prst="wedgeRoundRectCallout">
            <a:avLst>
              <a:gd name="adj1" fmla="val -43542"/>
              <a:gd name="adj2" fmla="val -86783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just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1100" b="1" dirty="0">
                <a:solidFill>
                  <a:schemeClr val="bg1"/>
                </a:solidFill>
                <a:latin typeface="Roboto"/>
              </a:rPr>
              <a:t>Usos indevidos podem representar </a:t>
            </a:r>
            <a:r>
              <a:rPr lang="pt-BR" sz="1100" b="1" u="sng" dirty="0">
                <a:solidFill>
                  <a:schemeClr val="bg1"/>
                </a:solidFill>
                <a:latin typeface="Roboto"/>
              </a:rPr>
              <a:t>MAIS DE 15%</a:t>
            </a:r>
            <a:r>
              <a:rPr lang="pt-BR" sz="1100" b="1" dirty="0">
                <a:solidFill>
                  <a:schemeClr val="bg1"/>
                </a:solidFill>
                <a:latin typeface="Roboto"/>
              </a:rPr>
              <a:t> da produção de ar comprimido.</a:t>
            </a:r>
          </a:p>
        </p:txBody>
      </p:sp>
    </p:spTree>
    <p:extLst>
      <p:ext uri="{BB962C8B-B14F-4D97-AF65-F5344CB8AC3E}">
        <p14:creationId xmlns:p14="http://schemas.microsoft.com/office/powerpoint/2010/main" val="97610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Arredondado 2"/>
          <p:cNvSpPr/>
          <p:nvPr/>
        </p:nvSpPr>
        <p:spPr>
          <a:xfrm>
            <a:off x="-838200" y="1079920"/>
            <a:ext cx="5743272" cy="443043"/>
          </a:xfrm>
          <a:prstGeom prst="roundRect">
            <a:avLst/>
          </a:prstGeom>
          <a:solidFill>
            <a:srgbClr val="0C6BAF"/>
          </a:solidFill>
        </p:spPr>
        <p:txBody>
          <a:bodyPr wrap="square" anchor="ctr">
            <a:noAutofit/>
          </a:bodyPr>
          <a:lstStyle/>
          <a:p>
            <a:pPr marL="901700" lvl="3" algn="just">
              <a:spcBef>
                <a:spcPts val="1200"/>
              </a:spcBef>
              <a:spcAft>
                <a:spcPts val="600"/>
              </a:spcAft>
            </a:pPr>
            <a:r>
              <a:rPr lang="pt-BR" sz="1600" b="1" dirty="0">
                <a:solidFill>
                  <a:schemeClr val="bg1"/>
                </a:solidFill>
                <a:latin typeface="Roboto"/>
              </a:rPr>
              <a:t>Relatórios personalizados de caça-vazamentos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64345" y="3837377"/>
            <a:ext cx="5045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600" b="1" dirty="0"/>
              <a:t>Detalhamentos de peças necessárias para </a:t>
            </a:r>
          </a:p>
          <a:p>
            <a:pPr>
              <a:buClr>
                <a:srgbClr val="00B050"/>
              </a:buClr>
            </a:pPr>
            <a:r>
              <a:rPr lang="pt-BR" sz="1600" b="1" dirty="0"/>
              <a:t>    solucionar os vazamentos;</a:t>
            </a:r>
          </a:p>
        </p:txBody>
      </p:sp>
      <p:grpSp>
        <p:nvGrpSpPr>
          <p:cNvPr id="24" name="Agrupar 23"/>
          <p:cNvGrpSpPr/>
          <p:nvPr/>
        </p:nvGrpSpPr>
        <p:grpSpPr>
          <a:xfrm>
            <a:off x="6424318" y="839679"/>
            <a:ext cx="2549759" cy="2798871"/>
            <a:chOff x="7991273" y="1067078"/>
            <a:chExt cx="1905101" cy="2405555"/>
          </a:xfrm>
        </p:grpSpPr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94273" y="1641410"/>
              <a:ext cx="1302101" cy="183122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20" name="Imagem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4249" y="1526543"/>
              <a:ext cx="1293712" cy="183122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5837" y="1205826"/>
              <a:ext cx="1368642" cy="207791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23" name="Imagem 2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91273" y="1067078"/>
              <a:ext cx="1433918" cy="214950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pic>
        <p:nvPicPr>
          <p:cNvPr id="25" name="Google Shape;142;p4">
            <a:extLst>
              <a:ext uri="{FF2B5EF4-FFF2-40B4-BE49-F238E27FC236}">
                <a16:creationId xmlns:a16="http://schemas.microsoft.com/office/drawing/2014/main" id="{995B4F70-65B0-4AFE-A3FB-BA39EF712F4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6268" r="22983"/>
          <a:stretch/>
        </p:blipFill>
        <p:spPr>
          <a:xfrm>
            <a:off x="4406361" y="1907021"/>
            <a:ext cx="2180776" cy="25503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9B77987C-D56B-4837-B76B-3E451050838D}"/>
              </a:ext>
            </a:extLst>
          </p:cNvPr>
          <p:cNvSpPr txBox="1"/>
          <p:nvPr/>
        </p:nvSpPr>
        <p:spPr>
          <a:xfrm>
            <a:off x="164346" y="3150785"/>
            <a:ext cx="5045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600" b="1" dirty="0"/>
              <a:t>Custo estimado em vazamentos;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7567AF4-A68A-40F6-BA21-19F2D834E76E}"/>
              </a:ext>
            </a:extLst>
          </p:cNvPr>
          <p:cNvSpPr txBox="1"/>
          <p:nvPr/>
        </p:nvSpPr>
        <p:spPr>
          <a:xfrm>
            <a:off x="164345" y="2464193"/>
            <a:ext cx="5045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600" b="1" dirty="0"/>
              <a:t>Indicações de melhoria e racionalização;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B6140F70-CF4D-4873-B474-65B3A7503A98}"/>
              </a:ext>
            </a:extLst>
          </p:cNvPr>
          <p:cNvSpPr txBox="1"/>
          <p:nvPr/>
        </p:nvSpPr>
        <p:spPr>
          <a:xfrm>
            <a:off x="169923" y="1775996"/>
            <a:ext cx="5045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pt-BR" sz="1600" b="1" dirty="0"/>
              <a:t>Detalhamento com imagens dos locais de vazamentos; </a:t>
            </a:r>
          </a:p>
        </p:txBody>
      </p:sp>
      <p:sp>
        <p:nvSpPr>
          <p:cNvPr id="36" name="Google Shape;155;p4">
            <a:extLst>
              <a:ext uri="{FF2B5EF4-FFF2-40B4-BE49-F238E27FC236}">
                <a16:creationId xmlns:a16="http://schemas.microsoft.com/office/drawing/2014/main" id="{E0BD0C1C-3E7B-4684-8569-4996BE6CEEA3}"/>
              </a:ext>
            </a:extLst>
          </p:cNvPr>
          <p:cNvSpPr txBox="1"/>
          <p:nvPr/>
        </p:nvSpPr>
        <p:spPr>
          <a:xfrm>
            <a:off x="4880911" y="4508280"/>
            <a:ext cx="1066800" cy="246181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Detector LD500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155;p4">
            <a:extLst>
              <a:ext uri="{FF2B5EF4-FFF2-40B4-BE49-F238E27FC236}">
                <a16:creationId xmlns:a16="http://schemas.microsoft.com/office/drawing/2014/main" id="{FB707938-88A5-4BAA-A43C-E35C3689DDAF}"/>
              </a:ext>
            </a:extLst>
          </p:cNvPr>
          <p:cNvSpPr txBox="1"/>
          <p:nvPr/>
        </p:nvSpPr>
        <p:spPr>
          <a:xfrm>
            <a:off x="6781800" y="3714750"/>
            <a:ext cx="1880105" cy="246181"/>
          </a:xfrm>
          <a:prstGeom prst="rect">
            <a:avLst/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pt-BR" sz="1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Relatório de Caça-Vazamentos</a:t>
            </a:r>
          </a:p>
        </p:txBody>
      </p:sp>
    </p:spTree>
    <p:extLst>
      <p:ext uri="{BB962C8B-B14F-4D97-AF65-F5344CB8AC3E}">
        <p14:creationId xmlns:p14="http://schemas.microsoft.com/office/powerpoint/2010/main" val="358903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Agrupar 32">
            <a:extLst>
              <a:ext uri="{FF2B5EF4-FFF2-40B4-BE49-F238E27FC236}">
                <a16:creationId xmlns:a16="http://schemas.microsoft.com/office/drawing/2014/main" id="{50CF5F9B-CAC2-457D-8689-A5AD23C447D9}"/>
              </a:ext>
            </a:extLst>
          </p:cNvPr>
          <p:cNvGrpSpPr/>
          <p:nvPr/>
        </p:nvGrpSpPr>
        <p:grpSpPr>
          <a:xfrm>
            <a:off x="932158" y="1733550"/>
            <a:ext cx="7279684" cy="2662275"/>
            <a:chOff x="415403" y="1472496"/>
            <a:chExt cx="6011559" cy="2198506"/>
          </a:xfrm>
        </p:grpSpPr>
        <p:pic>
          <p:nvPicPr>
            <p:cNvPr id="44" name="Google Shape;166;p5">
              <a:extLst>
                <a:ext uri="{FF2B5EF4-FFF2-40B4-BE49-F238E27FC236}">
                  <a16:creationId xmlns:a16="http://schemas.microsoft.com/office/drawing/2014/main" id="{A98DFDE0-A17E-4434-ACFD-F7367B02FDC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1" t="43485" r="60285"/>
            <a:stretch/>
          </p:blipFill>
          <p:spPr>
            <a:xfrm>
              <a:off x="415403" y="1472496"/>
              <a:ext cx="2240671" cy="2198505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7" name="Google Shape;169;p5">
              <a:extLst>
                <a:ext uri="{FF2B5EF4-FFF2-40B4-BE49-F238E27FC236}">
                  <a16:creationId xmlns:a16="http://schemas.microsoft.com/office/drawing/2014/main" id="{B1BF0033-FCBD-4814-A750-44AE81D4266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1507" t="9950" r="52015" b="12783"/>
            <a:stretch/>
          </p:blipFill>
          <p:spPr>
            <a:xfrm>
              <a:off x="2718175" y="1903896"/>
              <a:ext cx="1853825" cy="1767106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8" name="Google Shape;170;p5">
              <a:extLst>
                <a:ext uri="{FF2B5EF4-FFF2-40B4-BE49-F238E27FC236}">
                  <a16:creationId xmlns:a16="http://schemas.microsoft.com/office/drawing/2014/main" id="{683F7055-7B11-454B-83F1-F7C65BBBA3F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370" t="22950" r="6178" b="28734"/>
            <a:stretch/>
          </p:blipFill>
          <p:spPr>
            <a:xfrm>
              <a:off x="4792389" y="1903895"/>
              <a:ext cx="1634573" cy="1767106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9" name="Google Shape;171;p5">
              <a:extLst>
                <a:ext uri="{FF2B5EF4-FFF2-40B4-BE49-F238E27FC236}">
                  <a16:creationId xmlns:a16="http://schemas.microsoft.com/office/drawing/2014/main" id="{1026D965-6BE1-477D-B688-A5C719B8AD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007323" y="1472497"/>
              <a:ext cx="1429493" cy="2858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172;p5">
              <a:extLst>
                <a:ext uri="{FF2B5EF4-FFF2-40B4-BE49-F238E27FC236}">
                  <a16:creationId xmlns:a16="http://schemas.microsoft.com/office/drawing/2014/main" id="{EC2EC06E-2621-4574-8344-6A9FD50E793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894927" y="1472497"/>
              <a:ext cx="1429494" cy="2858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Retângulo Arredondado 2">
            <a:extLst>
              <a:ext uri="{FF2B5EF4-FFF2-40B4-BE49-F238E27FC236}">
                <a16:creationId xmlns:a16="http://schemas.microsoft.com/office/drawing/2014/main" id="{CCFD0B7E-E5E9-4C35-B73D-E4E9B11837FA}"/>
              </a:ext>
            </a:extLst>
          </p:cNvPr>
          <p:cNvSpPr/>
          <p:nvPr/>
        </p:nvSpPr>
        <p:spPr>
          <a:xfrm>
            <a:off x="-304800" y="971550"/>
            <a:ext cx="5823403" cy="443043"/>
          </a:xfrm>
          <a:prstGeom prst="roundRect">
            <a:avLst/>
          </a:prstGeom>
          <a:solidFill>
            <a:srgbClr val="0C6BAF"/>
          </a:solidFill>
        </p:spPr>
        <p:txBody>
          <a:bodyPr wrap="square" anchor="ctr">
            <a:noAutofit/>
          </a:bodyPr>
          <a:lstStyle/>
          <a:p>
            <a:pPr lvl="0" algn="ctr"/>
            <a:r>
              <a:rPr lang="pt-BR" sz="1600" b="1" dirty="0">
                <a:solidFill>
                  <a:schemeClr val="bg1"/>
                </a:solidFill>
                <a:latin typeface="Roboto"/>
                <a:ea typeface="Arial"/>
                <a:cs typeface="Arial"/>
                <a:sym typeface="Arial"/>
              </a:rPr>
              <a:t>Exemplo de informações extraídas / Identificações </a:t>
            </a:r>
            <a:endParaRPr lang="pt-BR"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384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Arredondado 2">
            <a:extLst>
              <a:ext uri="{FF2B5EF4-FFF2-40B4-BE49-F238E27FC236}">
                <a16:creationId xmlns:a16="http://schemas.microsoft.com/office/drawing/2014/main" id="{CCFD0B7E-E5E9-4C35-B73D-E4E9B11837FA}"/>
              </a:ext>
            </a:extLst>
          </p:cNvPr>
          <p:cNvSpPr/>
          <p:nvPr/>
        </p:nvSpPr>
        <p:spPr>
          <a:xfrm>
            <a:off x="-152400" y="895350"/>
            <a:ext cx="5105400" cy="443043"/>
          </a:xfrm>
          <a:prstGeom prst="roundRect">
            <a:avLst/>
          </a:prstGeom>
          <a:solidFill>
            <a:srgbClr val="0C6BAF"/>
          </a:solidFill>
        </p:spPr>
        <p:txBody>
          <a:bodyPr wrap="square" anchor="ctr">
            <a:noAutofit/>
          </a:bodyPr>
          <a:lstStyle/>
          <a:p>
            <a:pPr lvl="0" algn="ctr"/>
            <a:r>
              <a:rPr lang="pt-BR" sz="1600" b="1" dirty="0">
                <a:solidFill>
                  <a:schemeClr val="bg1"/>
                </a:solidFill>
                <a:latin typeface="Roboto"/>
                <a:ea typeface="Arial"/>
                <a:cs typeface="Arial"/>
                <a:sym typeface="Arial"/>
              </a:rPr>
              <a:t>Exemplo de relato de vazamento no relatório</a:t>
            </a:r>
            <a:endParaRPr lang="pt-BR"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167;p5">
            <a:extLst>
              <a:ext uri="{FF2B5EF4-FFF2-40B4-BE49-F238E27FC236}">
                <a16:creationId xmlns:a16="http://schemas.microsoft.com/office/drawing/2014/main" id="{8C82482D-B7EB-4F62-BD60-C8BA787B53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5949" y="1504950"/>
            <a:ext cx="7472101" cy="3179805"/>
          </a:xfrm>
          <a:prstGeom prst="rect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860372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ângulo 70"/>
          <p:cNvSpPr>
            <a:spLocks noChangeAspect="1"/>
          </p:cNvSpPr>
          <p:nvPr/>
        </p:nvSpPr>
        <p:spPr>
          <a:xfrm>
            <a:off x="200736" y="1376322"/>
            <a:ext cx="8638464" cy="350668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ítulo 1"/>
          <p:cNvSpPr txBox="1">
            <a:spLocks/>
          </p:cNvSpPr>
          <p:nvPr/>
        </p:nvSpPr>
        <p:spPr>
          <a:xfrm>
            <a:off x="0" y="971550"/>
            <a:ext cx="9144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2" b="0" i="0">
                <a:solidFill>
                  <a:srgbClr val="7D7D7D"/>
                </a:solidFill>
                <a:latin typeface="Roboto"/>
                <a:ea typeface="+mj-ea"/>
                <a:cs typeface="Roboto"/>
              </a:defRPr>
            </a:lvl1pPr>
          </a:lstStyle>
          <a:p>
            <a:pPr algn="ctr" defTabSz="914400"/>
            <a:r>
              <a:rPr lang="pt-BR" sz="2000" b="1" kern="0" dirty="0"/>
              <a:t>ALGUNS CASES DE SUCESSO</a:t>
            </a:r>
            <a:endParaRPr lang="pt-BR" sz="2000" b="1" kern="0" dirty="0">
              <a:solidFill>
                <a:srgbClr val="FF0000"/>
              </a:solidFill>
            </a:endParaRPr>
          </a:p>
        </p:txBody>
      </p:sp>
      <p:pic>
        <p:nvPicPr>
          <p:cNvPr id="73" name="Picture 2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39" b="20065"/>
          <a:stretch/>
        </p:blipFill>
        <p:spPr bwMode="auto">
          <a:xfrm>
            <a:off x="1847480" y="4388665"/>
            <a:ext cx="115099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4" name="Picture 25"/>
          <p:cNvPicPr>
            <a:picLocks noChangeAspect="1" noChangeArrowheads="1"/>
          </p:cNvPicPr>
          <p:nvPr/>
        </p:nvPicPr>
        <p:blipFill rotWithShape="1">
          <a:blip r:embed="rId3"/>
          <a:srcRect/>
          <a:stretch/>
        </p:blipFill>
        <p:spPr bwMode="auto">
          <a:xfrm>
            <a:off x="4400036" y="1515751"/>
            <a:ext cx="1252625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5" name="Picture 2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91" r="24652"/>
          <a:stretch/>
        </p:blipFill>
        <p:spPr bwMode="auto">
          <a:xfrm>
            <a:off x="5566194" y="2919704"/>
            <a:ext cx="457201" cy="50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6" name="Picture 27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382" r="15227"/>
          <a:stretch/>
        </p:blipFill>
        <p:spPr bwMode="auto">
          <a:xfrm>
            <a:off x="3092598" y="2084700"/>
            <a:ext cx="762001" cy="46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7" name="Picture 11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1" b="25871"/>
          <a:stretch/>
        </p:blipFill>
        <p:spPr bwMode="auto">
          <a:xfrm>
            <a:off x="4905435" y="4344581"/>
            <a:ext cx="1321519" cy="43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284" y="1548372"/>
            <a:ext cx="1109302" cy="18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9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82336" y="1489878"/>
            <a:ext cx="905625" cy="304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0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7711" y="1502704"/>
            <a:ext cx="1020501" cy="27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02275" y="3822696"/>
            <a:ext cx="1258060" cy="21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" name="Picture 9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6481" y="2164444"/>
            <a:ext cx="1007117" cy="30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22098" y="2137677"/>
            <a:ext cx="651336" cy="356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4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48591" y="3804851"/>
            <a:ext cx="1124224" cy="24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6" name="Picture 14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2801" y="3788522"/>
            <a:ext cx="1451218" cy="28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9" name="Picture 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6117" y="2075778"/>
            <a:ext cx="716023" cy="480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0" name="Picture 7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20640" y="2056459"/>
            <a:ext cx="543458" cy="51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4" name="Picture 2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1931" y="2069989"/>
            <a:ext cx="656363" cy="49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5" name="Imagem 94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1071" y="3744819"/>
            <a:ext cx="744089" cy="369893"/>
          </a:xfrm>
          <a:prstGeom prst="rect">
            <a:avLst/>
          </a:prstGeom>
        </p:spPr>
      </p:pic>
      <p:pic>
        <p:nvPicPr>
          <p:cNvPr id="96" name="Imagem 9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600" y="3060547"/>
            <a:ext cx="945143" cy="224666"/>
          </a:xfrm>
          <a:prstGeom prst="rect">
            <a:avLst/>
          </a:prstGeom>
        </p:spPr>
      </p:pic>
      <p:pic>
        <p:nvPicPr>
          <p:cNvPr id="98" name="Imagem 9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0301" y="2910191"/>
            <a:ext cx="512451" cy="525370"/>
          </a:xfrm>
          <a:prstGeom prst="rect">
            <a:avLst/>
          </a:prstGeom>
        </p:spPr>
      </p:pic>
      <p:pic>
        <p:nvPicPr>
          <p:cNvPr id="99" name="Imagem 98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192" y="4484734"/>
            <a:ext cx="1079186" cy="265063"/>
          </a:xfrm>
          <a:prstGeom prst="rect">
            <a:avLst/>
          </a:prstGeom>
        </p:spPr>
      </p:pic>
      <p:pic>
        <p:nvPicPr>
          <p:cNvPr id="100" name="Picture 16"/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204" b="32319"/>
          <a:stretch/>
        </p:blipFill>
        <p:spPr bwMode="auto">
          <a:xfrm>
            <a:off x="6265206" y="2992989"/>
            <a:ext cx="856993" cy="364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1" name="Imagem 100"/>
          <p:cNvPicPr>
            <a:picLocks noChangeAspect="1"/>
          </p:cNvPicPr>
          <p:nvPr/>
        </p:nvPicPr>
        <p:blipFill rotWithShape="1"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68752" y="2973500"/>
            <a:ext cx="753196" cy="398751"/>
          </a:xfrm>
          <a:prstGeom prst="rect">
            <a:avLst/>
          </a:prstGeom>
        </p:spPr>
      </p:pic>
      <p:pic>
        <p:nvPicPr>
          <p:cNvPr id="129" name="Imagem 128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7816" y="1497982"/>
            <a:ext cx="1441337" cy="288268"/>
          </a:xfrm>
          <a:prstGeom prst="rect">
            <a:avLst/>
          </a:prstGeom>
        </p:spPr>
      </p:pic>
      <p:pic>
        <p:nvPicPr>
          <p:cNvPr id="132" name="Picture 6" descr="Header logo">
            <a:extLst>
              <a:ext uri="{FF2B5EF4-FFF2-40B4-BE49-F238E27FC236}">
                <a16:creationId xmlns:a16="http://schemas.microsoft.com/office/drawing/2014/main" id="{06D791C7-C044-4BA8-A9CA-89BB34B00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24833" y="3812401"/>
            <a:ext cx="1441335" cy="23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Picture 8" descr="Tigre | akquinet HKS Brasil">
            <a:extLst>
              <a:ext uri="{FF2B5EF4-FFF2-40B4-BE49-F238E27FC236}">
                <a16:creationId xmlns:a16="http://schemas.microsoft.com/office/drawing/2014/main" id="{9C234EE5-970B-48EB-ACAF-041FCCC0F5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96617" y="4449777"/>
            <a:ext cx="1042872" cy="33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Krona - Tubos e Conexões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43" y="2064125"/>
            <a:ext cx="780674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ntex | Duchas e Torneiras"/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3" b="26372"/>
          <a:stretch/>
        </p:blipFill>
        <p:spPr bwMode="auto">
          <a:xfrm>
            <a:off x="3807962" y="1489716"/>
            <a:ext cx="118899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ercules Motores Elétricos - Comschool"/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00" b="36800"/>
          <a:stretch/>
        </p:blipFill>
        <p:spPr bwMode="auto">
          <a:xfrm>
            <a:off x="5693416" y="3757841"/>
            <a:ext cx="1343161" cy="34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HI Etiquetas | LinkedIn"/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80" r="21660"/>
          <a:stretch/>
        </p:blipFill>
        <p:spPr bwMode="auto">
          <a:xfrm>
            <a:off x="5146702" y="1450844"/>
            <a:ext cx="401613" cy="382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odízio Fixo Placa 62 PFE 400KG MADEMIL - Corremol"/>
          <p:cNvPicPr>
            <a:picLocks noChangeAspect="1" noChangeArrowheads="1"/>
          </p:cNvPicPr>
          <p:nvPr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66" b="34000"/>
          <a:stretch/>
        </p:blipFill>
        <p:spPr bwMode="auto">
          <a:xfrm>
            <a:off x="366943" y="4421421"/>
            <a:ext cx="1335299" cy="3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ssistência Técnica Autorizada Britânia em Teresina (PI)"/>
          <p:cNvPicPr>
            <a:picLocks noChangeAspect="1" noChangeArrowheads="1"/>
          </p:cNvPicPr>
          <p:nvPr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16" b="30079"/>
          <a:stretch/>
        </p:blipFill>
        <p:spPr bwMode="auto">
          <a:xfrm>
            <a:off x="4083099" y="2142888"/>
            <a:ext cx="1574882" cy="346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UDATI - MDF - Mercoplac"/>
          <p:cNvPicPr>
            <a:picLocks noChangeAspect="1" noChangeArrowheads="1"/>
          </p:cNvPicPr>
          <p:nvPr/>
        </p:nvPicPr>
        <p:blipFill rotWithShape="1"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44" b="31556"/>
          <a:stretch/>
        </p:blipFill>
        <p:spPr bwMode="auto">
          <a:xfrm>
            <a:off x="5698065" y="1498116"/>
            <a:ext cx="1479998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rodutos | Corte e Soldadura por Ultrassons | Frezite® Woodworking Tools"/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709" y="4463699"/>
            <a:ext cx="1616488" cy="30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onteúdo Sincol: Minimalismo e cores em detalhes - Revista PROJETO"/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902" y="2983873"/>
            <a:ext cx="1659729" cy="423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KARSTEN - Texbrasil"/>
          <p:cNvPicPr>
            <a:picLocks noChangeAspect="1" noChangeArrowheads="1"/>
          </p:cNvPicPr>
          <p:nvPr/>
        </p:nvPicPr>
        <p:blipFill rotWithShape="1"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7" t="41000" r="5053" b="40333"/>
          <a:stretch/>
        </p:blipFill>
        <p:spPr bwMode="auto">
          <a:xfrm>
            <a:off x="7391400" y="3032142"/>
            <a:ext cx="1371600" cy="28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19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 descr="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502" y="2257846"/>
            <a:ext cx="288000" cy="288000"/>
          </a:xfrm>
          <a:prstGeom prst="rect">
            <a:avLst/>
          </a:prstGeom>
        </p:spPr>
      </p:pic>
      <p:pic>
        <p:nvPicPr>
          <p:cNvPr id="14" name="Imagem 13" descr="4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509" y="1845826"/>
            <a:ext cx="288000" cy="288000"/>
          </a:xfrm>
          <a:prstGeom prst="rect">
            <a:avLst/>
          </a:prstGeom>
        </p:spPr>
      </p:pic>
      <p:sp>
        <p:nvSpPr>
          <p:cNvPr id="15" name="Retângulo 14"/>
          <p:cNvSpPr/>
          <p:nvPr/>
        </p:nvSpPr>
        <p:spPr>
          <a:xfrm>
            <a:off x="1371600" y="1814062"/>
            <a:ext cx="7534012" cy="351528"/>
          </a:xfrm>
          <a:prstGeom prst="rect">
            <a:avLst/>
          </a:prstGeom>
        </p:spPr>
        <p:txBody>
          <a:bodyPr wrap="square" lIns="104287" tIns="52144" rIns="104287" bIns="5214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Rua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dos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Suíços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17.210  – Costa e Silva | Joinville/SC - CEP: 89220-801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1371600" y="2220222"/>
            <a:ext cx="4495800" cy="351528"/>
          </a:xfrm>
          <a:prstGeom prst="rect">
            <a:avLst/>
          </a:prstGeom>
        </p:spPr>
        <p:txBody>
          <a:bodyPr wrap="square" lIns="104287" tIns="52144" rIns="104287" bIns="5214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(47) 3455-0337</a:t>
            </a:r>
          </a:p>
        </p:txBody>
      </p:sp>
      <p:pic>
        <p:nvPicPr>
          <p:cNvPr id="17" name="Imagem 16" descr="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372" y="3394281"/>
            <a:ext cx="288000" cy="288000"/>
          </a:xfrm>
          <a:prstGeom prst="rect">
            <a:avLst/>
          </a:prstGeom>
        </p:spPr>
      </p:pic>
      <p:pic>
        <p:nvPicPr>
          <p:cNvPr id="18" name="Imagem 17" descr="4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509" y="2984514"/>
            <a:ext cx="288000" cy="288000"/>
          </a:xfrm>
          <a:prstGeom prst="rect">
            <a:avLst/>
          </a:prstGeom>
        </p:spPr>
      </p:pic>
      <p:sp>
        <p:nvSpPr>
          <p:cNvPr id="19" name="Retângulo 18"/>
          <p:cNvSpPr/>
          <p:nvPr/>
        </p:nvSpPr>
        <p:spPr>
          <a:xfrm>
            <a:off x="1373025" y="2952750"/>
            <a:ext cx="6189192" cy="351528"/>
          </a:xfrm>
          <a:prstGeom prst="rect">
            <a:avLst/>
          </a:prstGeom>
        </p:spPr>
        <p:txBody>
          <a:bodyPr wrap="square" lIns="104287" tIns="52144" rIns="104287" bIns="5214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Rua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Pedro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Robl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13 – Colonial | São Bento do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Sul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/SC - CEP: 89220-801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1373025" y="3362517"/>
            <a:ext cx="4495800" cy="351528"/>
          </a:xfrm>
          <a:prstGeom prst="rect">
            <a:avLst/>
          </a:prstGeom>
        </p:spPr>
        <p:txBody>
          <a:bodyPr wrap="square" lIns="104287" tIns="52144" rIns="104287" bIns="5214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(47) 3635-0222</a:t>
            </a:r>
          </a:p>
        </p:txBody>
      </p:sp>
      <p:pic>
        <p:nvPicPr>
          <p:cNvPr id="21" name="Imagem 20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7977" y="3872566"/>
            <a:ext cx="2003481" cy="692302"/>
          </a:xfrm>
          <a:prstGeom prst="rect">
            <a:avLst/>
          </a:prstGeom>
        </p:spPr>
      </p:pic>
      <p:sp>
        <p:nvSpPr>
          <p:cNvPr id="27" name="Título 1"/>
          <p:cNvSpPr txBox="1">
            <a:spLocks/>
          </p:cNvSpPr>
          <p:nvPr/>
        </p:nvSpPr>
        <p:spPr>
          <a:xfrm>
            <a:off x="1012502" y="971549"/>
            <a:ext cx="502372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2" b="0" i="0">
                <a:solidFill>
                  <a:srgbClr val="7D7D7D"/>
                </a:solidFill>
                <a:latin typeface="Roboto"/>
                <a:ea typeface="+mj-ea"/>
                <a:cs typeface="Roboto"/>
              </a:defRPr>
            </a:lvl1pPr>
          </a:lstStyle>
          <a:p>
            <a:pPr defTabSz="914400"/>
            <a:r>
              <a:rPr lang="pt-BR" sz="2000" b="1" kern="0" dirty="0"/>
              <a:t>ENTRE EM CONTATO E SAIBA MAIS!</a:t>
            </a: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3880797" y="4101877"/>
            <a:ext cx="2766060" cy="23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400" b="1">
                <a:solidFill>
                  <a:srgbClr val="000000"/>
                </a:solidFill>
                <a:effectLst/>
                <a:latin typeface="Aharoni"/>
                <a:ea typeface="Aharoni"/>
              </a:rPr>
              <a:t>Conecte-se com a gente!</a:t>
            </a:r>
            <a:endParaRPr lang="pt-BR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5" name="Picture 13">
            <a:hlinkClick r:id="rId6" tooltip="Visite nosso site"/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56262" y="4045997"/>
            <a:ext cx="653415" cy="654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5">
            <a:hlinkClick r:id="rId8"/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76987" y="4366037"/>
            <a:ext cx="370205" cy="335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7">
            <a:hlinkClick r:id="rId10"/>
          </p:cNvPr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99007" y="4360322"/>
            <a:ext cx="322580" cy="32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19">
            <a:hlinkClick r:id="rId12"/>
          </p:cNvPr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3397" y="4360322"/>
            <a:ext cx="322580" cy="32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1">
            <a:hlinkClick r:id="rId14"/>
          </p:cNvPr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24457" y="4366037"/>
            <a:ext cx="321310" cy="32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23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2502" y="3912012"/>
            <a:ext cx="1694180" cy="84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Shape 24"/>
          <p:cNvSpPr>
            <a:spLocks/>
          </p:cNvSpPr>
          <p:nvPr/>
        </p:nvSpPr>
        <p:spPr bwMode="auto">
          <a:xfrm>
            <a:off x="2904802" y="4093622"/>
            <a:ext cx="0" cy="532765"/>
          </a:xfrm>
          <a:custGeom>
            <a:avLst/>
            <a:gdLst>
              <a:gd name="T0" fmla="*/ 0 h 533400"/>
              <a:gd name="T1" fmla="*/ 5334 h 533400"/>
              <a:gd name="T2" fmla="*/ 0 60000 65536"/>
              <a:gd name="T3" fmla="*/ 0 60000 65536"/>
              <a:gd name="T4" fmla="*/ 0 h 533400"/>
              <a:gd name="T5" fmla="*/ 533400 h 533400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T4" r="0" b="T5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9144">
            <a:solidFill>
              <a:srgbClr val="5C4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pt-BR"/>
          </a:p>
        </p:txBody>
      </p:sp>
      <p:pic>
        <p:nvPicPr>
          <p:cNvPr id="33" name="Picture 26">
            <a:hlinkClick r:id="rId17"/>
          </p:cNvPr>
          <p:cNvPicPr/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48002" y="4360322"/>
            <a:ext cx="340995" cy="34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430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22738</TotalTime>
  <Words>143</Words>
  <Application>Microsoft Office PowerPoint</Application>
  <PresentationFormat>Apresentação na tela (16:9)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Aharoni</vt:lpstr>
      <vt:lpstr>Arial</vt:lpstr>
      <vt:lpstr>Calibri</vt:lpstr>
      <vt:lpstr>Roboto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Airtouch-layout-02</dc:title>
  <dc:creator>William</dc:creator>
  <cp:lastModifiedBy>tiagoantoniobeppler@hotmail.com.br</cp:lastModifiedBy>
  <cp:revision>389</cp:revision>
  <dcterms:created xsi:type="dcterms:W3CDTF">2020-09-30T00:43:32Z</dcterms:created>
  <dcterms:modified xsi:type="dcterms:W3CDTF">2024-12-13T19:00:54Z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2020-09-29T00:00:00Z</vt:filetime>
  </property>
  <property fmtid="{D5CDD505-2E9C-101B-9397-08002B2CF9AE}" pid="3" name="Creator">
    <vt:lpwstr>Adobe Illustrator 24.1 (Windows)</vt:lpwstr>
  </property>
  <property fmtid="{D5CDD505-2E9C-101B-9397-08002B2CF9AE}" pid="4" name="LastSaved">
    <vt:filetime>2020-09-30T00:00:00Z</vt:filetime>
  </property>
</Properties>
</file>