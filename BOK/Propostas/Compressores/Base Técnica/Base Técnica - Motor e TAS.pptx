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59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62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356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41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41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3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706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076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27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37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074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089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BF021-9629-4FC5-83A1-3267B47B4390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69DCA-5B0B-46D3-BEF8-63852D4D8F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01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mwYJazRFXHo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E708-2D8E-8608-B899-677D6F35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1D43C85-199B-90B8-4785-1F2F1EED1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8" y="1161648"/>
            <a:ext cx="371475" cy="20002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EBE5BA7-A662-8A96-B298-164BD91E0B93}"/>
              </a:ext>
            </a:extLst>
          </p:cNvPr>
          <p:cNvSpPr txBox="1"/>
          <p:nvPr/>
        </p:nvSpPr>
        <p:spPr>
          <a:xfrm>
            <a:off x="844371" y="1095044"/>
            <a:ext cx="6919640" cy="333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lnSpc>
                <a:spcPts val="1960"/>
              </a:lnSpc>
              <a:buNone/>
            </a:pPr>
            <a:r>
              <a:rPr lang="en-US" sz="1400" b="1" kern="1200">
                <a:solidFill>
                  <a:srgbClr val="6F6F6F"/>
                </a:solidFill>
                <a:effectLst/>
                <a:latin typeface="Montserrat Bold" panose="00000800000000000000" charset="0"/>
                <a:ea typeface="Montserrat Bold" panose="00000800000000000000" charset="0"/>
                <a:cs typeface="Montserrat Bold" panose="00000800000000000000" charset="0"/>
              </a:rPr>
              <a:t>MOTOR HÍBRIDO DE MAGNETO PERMANENTE (HPM)</a:t>
            </a:r>
            <a:endParaRPr lang="pt-BR" sz="1400">
              <a:effectLst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1A179DF-B8AF-6790-FF5A-64E3E384E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64" y="2643769"/>
            <a:ext cx="1311593" cy="126301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846FD15-1528-DC5F-723B-C3EDCEEC56C5}"/>
              </a:ext>
            </a:extLst>
          </p:cNvPr>
          <p:cNvSpPr txBox="1"/>
          <p:nvPr/>
        </p:nvSpPr>
        <p:spPr>
          <a:xfrm>
            <a:off x="1985554" y="2305780"/>
            <a:ext cx="3977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" rtl="0" eaLnBrk="1" latinLnBrk="0" hangingPunct="1">
              <a:buNone/>
            </a:pPr>
            <a:r>
              <a:rPr lang="pt-BR" sz="1200" b="1" kern="120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  <a:cs typeface="Arial" panose="020B0604020202020204" pitchFamily="34" charset="0"/>
              </a:rPr>
              <a:t>Motor elétrico HPM:</a:t>
            </a:r>
            <a:endParaRPr lang="pt-BR" sz="1200">
              <a:effectLst/>
            </a:endParaRPr>
          </a:p>
          <a:p>
            <a:pPr marL="0" indent="-73152" algn="just" rtl="0" eaLnBrk="1" latinLnBrk="0" hangingPunct="1">
              <a:buNone/>
            </a:pPr>
            <a:r>
              <a:rPr lang="pt-BR" sz="1200" kern="120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  <a:cs typeface="Arial" panose="020B0604020202020204" pitchFamily="34" charset="0"/>
              </a:rPr>
              <a:t>2 inversores de frequência: motor principal e motor ventilador;</a:t>
            </a:r>
            <a:endParaRPr lang="pt-BR" sz="1200">
              <a:effectLst/>
            </a:endParaRPr>
          </a:p>
          <a:p>
            <a:pPr marL="0" indent="-73152" algn="just" rtl="0" eaLnBrk="1" latinLnBrk="0" hangingPunct="1">
              <a:buNone/>
            </a:pPr>
            <a:r>
              <a:rPr lang="pt-BR" sz="1200" kern="120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  <a:cs typeface="Arial" panose="020B0604020202020204" pitchFamily="34" charset="0"/>
              </a:rPr>
              <a:t>Proporciona maior economia de energia elétrica;</a:t>
            </a:r>
            <a:endParaRPr lang="pt-BR" sz="1200">
              <a:effectLst/>
            </a:endParaRPr>
          </a:p>
          <a:p>
            <a:pPr marL="0" indent="-73152" algn="just" rtl="0" eaLnBrk="1" latinLnBrk="0" hangingPunct="1">
              <a:buNone/>
            </a:pPr>
            <a:r>
              <a:rPr lang="pt-BR" sz="1200" kern="120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  <a:cs typeface="Arial" panose="020B0604020202020204" pitchFamily="34" charset="0"/>
              </a:rPr>
              <a:t>Partidas e paradas ilimitadas;</a:t>
            </a:r>
            <a:endParaRPr lang="pt-BR" sz="1200">
              <a:effectLst/>
            </a:endParaRPr>
          </a:p>
          <a:p>
            <a:pPr marL="0" indent="-73152" algn="just" rtl="0" eaLnBrk="1" latinLnBrk="0" hangingPunct="1">
              <a:buNone/>
            </a:pPr>
            <a:r>
              <a:rPr lang="pt-BR" sz="1200" kern="120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  <a:cs typeface="Arial" panose="020B0604020202020204" pitchFamily="34" charset="0"/>
              </a:rPr>
              <a:t>Não possui rolamentos o que dispensa manutenção;</a:t>
            </a:r>
            <a:endParaRPr lang="pt-BR" sz="1200">
              <a:effectLst/>
            </a:endParaRPr>
          </a:p>
          <a:p>
            <a:pPr marL="0" indent="-73152" algn="just" rtl="0" eaLnBrk="1" latinLnBrk="0" hangingPunct="1">
              <a:buNone/>
            </a:pPr>
            <a:r>
              <a:rPr lang="pt-BR" sz="1200" kern="120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  <a:cs typeface="Arial" panose="020B0604020202020204" pitchFamily="34" charset="0"/>
              </a:rPr>
              <a:t>Motor ocupa metade do espaço de um motor convencional;</a:t>
            </a:r>
            <a:endParaRPr lang="pt-BR" sz="1200">
              <a:effectLst/>
            </a:endParaRPr>
          </a:p>
          <a:p>
            <a:pPr marL="0" indent="-73152" algn="just" rtl="0" eaLnBrk="1" latinLnBrk="0" hangingPunct="1">
              <a:buNone/>
            </a:pPr>
            <a:r>
              <a:rPr lang="pt-BR" sz="1200" kern="120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  <a:cs typeface="Arial" panose="020B0604020202020204" pitchFamily="34" charset="0"/>
              </a:rPr>
              <a:t>Trabalha em ambientes de até 46°C;</a:t>
            </a:r>
            <a:endParaRPr lang="pt-BR" sz="1200">
              <a:effectLst/>
            </a:endParaRPr>
          </a:p>
        </p:txBody>
      </p:sp>
      <p:pic>
        <p:nvPicPr>
          <p:cNvPr id="12" name="Google Shape;188;p6" descr="23.png">
            <a:extLst>
              <a:ext uri="{FF2B5EF4-FFF2-40B4-BE49-F238E27FC236}">
                <a16:creationId xmlns:a16="http://schemas.microsoft.com/office/drawing/2014/main" id="{BB2E07DB-41B0-1320-FB13-769B47A937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956136">
            <a:off x="5866554" y="1141635"/>
            <a:ext cx="463000" cy="429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91;p6">
            <a:extLst>
              <a:ext uri="{FF2B5EF4-FFF2-40B4-BE49-F238E27FC236}">
                <a16:creationId xmlns:a16="http://schemas.microsoft.com/office/drawing/2014/main" id="{B5EACA74-AD68-DAE6-B73A-D2A794C296A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9016" y="1632951"/>
            <a:ext cx="510711" cy="44855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20B49A1B-77B1-30A9-B908-D5557D4D303F}"/>
              </a:ext>
            </a:extLst>
          </p:cNvPr>
          <p:cNvSpPr txBox="1"/>
          <p:nvPr/>
        </p:nvSpPr>
        <p:spPr>
          <a:xfrm>
            <a:off x="1157178" y="1626394"/>
            <a:ext cx="49308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Confira o Motor HPM</a:t>
            </a:r>
            <a:endParaRPr lang="pt-BR" sz="1200">
              <a:latin typeface="Montserrat" panose="00000500000000000000" pitchFamily="2" charset="0"/>
            </a:endParaRPr>
          </a:p>
          <a:p>
            <a:pPr lvl="0"/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Clique </a:t>
            </a:r>
            <a:r>
              <a:rPr lang="pt-BR" sz="1200" u="sng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aqui</a:t>
            </a: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ou aproxime a câmera do seu celular no QR Code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ACA26EB5-9A7F-0921-00B8-A0A90B918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97" y="4649366"/>
            <a:ext cx="371475" cy="200025"/>
          </a:xfrm>
          <a:prstGeom prst="rect">
            <a:avLst/>
          </a:prstGeom>
        </p:spPr>
      </p:pic>
      <p:pic>
        <p:nvPicPr>
          <p:cNvPr id="17" name="Google Shape;204;p7" descr="T:\Rotary\_Competitive Teardown\R-Series\images\MOTOR_TEFC.png">
            <a:extLst>
              <a:ext uri="{FF2B5EF4-FFF2-40B4-BE49-F238E27FC236}">
                <a16:creationId xmlns:a16="http://schemas.microsoft.com/office/drawing/2014/main" id="{D4D1E01B-FA97-BEFD-39F7-5BE373E2AE9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2897" y="5150515"/>
            <a:ext cx="1355273" cy="12630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AC4DA948-08FB-681F-0C4D-A75A1FF70B6D}"/>
              </a:ext>
            </a:extLst>
          </p:cNvPr>
          <p:cNvSpPr txBox="1"/>
          <p:nvPr/>
        </p:nvSpPr>
        <p:spPr>
          <a:xfrm>
            <a:off x="2110358" y="5181859"/>
            <a:ext cx="3977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69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Partida por inversor frequência;</a:t>
            </a:r>
          </a:p>
          <a:p>
            <a:pPr marL="0" marR="0" lvl="0" indent="-69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Motor de alta eficiência  IPW5S;</a:t>
            </a:r>
          </a:p>
          <a:p>
            <a:pPr marL="0" marR="0" lvl="0" indent="-69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Motor TEFC de alta performance;</a:t>
            </a:r>
          </a:p>
          <a:p>
            <a:pPr marL="0" marR="0" lvl="0" indent="-69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Trabalha em ambientes de até 46°C;</a:t>
            </a:r>
          </a:p>
          <a:p>
            <a:pPr marL="0" marR="0" lvl="0" indent="-698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Projetado para trabalhar em ambientes agressivos;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57E6FAD-EC0A-3F82-036D-AEC3783A74EF}"/>
              </a:ext>
            </a:extLst>
          </p:cNvPr>
          <p:cNvSpPr txBox="1"/>
          <p:nvPr/>
        </p:nvSpPr>
        <p:spPr>
          <a:xfrm>
            <a:off x="1029814" y="4582761"/>
            <a:ext cx="6919640" cy="333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lnSpc>
                <a:spcPts val="1960"/>
              </a:lnSpc>
              <a:buNone/>
            </a:pPr>
            <a:r>
              <a:rPr lang="en-US" sz="1400" b="1" kern="1200">
                <a:solidFill>
                  <a:srgbClr val="6F6F6F"/>
                </a:solidFill>
                <a:effectLst/>
                <a:latin typeface="Montserrat Bold" panose="00000800000000000000" charset="0"/>
                <a:ea typeface="Montserrat Bold" panose="00000800000000000000" charset="0"/>
                <a:cs typeface="Montserrat Bold" panose="00000800000000000000" charset="0"/>
              </a:rPr>
              <a:t>MOTOR DE INDUÇÃO DE ALTA EFICIÊNCIA -WEG</a:t>
            </a:r>
            <a:endParaRPr lang="pt-BR" sz="1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57607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>
            <a:extLst>
              <a:ext uri="{FF2B5EF4-FFF2-40B4-BE49-F238E27FC236}">
                <a16:creationId xmlns:a16="http://schemas.microsoft.com/office/drawing/2014/main" id="{A41D20A9-FFDB-E7AA-BE0F-99682AA1C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67" y="868203"/>
            <a:ext cx="371475" cy="20002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AD24B2AB-D820-4D66-5E3F-F0D047FED681}"/>
              </a:ext>
            </a:extLst>
          </p:cNvPr>
          <p:cNvSpPr txBox="1"/>
          <p:nvPr/>
        </p:nvSpPr>
        <p:spPr>
          <a:xfrm>
            <a:off x="817851" y="802917"/>
            <a:ext cx="6919640" cy="333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60"/>
              </a:lnSpc>
            </a:pPr>
            <a:r>
              <a:rPr lang="pt-BR" sz="1400" b="1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PACOTE TAS™ - TOTAL AIR SYSTEM</a:t>
            </a:r>
            <a:endParaRPr lang="pt-BR" sz="1400" b="1">
              <a:solidFill>
                <a:schemeClr val="bg1">
                  <a:lumMod val="50000"/>
                </a:schemeClr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23" name="Google Shape;226;p9">
            <a:extLst>
              <a:ext uri="{FF2B5EF4-FFF2-40B4-BE49-F238E27FC236}">
                <a16:creationId xmlns:a16="http://schemas.microsoft.com/office/drawing/2014/main" id="{E56EA25D-E90D-05A3-384E-D60FFE2668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4880" y="2759369"/>
            <a:ext cx="2164933" cy="1120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3B37D258-14FF-7791-AF2A-82941BC1A892}"/>
              </a:ext>
            </a:extLst>
          </p:cNvPr>
          <p:cNvSpPr txBox="1"/>
          <p:nvPr/>
        </p:nvSpPr>
        <p:spPr>
          <a:xfrm>
            <a:off x="228187" y="1200331"/>
            <a:ext cx="5754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O pacote TAS™ (Total Air System™) da Série R Ingersoll Rand oferece uma solução integrada que minimiza custos de instalação e espaço, através da integração de um compressor, secador, filtro coalescente e separador de condensado.</a:t>
            </a:r>
            <a:endParaRPr lang="pt-BR" sz="1200">
              <a:latin typeface="Montserrat" panose="00000500000000000000" pitchFamily="2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59C7122-99BF-036D-F204-61D851A16D79}"/>
              </a:ext>
            </a:extLst>
          </p:cNvPr>
          <p:cNvSpPr txBox="1"/>
          <p:nvPr/>
        </p:nvSpPr>
        <p:spPr>
          <a:xfrm>
            <a:off x="228187" y="2159690"/>
            <a:ext cx="4049484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Quattrocento Sans"/>
                <a:cs typeface="Quattrocento Sans"/>
                <a:sym typeface="Quattrocento Sans"/>
              </a:rPr>
              <a:t>✔ </a:t>
            </a: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Filtro coalescente de alta eficiência padrão e secador de ar refrigerado integrado fornecem ar qualidade ISO 1-4-2</a:t>
            </a:r>
            <a:endParaRPr lang="pt-BR" sz="1200">
              <a:latin typeface="Montserrat" panose="00000500000000000000" pitchFamily="2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Quattrocento Sans"/>
                <a:cs typeface="Quattrocento Sans"/>
                <a:sym typeface="Quattrocento Sans"/>
              </a:rPr>
              <a:t>✔</a:t>
            </a: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Trocador de calor patenteado 3-em-1 oferece maior confiabilidade e eficiência com uma menor queda de pressão</a:t>
            </a:r>
            <a:endParaRPr lang="pt-BR" sz="1200">
              <a:latin typeface="Montserrat" panose="00000500000000000000" pitchFamily="2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Quattrocento Sans"/>
                <a:cs typeface="Quattrocento Sans"/>
                <a:sym typeface="Quattrocento Sans"/>
              </a:rPr>
              <a:t>✔</a:t>
            </a: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Minimiza custos de instalação e fornece monitoramento e manutenção a partir de um ponto único</a:t>
            </a:r>
            <a:endParaRPr lang="pt-BR" sz="1200" b="1">
              <a:solidFill>
                <a:schemeClr val="dk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Quattrocento Sans"/>
                <a:cs typeface="Quattrocento Sans"/>
                <a:sym typeface="Quattrocento Sans"/>
              </a:rPr>
              <a:t>✔</a:t>
            </a: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ISO 8573-1 Classe 1.4.1</a:t>
            </a:r>
            <a:endParaRPr lang="pt-BR" sz="1200">
              <a:latin typeface="Montserrat" panose="00000500000000000000" pitchFamily="2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Quattrocento Sans"/>
                <a:cs typeface="Quattrocento Sans"/>
                <a:sym typeface="Quattrocento Sans"/>
              </a:rPr>
              <a:t>✔</a:t>
            </a: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Ponto Orvalho 3°C</a:t>
            </a:r>
            <a:endParaRPr lang="pt-BR" sz="1200">
              <a:latin typeface="Montserrat" panose="00000500000000000000" pitchFamily="2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Quattrocento Sans"/>
                <a:cs typeface="Quattrocento Sans"/>
                <a:sym typeface="Quattrocento Sans"/>
              </a:rPr>
              <a:t>✔</a:t>
            </a: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 Monitoramento completo do sistema no painel eletrônico do compressor;</a:t>
            </a:r>
            <a:endParaRPr lang="pt-BR" sz="1200">
              <a:latin typeface="Montserrat" panose="00000500000000000000" pitchFamily="2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Quattrocento Sans"/>
                <a:cs typeface="Quattrocento Sans"/>
                <a:sym typeface="Quattrocento Sans"/>
              </a:rPr>
              <a:t>✔</a:t>
            </a:r>
            <a:r>
              <a:rPr lang="pt-BR" sz="12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Sistema anti-congelamento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A12E4CE-9EB9-B083-D684-CBADBC0CD94E}"/>
              </a:ext>
            </a:extLst>
          </p:cNvPr>
          <p:cNvSpPr txBox="1"/>
          <p:nvPr/>
        </p:nvSpPr>
        <p:spPr>
          <a:xfrm>
            <a:off x="4277671" y="4008031"/>
            <a:ext cx="2531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pt-BR" sz="1200" b="1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ornece ar limpo e seco em um conjunto integrado</a:t>
            </a:r>
            <a:endParaRPr lang="pt-BR" sz="1200">
              <a:solidFill>
                <a:schemeClr val="dk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06696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259</Words>
  <Application>Microsoft Office PowerPoint</Application>
  <PresentationFormat>Apresentação na tela (4:3)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Montserrat</vt:lpstr>
      <vt:lpstr>Montserrat Bold</vt:lpstr>
      <vt:lpstr>Noto Sans Symbols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Kamille Silveira</dc:creator>
  <cp:lastModifiedBy>Kamille Silveira</cp:lastModifiedBy>
  <cp:revision>1</cp:revision>
  <dcterms:created xsi:type="dcterms:W3CDTF">2025-08-20T19:01:57Z</dcterms:created>
  <dcterms:modified xsi:type="dcterms:W3CDTF">2025-08-20T19:30:18Z</dcterms:modified>
</cp:coreProperties>
</file>