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handoutMasterIdLst>
    <p:handoutMasterId r:id="rId13"/>
  </p:handoutMasterIdLst>
  <p:sldIdLst>
    <p:sldId id="256" r:id="rId2"/>
    <p:sldId id="259" r:id="rId3"/>
    <p:sldId id="260" r:id="rId4"/>
    <p:sldId id="261" r:id="rId5"/>
    <p:sldId id="283" r:id="rId6"/>
    <p:sldId id="280" r:id="rId7"/>
    <p:sldId id="282" r:id="rId8"/>
    <p:sldId id="281" r:id="rId9"/>
    <p:sldId id="277" r:id="rId10"/>
    <p:sldId id="279" r:id="rId11"/>
  </p:sldIdLst>
  <p:sldSz cx="7556500" cy="10693400"/>
  <p:notesSz cx="6797675" cy="9925050"/>
  <p:embeddedFontLst>
    <p:embeddedFont>
      <p:font typeface="Montserrat" panose="00000500000000000000" pitchFamily="2" charset="0"/>
      <p:regular r:id="rId14"/>
      <p:bold r:id="rId15"/>
      <p:italic r:id="rId16"/>
      <p:boldItalic r:id="rId17"/>
    </p:embeddedFont>
    <p:embeddedFont>
      <p:font typeface="Montserrat Bold" panose="00000800000000000000" pitchFamily="2" charset="0"/>
      <p:regular r:id="rId18"/>
      <p:bold r:id="rId19"/>
    </p:embeddedFont>
    <p:embeddedFont>
      <p:font typeface="Montserrat Medium" panose="00000600000000000000" pitchFamily="2" charset="0"/>
      <p:regular r:id="rId20"/>
      <p:italic r:id="rId21"/>
    </p:embeddedFont>
    <p:embeddedFont>
      <p:font typeface="Montserrat Ultra-Bold" panose="020B0604020202020204" charset="0"/>
      <p:regular r:id="rId22"/>
    </p:embeddedFont>
    <p:embeddedFont>
      <p:font typeface="Neue Montreal" panose="020B0604020202020204" charset="0"/>
      <p:regular r:id="rId23"/>
    </p:embeddedFont>
    <p:embeddedFont>
      <p:font typeface="Open Sans" panose="020B0606030504020204" pitchFamily="34" charset="0"/>
      <p:regular r:id="rId24"/>
      <p:bold r:id="rId25"/>
      <p:italic r:id="rId26"/>
      <p:boldItalic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322" autoAdjust="0"/>
  </p:normalViewPr>
  <p:slideViewPr>
    <p:cSldViewPr>
      <p:cViewPr>
        <p:scale>
          <a:sx n="80" d="100"/>
          <a:sy n="80" d="100"/>
        </p:scale>
        <p:origin x="1925" y="-188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showGuides="1">
      <p:cViewPr varScale="1">
        <p:scale>
          <a:sx n="53" d="100"/>
          <a:sy n="53" d="100"/>
        </p:scale>
        <p:origin x="2586"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F8AE6E75-3963-358C-A73B-9402468FF928}"/>
              </a:ext>
            </a:extLst>
          </p:cNvPr>
          <p:cNvSpPr>
            <a:spLocks noGrp="1"/>
          </p:cNvSpPr>
          <p:nvPr>
            <p:ph type="hdr" sz="quarter"/>
          </p:nvPr>
        </p:nvSpPr>
        <p:spPr>
          <a:xfrm>
            <a:off x="0" y="0"/>
            <a:ext cx="2945659" cy="497976"/>
          </a:xfrm>
          <a:prstGeom prst="rect">
            <a:avLst/>
          </a:prstGeom>
        </p:spPr>
        <p:txBody>
          <a:bodyPr vert="horz" lIns="91440" tIns="45720" rIns="91440" bIns="45720" rtlCol="0"/>
          <a:lstStyle>
            <a:lvl1pPr algn="l">
              <a:defRPr sz="1200"/>
            </a:lvl1pPr>
          </a:lstStyle>
          <a:p>
            <a:endParaRPr lang="pt-BR"/>
          </a:p>
        </p:txBody>
      </p:sp>
      <p:sp>
        <p:nvSpPr>
          <p:cNvPr id="3" name="Espaço Reservado para Data 2">
            <a:extLst>
              <a:ext uri="{FF2B5EF4-FFF2-40B4-BE49-F238E27FC236}">
                <a16:creationId xmlns:a16="http://schemas.microsoft.com/office/drawing/2014/main" id="{422F854B-2621-EBBB-CE73-09A4CE0E5B2C}"/>
              </a:ext>
            </a:extLst>
          </p:cNvPr>
          <p:cNvSpPr>
            <a:spLocks noGrp="1"/>
          </p:cNvSpPr>
          <p:nvPr>
            <p:ph type="dt" sz="quarter" idx="1"/>
          </p:nvPr>
        </p:nvSpPr>
        <p:spPr>
          <a:xfrm>
            <a:off x="3850443" y="0"/>
            <a:ext cx="2945659" cy="497976"/>
          </a:xfrm>
          <a:prstGeom prst="rect">
            <a:avLst/>
          </a:prstGeom>
        </p:spPr>
        <p:txBody>
          <a:bodyPr vert="horz" lIns="91440" tIns="45720" rIns="91440" bIns="45720" rtlCol="0"/>
          <a:lstStyle>
            <a:lvl1pPr algn="r">
              <a:defRPr sz="1200"/>
            </a:lvl1pPr>
          </a:lstStyle>
          <a:p>
            <a:fld id="{C3D78E1D-67DD-4E8C-88DC-F4D6FD930920}" type="datetimeFigureOut">
              <a:rPr lang="pt-BR" smtClean="0"/>
              <a:t>12/09/2025</a:t>
            </a:fld>
            <a:endParaRPr lang="pt-BR"/>
          </a:p>
        </p:txBody>
      </p:sp>
      <p:sp>
        <p:nvSpPr>
          <p:cNvPr id="4" name="Espaço Reservado para Rodapé 3">
            <a:extLst>
              <a:ext uri="{FF2B5EF4-FFF2-40B4-BE49-F238E27FC236}">
                <a16:creationId xmlns:a16="http://schemas.microsoft.com/office/drawing/2014/main" id="{A06E5410-A1BE-B047-3F91-1BA665B9806D}"/>
              </a:ext>
            </a:extLst>
          </p:cNvPr>
          <p:cNvSpPr>
            <a:spLocks noGrp="1"/>
          </p:cNvSpPr>
          <p:nvPr>
            <p:ph type="ftr" sz="quarter" idx="2"/>
          </p:nvPr>
        </p:nvSpPr>
        <p:spPr>
          <a:xfrm>
            <a:off x="0" y="9427076"/>
            <a:ext cx="2945659" cy="497975"/>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2148F886-C3DA-2757-9543-221935C257AE}"/>
              </a:ext>
            </a:extLst>
          </p:cNvPr>
          <p:cNvSpPr>
            <a:spLocks noGrp="1"/>
          </p:cNvSpPr>
          <p:nvPr>
            <p:ph type="sldNum" sz="quarter" idx="3"/>
          </p:nvPr>
        </p:nvSpPr>
        <p:spPr>
          <a:xfrm>
            <a:off x="3850443" y="9427076"/>
            <a:ext cx="2945659" cy="497975"/>
          </a:xfrm>
          <a:prstGeom prst="rect">
            <a:avLst/>
          </a:prstGeom>
        </p:spPr>
        <p:txBody>
          <a:bodyPr vert="horz" lIns="91440" tIns="45720" rIns="91440" bIns="45720" rtlCol="0" anchor="b"/>
          <a:lstStyle>
            <a:lvl1pPr algn="r">
              <a:defRPr sz="1200"/>
            </a:lvl1pPr>
          </a:lstStyle>
          <a:p>
            <a:fld id="{8F0BC10D-DFA5-4BF4-A947-533D8B255A57}" type="slidenum">
              <a:rPr lang="pt-BR" smtClean="0"/>
              <a:t>‹nº›</a:t>
            </a:fld>
            <a:endParaRPr lang="pt-BR"/>
          </a:p>
        </p:txBody>
      </p:sp>
    </p:spTree>
    <p:extLst>
      <p:ext uri="{BB962C8B-B14F-4D97-AF65-F5344CB8AC3E}">
        <p14:creationId xmlns:p14="http://schemas.microsoft.com/office/powerpoint/2010/main" val="3270095412"/>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26" userDrawn="1">
          <p15:clr>
            <a:srgbClr val="F26B43"/>
          </p15:clr>
        </p15:guide>
        <p15:guide id="2" pos="214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45659" cy="497976"/>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50443" y="0"/>
            <a:ext cx="2945659" cy="497976"/>
          </a:xfrm>
          <a:prstGeom prst="rect">
            <a:avLst/>
          </a:prstGeom>
        </p:spPr>
        <p:txBody>
          <a:bodyPr vert="horz" lIns="91440" tIns="45720" rIns="91440" bIns="45720" rtlCol="0"/>
          <a:lstStyle>
            <a:lvl1pPr algn="r">
              <a:defRPr sz="1200"/>
            </a:lvl1pPr>
          </a:lstStyle>
          <a:p>
            <a:fld id="{48586573-8530-45A5-A38F-2574AED3FDB8}" type="datetimeFigureOut">
              <a:rPr lang="pt-BR" smtClean="0"/>
              <a:t>12/09/2025</a:t>
            </a:fld>
            <a:endParaRPr lang="pt-BR"/>
          </a:p>
        </p:txBody>
      </p:sp>
      <p:sp>
        <p:nvSpPr>
          <p:cNvPr id="4" name="Espaço Reservado para Imagem de Slide 3"/>
          <p:cNvSpPr>
            <a:spLocks noGrp="1" noRot="1" noChangeAspect="1"/>
          </p:cNvSpPr>
          <p:nvPr>
            <p:ph type="sldImg" idx="2"/>
          </p:nvPr>
        </p:nvSpPr>
        <p:spPr>
          <a:xfrm>
            <a:off x="2216150" y="1239838"/>
            <a:ext cx="2365375" cy="3351212"/>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79768" y="4776431"/>
            <a:ext cx="5438140" cy="3907988"/>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9427076"/>
            <a:ext cx="2945659" cy="497975"/>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50443" y="9427076"/>
            <a:ext cx="2945659" cy="497975"/>
          </a:xfrm>
          <a:prstGeom prst="rect">
            <a:avLst/>
          </a:prstGeom>
        </p:spPr>
        <p:txBody>
          <a:bodyPr vert="horz" lIns="91440" tIns="45720" rIns="91440" bIns="45720" rtlCol="0" anchor="b"/>
          <a:lstStyle>
            <a:lvl1pPr algn="r">
              <a:defRPr sz="1200"/>
            </a:lvl1pPr>
          </a:lstStyle>
          <a:p>
            <a:fld id="{4D151DBA-812A-4523-B99E-697B9AE51F52}" type="slidenum">
              <a:rPr lang="pt-BR" smtClean="0"/>
              <a:t>‹nº›</a:t>
            </a:fld>
            <a:endParaRPr lang="pt-BR"/>
          </a:p>
        </p:txBody>
      </p:sp>
    </p:spTree>
    <p:extLst>
      <p:ext uri="{BB962C8B-B14F-4D97-AF65-F5344CB8AC3E}">
        <p14:creationId xmlns:p14="http://schemas.microsoft.com/office/powerpoint/2010/main" val="3048582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9/12/2025</a:t>
            </a:fld>
            <a:endParaRPr lang="en-US"/>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jpe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hyperlink" Target="https://drive.google.com/file/d/1YulWLLIj__bJK7RD5qpSWZHxaWBWRsOl/view?usp=sharing" TargetMode="External"/></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hyperlink" Target="https://www.youtube.com/watch?v=S22UAuEbQrs" TargetMode="External"/><Relationship Id="rId18" Type="http://schemas.openxmlformats.org/officeDocument/2006/relationships/image" Target="../media/image17.png"/><Relationship Id="rId3" Type="http://schemas.openxmlformats.org/officeDocument/2006/relationships/image" Target="../media/image19.jpeg"/><Relationship Id="rId7" Type="http://schemas.openxmlformats.org/officeDocument/2006/relationships/image" Target="../media/image22.jpeg"/><Relationship Id="rId12" Type="http://schemas.openxmlformats.org/officeDocument/2006/relationships/image" Target="../media/image26.png"/><Relationship Id="rId17" Type="http://schemas.openxmlformats.org/officeDocument/2006/relationships/hyperlink" Target="https://www.youtube.com/watch?v=mwYJazRFXHo" TargetMode="External"/><Relationship Id="rId2" Type="http://schemas.openxmlformats.org/officeDocument/2006/relationships/image" Target="../media/image9.png"/><Relationship Id="rId16"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5.jpeg"/><Relationship Id="rId5" Type="http://schemas.openxmlformats.org/officeDocument/2006/relationships/hyperlink" Target="https://www.youtube.com/watch?v=HdBL7k6RTZ8" TargetMode="External"/><Relationship Id="rId15" Type="http://schemas.openxmlformats.org/officeDocument/2006/relationships/image" Target="../media/image28.png"/><Relationship Id="rId10" Type="http://schemas.openxmlformats.org/officeDocument/2006/relationships/image" Target="../media/image24.png"/><Relationship Id="rId4" Type="http://schemas.openxmlformats.org/officeDocument/2006/relationships/image" Target="../media/image20.png"/><Relationship Id="rId9" Type="http://schemas.openxmlformats.org/officeDocument/2006/relationships/hyperlink" Target="https://www.youtube.com/watch?v=e20eNUUhBnw" TargetMode="External"/><Relationship Id="rId1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hyperlink" Target="http://www.evolucaocompressores.com.br/" TargetMode="External"/><Relationship Id="rId13" Type="http://schemas.openxmlformats.org/officeDocument/2006/relationships/image" Target="../media/image38.png"/><Relationship Id="rId18" Type="http://schemas.openxmlformats.org/officeDocument/2006/relationships/hyperlink" Target="https://www.youtube.com/channel/UCwd-vQDfQFCs9o1J-7-WiMQ" TargetMode="External"/><Relationship Id="rId3" Type="http://schemas.openxmlformats.org/officeDocument/2006/relationships/image" Target="../media/image32.svg"/><Relationship Id="rId7" Type="http://schemas.openxmlformats.org/officeDocument/2006/relationships/image" Target="../media/image35.png"/><Relationship Id="rId12" Type="http://schemas.openxmlformats.org/officeDocument/2006/relationships/hyperlink" Target="https://www.linkedin.com/company/14047743" TargetMode="External"/><Relationship Id="rId17" Type="http://schemas.openxmlformats.org/officeDocument/2006/relationships/image" Target="../media/image40.png"/><Relationship Id="rId2" Type="http://schemas.openxmlformats.org/officeDocument/2006/relationships/image" Target="../media/image31.png"/><Relationship Id="rId16" Type="http://schemas.openxmlformats.org/officeDocument/2006/relationships/hyperlink" Target="https://www.instagram.com/evolucaocompressores/?hl=pt-br" TargetMode="External"/><Relationship Id="rId20"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hyperlink" Target="mailto:tavares@evolucaocompressores.com.br" TargetMode="External"/><Relationship Id="rId11" Type="http://schemas.openxmlformats.org/officeDocument/2006/relationships/image" Target="../media/image37.png"/><Relationship Id="rId5" Type="http://schemas.openxmlformats.org/officeDocument/2006/relationships/image" Target="../media/image34.svg"/><Relationship Id="rId15" Type="http://schemas.openxmlformats.org/officeDocument/2006/relationships/image" Target="../media/image39.png"/><Relationship Id="rId10" Type="http://schemas.openxmlformats.org/officeDocument/2006/relationships/hyperlink" Target="https://www.youtube.com/watch?v=xp5ODjBytuo" TargetMode="External"/><Relationship Id="rId19" Type="http://schemas.openxmlformats.org/officeDocument/2006/relationships/image" Target="../media/image41.png"/><Relationship Id="rId4" Type="http://schemas.openxmlformats.org/officeDocument/2006/relationships/image" Target="../media/image33.png"/><Relationship Id="rId9" Type="http://schemas.openxmlformats.org/officeDocument/2006/relationships/image" Target="../media/image36.png"/><Relationship Id="rId14" Type="http://schemas.openxmlformats.org/officeDocument/2006/relationships/hyperlink" Target="https://www.facebook.com/EvolucaoCompressor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 y="-2540"/>
            <a:ext cx="4073817" cy="10693400"/>
          </a:xfrm>
          <a:custGeom>
            <a:avLst/>
            <a:gdLst/>
            <a:ahLst/>
            <a:cxnLst/>
            <a:rect l="l" t="t" r="r" b="b"/>
            <a:pathLst>
              <a:path w="5783170" h="13221780">
                <a:moveTo>
                  <a:pt x="0" y="0"/>
                </a:moveTo>
                <a:lnTo>
                  <a:pt x="5783170" y="0"/>
                </a:lnTo>
                <a:lnTo>
                  <a:pt x="5783170" y="13221780"/>
                </a:lnTo>
                <a:lnTo>
                  <a:pt x="0" y="13221780"/>
                </a:lnTo>
                <a:lnTo>
                  <a:pt x="0" y="0"/>
                </a:lnTo>
                <a:close/>
              </a:path>
            </a:pathLst>
          </a:custGeom>
          <a:blipFill>
            <a:blip r:embed="rId2"/>
            <a:stretch>
              <a:fillRect l="-109617" t="-23657" r="-36024" b="13"/>
            </a:stretch>
          </a:blipFill>
        </p:spPr>
        <p:txBody>
          <a:bodyPr/>
          <a:lstStyle/>
          <a:p>
            <a:endParaRPr lang="pt-BR" dirty="0"/>
          </a:p>
        </p:txBody>
      </p:sp>
      <p:grpSp>
        <p:nvGrpSpPr>
          <p:cNvPr id="4" name="Group 4"/>
          <p:cNvGrpSpPr/>
          <p:nvPr/>
        </p:nvGrpSpPr>
        <p:grpSpPr>
          <a:xfrm>
            <a:off x="0" y="4813302"/>
            <a:ext cx="7556500" cy="2047911"/>
            <a:chOff x="0" y="0"/>
            <a:chExt cx="3563809" cy="802421"/>
          </a:xfrm>
        </p:grpSpPr>
        <p:sp>
          <p:nvSpPr>
            <p:cNvPr id="5" name="Freeform 5"/>
            <p:cNvSpPr/>
            <p:nvPr/>
          </p:nvSpPr>
          <p:spPr>
            <a:xfrm>
              <a:off x="0" y="0"/>
              <a:ext cx="3563809" cy="802421"/>
            </a:xfrm>
            <a:custGeom>
              <a:avLst/>
              <a:gdLst/>
              <a:ahLst/>
              <a:cxnLst/>
              <a:rect l="l" t="t" r="r" b="b"/>
              <a:pathLst>
                <a:path w="3563809" h="802421">
                  <a:moveTo>
                    <a:pt x="0" y="0"/>
                  </a:moveTo>
                  <a:lnTo>
                    <a:pt x="3563809" y="0"/>
                  </a:lnTo>
                  <a:lnTo>
                    <a:pt x="3563809" y="802421"/>
                  </a:lnTo>
                  <a:lnTo>
                    <a:pt x="0" y="802421"/>
                  </a:lnTo>
                  <a:close/>
                </a:path>
              </a:pathLst>
            </a:custGeom>
            <a:solidFill>
              <a:srgbClr val="434343">
                <a:alpha val="42745"/>
              </a:srgbClr>
            </a:solidFill>
          </p:spPr>
        </p:sp>
        <p:sp>
          <p:nvSpPr>
            <p:cNvPr id="6" name="TextBox 6"/>
            <p:cNvSpPr txBox="1"/>
            <p:nvPr/>
          </p:nvSpPr>
          <p:spPr>
            <a:xfrm>
              <a:off x="0" y="-28575"/>
              <a:ext cx="3563809" cy="830996"/>
            </a:xfrm>
            <a:prstGeom prst="rect">
              <a:avLst/>
            </a:prstGeom>
          </p:spPr>
          <p:txBody>
            <a:bodyPr lIns="29829" tIns="29829" rIns="29829" bIns="29829" rtlCol="0" anchor="ctr"/>
            <a:lstStyle/>
            <a:p>
              <a:pPr algn="ctr">
                <a:lnSpc>
                  <a:spcPts val="1561"/>
                </a:lnSpc>
              </a:pPr>
              <a:endParaRPr dirty="0"/>
            </a:p>
          </p:txBody>
        </p:sp>
      </p:grpSp>
      <p:sp>
        <p:nvSpPr>
          <p:cNvPr id="7" name="Freeform 7"/>
          <p:cNvSpPr/>
          <p:nvPr/>
        </p:nvSpPr>
        <p:spPr>
          <a:xfrm>
            <a:off x="13970" y="9776915"/>
            <a:ext cx="2984450" cy="814797"/>
          </a:xfrm>
          <a:custGeom>
            <a:avLst/>
            <a:gdLst/>
            <a:ahLst/>
            <a:cxnLst/>
            <a:rect l="l" t="t" r="r" b="b"/>
            <a:pathLst>
              <a:path w="3279810" h="876569">
                <a:moveTo>
                  <a:pt x="0" y="0"/>
                </a:moveTo>
                <a:lnTo>
                  <a:pt x="3279810" y="0"/>
                </a:lnTo>
                <a:lnTo>
                  <a:pt x="3279810" y="876569"/>
                </a:lnTo>
                <a:lnTo>
                  <a:pt x="0" y="876569"/>
                </a:lnTo>
                <a:lnTo>
                  <a:pt x="0" y="0"/>
                </a:lnTo>
                <a:close/>
              </a:path>
            </a:pathLst>
          </a:custGeom>
          <a:blipFill>
            <a:blip r:embed="rId3"/>
            <a:stretch>
              <a:fillRect t="-3005"/>
            </a:stretch>
          </a:blipFill>
        </p:spPr>
      </p:sp>
      <p:sp>
        <p:nvSpPr>
          <p:cNvPr id="8" name="TextBox 8"/>
          <p:cNvSpPr txBox="1"/>
          <p:nvPr/>
        </p:nvSpPr>
        <p:spPr>
          <a:xfrm>
            <a:off x="4311650" y="7048128"/>
            <a:ext cx="3550643" cy="1049967"/>
          </a:xfrm>
          <a:prstGeom prst="rect">
            <a:avLst/>
          </a:prstGeom>
        </p:spPr>
        <p:txBody>
          <a:bodyPr wrap="square" lIns="0" tIns="0" rIns="0" bIns="0" rtlCol="0" anchor="t">
            <a:spAutoFit/>
          </a:bodyPr>
          <a:lstStyle/>
          <a:p>
            <a:pPr>
              <a:lnSpc>
                <a:spcPts val="2761"/>
              </a:lnSpc>
            </a:pPr>
            <a:r>
              <a:rPr lang="en-US" sz="1972" b="1">
                <a:solidFill>
                  <a:srgbClr val="434343"/>
                </a:solidFill>
                <a:latin typeface="Montserrat Ultra-Bold"/>
                <a:ea typeface="Montserrat Ultra-Bold"/>
                <a:cs typeface="Montserrat Ultra-Bold"/>
                <a:sym typeface="Montserrat Ultra-Bold"/>
              </a:rPr>
              <a:t>À</a:t>
            </a:r>
          </a:p>
          <a:p>
            <a:pPr>
              <a:lnSpc>
                <a:spcPts val="2761"/>
              </a:lnSpc>
            </a:pPr>
            <a:r>
              <a:rPr lang="en-US" sz="1972" b="1">
                <a:solidFill>
                  <a:srgbClr val="434343"/>
                </a:solidFill>
                <a:latin typeface="Montserrat Ultra-Bold"/>
                <a:ea typeface="Montserrat Ultra-Bold"/>
                <a:cs typeface="Montserrat Ultra-Bold"/>
                <a:sym typeface="Montserrat Ultra-Bold"/>
              </a:rPr>
              <a:t>NOME DA EMPRESA</a:t>
            </a:r>
            <a:endParaRPr lang="en-US" sz="1972" b="1" dirty="0">
              <a:solidFill>
                <a:srgbClr val="434343"/>
              </a:solidFill>
              <a:latin typeface="Montserrat Ultra-Bold"/>
              <a:ea typeface="Montserrat Ultra-Bold"/>
              <a:cs typeface="Montserrat Ultra-Bold"/>
              <a:sym typeface="Montserrat Ultra-Bold"/>
            </a:endParaRPr>
          </a:p>
          <a:p>
            <a:pPr>
              <a:lnSpc>
                <a:spcPts val="2761"/>
              </a:lnSpc>
            </a:pPr>
            <a:r>
              <a:rPr lang="en-US" sz="1972" b="1">
                <a:solidFill>
                  <a:srgbClr val="434343"/>
                </a:solidFill>
                <a:latin typeface="Montserrat Ultra-Bold"/>
                <a:ea typeface="Montserrat Ultra-Bold"/>
                <a:cs typeface="Montserrat Ultra-Bold"/>
                <a:sym typeface="Montserrat Ultra-Bold"/>
              </a:rPr>
              <a:t>Cidade-U</a:t>
            </a:r>
            <a:r>
              <a:rPr lang="en-US" sz="1972" b="1" dirty="0">
                <a:solidFill>
                  <a:srgbClr val="434343"/>
                </a:solidFill>
                <a:latin typeface="Montserrat Ultra-Bold"/>
                <a:ea typeface="Montserrat Ultra-Bold"/>
                <a:cs typeface="Montserrat Ultra-Bold"/>
                <a:sym typeface="Montserrat Ultra-Bold"/>
              </a:rPr>
              <a:t>F</a:t>
            </a:r>
            <a:endParaRPr lang="en-US" sz="1972" b="1">
              <a:solidFill>
                <a:srgbClr val="434343"/>
              </a:solidFill>
              <a:latin typeface="Montserrat Ultra-Bold"/>
              <a:ea typeface="Montserrat Ultra-Bold"/>
              <a:cs typeface="Montserrat Ultra-Bold"/>
              <a:sym typeface="Montserrat Ultra-Bold"/>
            </a:endParaRPr>
          </a:p>
        </p:txBody>
      </p:sp>
      <p:sp>
        <p:nvSpPr>
          <p:cNvPr id="9" name="TextBox 9"/>
          <p:cNvSpPr txBox="1"/>
          <p:nvPr/>
        </p:nvSpPr>
        <p:spPr>
          <a:xfrm>
            <a:off x="4238583" y="8285010"/>
            <a:ext cx="3049937" cy="1121970"/>
          </a:xfrm>
          <a:prstGeom prst="rect">
            <a:avLst/>
          </a:prstGeom>
        </p:spPr>
        <p:txBody>
          <a:bodyPr lIns="0" tIns="0" rIns="0" bIns="0" rtlCol="0" anchor="t">
            <a:spAutoFit/>
          </a:bodyPr>
          <a:lstStyle/>
          <a:p>
            <a:pPr>
              <a:lnSpc>
                <a:spcPts val="2235"/>
              </a:lnSpc>
            </a:pPr>
            <a:r>
              <a:rPr lang="en-US" sz="1597" dirty="0">
                <a:solidFill>
                  <a:srgbClr val="434343"/>
                </a:solidFill>
                <a:latin typeface="Open Sans"/>
                <a:ea typeface="Open Sans"/>
                <a:cs typeface="Open Sans"/>
                <a:sym typeface="Open Sans"/>
              </a:rPr>
              <a:t>Aos </a:t>
            </a:r>
            <a:r>
              <a:rPr lang="en-US" sz="1597" dirty="0" err="1">
                <a:solidFill>
                  <a:srgbClr val="434343"/>
                </a:solidFill>
                <a:latin typeface="Open Sans"/>
                <a:ea typeface="Open Sans"/>
                <a:cs typeface="Open Sans"/>
                <a:sym typeface="Open Sans"/>
              </a:rPr>
              <a:t>cuidados</a:t>
            </a:r>
            <a:r>
              <a:rPr lang="en-US" sz="1597">
                <a:solidFill>
                  <a:srgbClr val="434343"/>
                </a:solidFill>
                <a:latin typeface="Open Sans"/>
                <a:ea typeface="Open Sans"/>
                <a:cs typeface="Open Sans"/>
                <a:sym typeface="Open Sans"/>
              </a:rPr>
              <a:t>,</a:t>
            </a:r>
          </a:p>
          <a:p>
            <a:pPr>
              <a:lnSpc>
                <a:spcPts val="2235"/>
              </a:lnSpc>
            </a:pPr>
            <a:r>
              <a:rPr lang="en-US" sz="1597">
                <a:solidFill>
                  <a:srgbClr val="434343"/>
                </a:solidFill>
                <a:latin typeface="Open Sans"/>
                <a:ea typeface="Open Sans"/>
                <a:cs typeface="Open Sans"/>
                <a:sym typeface="Open Sans"/>
              </a:rPr>
              <a:t>Sr. ******</a:t>
            </a:r>
          </a:p>
          <a:p>
            <a:pPr>
              <a:lnSpc>
                <a:spcPts val="2235"/>
              </a:lnSpc>
            </a:pPr>
            <a:r>
              <a:rPr lang="en-US" sz="1597">
                <a:solidFill>
                  <a:srgbClr val="434343"/>
                </a:solidFill>
                <a:latin typeface="Open Sans"/>
                <a:ea typeface="Open Sans"/>
                <a:cs typeface="Open Sans"/>
                <a:sym typeface="Open Sans"/>
              </a:rPr>
              <a:t>(47) *******</a:t>
            </a:r>
          </a:p>
          <a:p>
            <a:pPr>
              <a:lnSpc>
                <a:spcPts val="2235"/>
              </a:lnSpc>
            </a:pPr>
            <a:r>
              <a:rPr lang="en-US" sz="1597">
                <a:solidFill>
                  <a:srgbClr val="434343"/>
                </a:solidFill>
                <a:latin typeface="Open Sans"/>
                <a:ea typeface="Open Sans"/>
                <a:cs typeface="Open Sans"/>
                <a:sym typeface="Open Sans"/>
              </a:rPr>
              <a:t>E-MAIL@EMAIL</a:t>
            </a:r>
          </a:p>
        </p:txBody>
      </p:sp>
      <p:sp>
        <p:nvSpPr>
          <p:cNvPr id="10" name="TextBox 10"/>
          <p:cNvSpPr txBox="1"/>
          <p:nvPr/>
        </p:nvSpPr>
        <p:spPr>
          <a:xfrm>
            <a:off x="4254018" y="10022912"/>
            <a:ext cx="2407677" cy="271501"/>
          </a:xfrm>
          <a:prstGeom prst="rect">
            <a:avLst/>
          </a:prstGeom>
        </p:spPr>
        <p:txBody>
          <a:bodyPr lIns="0" tIns="0" rIns="0" bIns="0" rtlCol="0" anchor="t">
            <a:spAutoFit/>
          </a:bodyPr>
          <a:lstStyle/>
          <a:p>
            <a:pPr>
              <a:lnSpc>
                <a:spcPts val="2235"/>
              </a:lnSpc>
            </a:pPr>
            <a:r>
              <a:rPr lang="en-US" sz="1597">
                <a:solidFill>
                  <a:srgbClr val="434343"/>
                </a:solidFill>
                <a:latin typeface="Open Sans"/>
                <a:ea typeface="Open Sans"/>
                <a:cs typeface="Open Sans"/>
                <a:sym typeface="Open Sans"/>
              </a:rPr>
              <a:t>Jlle, dia ** de *** de ****</a:t>
            </a:r>
          </a:p>
        </p:txBody>
      </p:sp>
      <p:sp>
        <p:nvSpPr>
          <p:cNvPr id="11" name="TextBox 11"/>
          <p:cNvSpPr txBox="1"/>
          <p:nvPr/>
        </p:nvSpPr>
        <p:spPr>
          <a:xfrm>
            <a:off x="341739" y="4968204"/>
            <a:ext cx="7058015" cy="1133708"/>
          </a:xfrm>
          <a:prstGeom prst="rect">
            <a:avLst/>
          </a:prstGeom>
        </p:spPr>
        <p:txBody>
          <a:bodyPr wrap="square" lIns="0" tIns="0" rIns="0" bIns="0" rtlCol="0" anchor="t">
            <a:spAutoFit/>
          </a:bodyPr>
          <a:lstStyle/>
          <a:p>
            <a:pPr algn="ctr">
              <a:lnSpc>
                <a:spcPts val="4620"/>
              </a:lnSpc>
            </a:pPr>
            <a:r>
              <a:rPr lang="en-US" sz="3200" b="1">
                <a:solidFill>
                  <a:srgbClr val="FFFFFF"/>
                </a:solidFill>
                <a:latin typeface="Montserrat" panose="00000500000000000000" pitchFamily="2" charset="0"/>
                <a:ea typeface="Neue Montreal"/>
                <a:cs typeface="Neue Montreal"/>
                <a:sym typeface="Neue Montreal"/>
              </a:rPr>
              <a:t>GERAÇÃO DE AR COMPRIMIDO LOCADO</a:t>
            </a:r>
          </a:p>
        </p:txBody>
      </p:sp>
      <p:sp>
        <p:nvSpPr>
          <p:cNvPr id="12" name="TextBox 12"/>
          <p:cNvSpPr txBox="1"/>
          <p:nvPr/>
        </p:nvSpPr>
        <p:spPr>
          <a:xfrm>
            <a:off x="313488" y="6101912"/>
            <a:ext cx="6929521" cy="539250"/>
          </a:xfrm>
          <a:prstGeom prst="rect">
            <a:avLst/>
          </a:prstGeom>
        </p:spPr>
        <p:txBody>
          <a:bodyPr lIns="0" tIns="0" rIns="0" bIns="0" rtlCol="0" anchor="t">
            <a:spAutoFit/>
          </a:bodyPr>
          <a:lstStyle/>
          <a:p>
            <a:pPr algn="r">
              <a:lnSpc>
                <a:spcPts val="4620"/>
              </a:lnSpc>
            </a:pPr>
            <a:r>
              <a:rPr lang="en-US" sz="3300">
                <a:solidFill>
                  <a:srgbClr val="FFFFFF"/>
                </a:solidFill>
                <a:latin typeface="Neue Montreal"/>
                <a:ea typeface="Neue Montreal"/>
                <a:cs typeface="Neue Montreal"/>
                <a:sym typeface="Neue Montreal"/>
              </a:rPr>
              <a:t>N° ********</a:t>
            </a:r>
          </a:p>
        </p:txBody>
      </p:sp>
      <p:pic>
        <p:nvPicPr>
          <p:cNvPr id="13" name="Imagem 12">
            <a:extLst>
              <a:ext uri="{FF2B5EF4-FFF2-40B4-BE49-F238E27FC236}">
                <a16:creationId xmlns:a16="http://schemas.microsoft.com/office/drawing/2014/main" id="{F6420853-E8C2-C7F1-5E8D-427A8A7648D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9904" y="398987"/>
            <a:ext cx="5736691" cy="11723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409731" y="2423672"/>
            <a:ext cx="6538758" cy="6785504"/>
          </a:xfrm>
          <a:custGeom>
            <a:avLst/>
            <a:gdLst/>
            <a:ahLst/>
            <a:cxnLst/>
            <a:rect l="l" t="t" r="r" b="b"/>
            <a:pathLst>
              <a:path w="6538758" h="6785504">
                <a:moveTo>
                  <a:pt x="0" y="0"/>
                </a:moveTo>
                <a:lnTo>
                  <a:pt x="6538759" y="0"/>
                </a:lnTo>
                <a:lnTo>
                  <a:pt x="6538759" y="6785504"/>
                </a:lnTo>
                <a:lnTo>
                  <a:pt x="0" y="6785504"/>
                </a:lnTo>
                <a:lnTo>
                  <a:pt x="0" y="0"/>
                </a:lnTo>
                <a:close/>
              </a:path>
            </a:pathLst>
          </a:custGeom>
          <a:blipFill>
            <a:blip r:embed="rId2"/>
            <a:stretch>
              <a:fillRect/>
            </a:stretch>
          </a:blipFill>
        </p:spPr>
      </p:sp>
      <p:sp>
        <p:nvSpPr>
          <p:cNvPr id="14" name="TextBox 14"/>
          <p:cNvSpPr txBox="1"/>
          <p:nvPr/>
        </p:nvSpPr>
        <p:spPr>
          <a:xfrm>
            <a:off x="494992" y="1082845"/>
            <a:ext cx="4608974" cy="372742"/>
          </a:xfrm>
          <a:prstGeom prst="rect">
            <a:avLst/>
          </a:prstGeom>
        </p:spPr>
        <p:txBody>
          <a:bodyPr lIns="0" tIns="0" rIns="0" bIns="0" rtlCol="0" anchor="t">
            <a:spAutoFit/>
          </a:bodyPr>
          <a:lstStyle/>
          <a:p>
            <a:pPr>
              <a:lnSpc>
                <a:spcPts val="3080"/>
              </a:lnSpc>
            </a:pPr>
            <a:r>
              <a:rPr lang="en-US" sz="2200" b="1">
                <a:solidFill>
                  <a:srgbClr val="6F6F6F"/>
                </a:solidFill>
                <a:latin typeface="Montserrat" panose="00000500000000000000" pitchFamily="2" charset="0"/>
                <a:ea typeface="Montserrat Bold"/>
                <a:cs typeface="Montserrat Bold"/>
                <a:sym typeface="Montserrat Bold"/>
              </a:rPr>
              <a:t>CASES DE SUCESSO</a:t>
            </a:r>
          </a:p>
        </p:txBody>
      </p:sp>
      <p:sp>
        <p:nvSpPr>
          <p:cNvPr id="15" name="TextBox 15"/>
          <p:cNvSpPr txBox="1"/>
          <p:nvPr/>
        </p:nvSpPr>
        <p:spPr>
          <a:xfrm>
            <a:off x="494992" y="1639245"/>
            <a:ext cx="6639246" cy="231978"/>
          </a:xfrm>
          <a:prstGeom prst="rect">
            <a:avLst/>
          </a:prstGeom>
        </p:spPr>
        <p:txBody>
          <a:bodyPr lIns="0" tIns="0" rIns="0" bIns="0" rtlCol="0" anchor="t">
            <a:spAutoFit/>
          </a:bodyPr>
          <a:lstStyle/>
          <a:p>
            <a:pPr algn="just">
              <a:lnSpc>
                <a:spcPts val="1913"/>
              </a:lnSpc>
            </a:pPr>
            <a:r>
              <a:rPr lang="en-US" sz="1367">
                <a:solidFill>
                  <a:srgbClr val="000000"/>
                </a:solidFill>
                <a:latin typeface="Montserrat"/>
                <a:ea typeface="Montserrat"/>
                <a:cs typeface="Montserrat"/>
                <a:sym typeface="Montserrat"/>
              </a:rPr>
              <a:t>Lista de clientes atendidos pela Evolução Compressores:</a:t>
            </a:r>
          </a:p>
        </p:txBody>
      </p:sp>
      <p:grpSp>
        <p:nvGrpSpPr>
          <p:cNvPr id="16" name="Group 8">
            <a:extLst>
              <a:ext uri="{FF2B5EF4-FFF2-40B4-BE49-F238E27FC236}">
                <a16:creationId xmlns:a16="http://schemas.microsoft.com/office/drawing/2014/main" id="{8F7C4B60-BE84-21AE-B3F4-37343949971D}"/>
              </a:ext>
            </a:extLst>
          </p:cNvPr>
          <p:cNvGrpSpPr/>
          <p:nvPr/>
        </p:nvGrpSpPr>
        <p:grpSpPr>
          <a:xfrm>
            <a:off x="-3500" y="10528423"/>
            <a:ext cx="7556500" cy="231978"/>
            <a:chOff x="0" y="0"/>
            <a:chExt cx="3047987" cy="131886"/>
          </a:xfrm>
        </p:grpSpPr>
        <p:sp>
          <p:nvSpPr>
            <p:cNvPr id="17" name="Freeform 9">
              <a:extLst>
                <a:ext uri="{FF2B5EF4-FFF2-40B4-BE49-F238E27FC236}">
                  <a16:creationId xmlns:a16="http://schemas.microsoft.com/office/drawing/2014/main" id="{E2E6687D-F0AF-7EA2-DA69-8AC8B88B8823}"/>
                </a:ext>
              </a:extLst>
            </p:cNvPr>
            <p:cNvSpPr/>
            <p:nvPr/>
          </p:nvSpPr>
          <p:spPr>
            <a:xfrm>
              <a:off x="0" y="0"/>
              <a:ext cx="3047987" cy="131886"/>
            </a:xfrm>
            <a:custGeom>
              <a:avLst/>
              <a:gdLst/>
              <a:ahLst/>
              <a:cxnLst/>
              <a:rect l="l" t="t" r="r" b="b"/>
              <a:pathLst>
                <a:path w="3047987" h="131886">
                  <a:moveTo>
                    <a:pt x="0" y="0"/>
                  </a:moveTo>
                  <a:lnTo>
                    <a:pt x="3047987" y="0"/>
                  </a:lnTo>
                  <a:lnTo>
                    <a:pt x="3047987" y="131886"/>
                  </a:lnTo>
                  <a:lnTo>
                    <a:pt x="0" y="131886"/>
                  </a:lnTo>
                  <a:close/>
                </a:path>
              </a:pathLst>
            </a:custGeom>
            <a:solidFill>
              <a:srgbClr val="8B8A88"/>
            </a:solidFill>
          </p:spPr>
        </p:sp>
        <p:sp>
          <p:nvSpPr>
            <p:cNvPr id="18" name="TextBox 10">
              <a:extLst>
                <a:ext uri="{FF2B5EF4-FFF2-40B4-BE49-F238E27FC236}">
                  <a16:creationId xmlns:a16="http://schemas.microsoft.com/office/drawing/2014/main" id="{1E1CA844-6D19-1296-173F-08A4E8FFC5F6}"/>
                </a:ext>
              </a:extLst>
            </p:cNvPr>
            <p:cNvSpPr txBox="1"/>
            <p:nvPr/>
          </p:nvSpPr>
          <p:spPr>
            <a:xfrm>
              <a:off x="0" y="-38100"/>
              <a:ext cx="3047987" cy="169986"/>
            </a:xfrm>
            <a:prstGeom prst="rect">
              <a:avLst/>
            </a:prstGeom>
          </p:spPr>
          <p:txBody>
            <a:bodyPr lIns="45156" tIns="45156" rIns="45156" bIns="45156" rtlCol="0" anchor="ctr"/>
            <a:lstStyle/>
            <a:p>
              <a:pPr algn="ctr">
                <a:lnSpc>
                  <a:spcPts val="2140"/>
                </a:lnSpc>
              </a:pPr>
              <a:endParaRPr/>
            </a:p>
          </p:txBody>
        </p:sp>
      </p:grpSp>
      <p:pic>
        <p:nvPicPr>
          <p:cNvPr id="20" name="Imagem 19">
            <a:extLst>
              <a:ext uri="{FF2B5EF4-FFF2-40B4-BE49-F238E27FC236}">
                <a16:creationId xmlns:a16="http://schemas.microsoft.com/office/drawing/2014/main" id="{236429DE-A47B-D23B-4EEC-C447CB2B3B9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4370" y="39940"/>
            <a:ext cx="7870870" cy="859247"/>
          </a:xfrm>
          <a:prstGeom prst="rect">
            <a:avLst/>
          </a:prstGeom>
        </p:spPr>
      </p:pic>
      <p:pic>
        <p:nvPicPr>
          <p:cNvPr id="2" name="Imagem 1">
            <a:extLst>
              <a:ext uri="{FF2B5EF4-FFF2-40B4-BE49-F238E27FC236}">
                <a16:creationId xmlns:a16="http://schemas.microsoft.com/office/drawing/2014/main" id="{A08A694E-EA7D-EDF7-C481-87A71C48EC1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9731" y="9957653"/>
            <a:ext cx="2149319" cy="4392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Imagem 24">
            <a:extLst>
              <a:ext uri="{FF2B5EF4-FFF2-40B4-BE49-F238E27FC236}">
                <a16:creationId xmlns:a16="http://schemas.microsoft.com/office/drawing/2014/main" id="{9D56EE99-3254-F412-5942-7134C214F9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00" y="0"/>
            <a:ext cx="7589210" cy="859247"/>
          </a:xfrm>
          <a:prstGeom prst="rect">
            <a:avLst/>
          </a:prstGeom>
        </p:spPr>
      </p:pic>
      <p:grpSp>
        <p:nvGrpSpPr>
          <p:cNvPr id="26" name="Group 8">
            <a:extLst>
              <a:ext uri="{FF2B5EF4-FFF2-40B4-BE49-F238E27FC236}">
                <a16:creationId xmlns:a16="http://schemas.microsoft.com/office/drawing/2014/main" id="{00392FE6-05E4-F5DB-7071-0F191DF1C8CE}"/>
              </a:ext>
            </a:extLst>
          </p:cNvPr>
          <p:cNvGrpSpPr/>
          <p:nvPr/>
        </p:nvGrpSpPr>
        <p:grpSpPr>
          <a:xfrm>
            <a:off x="-3500" y="10528423"/>
            <a:ext cx="7556500" cy="231978"/>
            <a:chOff x="0" y="0"/>
            <a:chExt cx="3047987" cy="131886"/>
          </a:xfrm>
        </p:grpSpPr>
        <p:sp>
          <p:nvSpPr>
            <p:cNvPr id="27" name="Freeform 9">
              <a:extLst>
                <a:ext uri="{FF2B5EF4-FFF2-40B4-BE49-F238E27FC236}">
                  <a16:creationId xmlns:a16="http://schemas.microsoft.com/office/drawing/2014/main" id="{04BD4FC0-BCB7-0FE6-5F03-C3D7BFA7AB93}"/>
                </a:ext>
              </a:extLst>
            </p:cNvPr>
            <p:cNvSpPr/>
            <p:nvPr/>
          </p:nvSpPr>
          <p:spPr>
            <a:xfrm>
              <a:off x="0" y="0"/>
              <a:ext cx="3047987" cy="131886"/>
            </a:xfrm>
            <a:custGeom>
              <a:avLst/>
              <a:gdLst/>
              <a:ahLst/>
              <a:cxnLst/>
              <a:rect l="l" t="t" r="r" b="b"/>
              <a:pathLst>
                <a:path w="3047987" h="131886">
                  <a:moveTo>
                    <a:pt x="0" y="0"/>
                  </a:moveTo>
                  <a:lnTo>
                    <a:pt x="3047987" y="0"/>
                  </a:lnTo>
                  <a:lnTo>
                    <a:pt x="3047987" y="131886"/>
                  </a:lnTo>
                  <a:lnTo>
                    <a:pt x="0" y="131886"/>
                  </a:lnTo>
                  <a:close/>
                </a:path>
              </a:pathLst>
            </a:custGeom>
            <a:solidFill>
              <a:srgbClr val="8B8A88"/>
            </a:solidFill>
          </p:spPr>
        </p:sp>
        <p:sp>
          <p:nvSpPr>
            <p:cNvPr id="28" name="TextBox 10">
              <a:extLst>
                <a:ext uri="{FF2B5EF4-FFF2-40B4-BE49-F238E27FC236}">
                  <a16:creationId xmlns:a16="http://schemas.microsoft.com/office/drawing/2014/main" id="{B7F566EC-2360-657F-E1BC-B4F765A1ACEB}"/>
                </a:ext>
              </a:extLst>
            </p:cNvPr>
            <p:cNvSpPr txBox="1"/>
            <p:nvPr/>
          </p:nvSpPr>
          <p:spPr>
            <a:xfrm>
              <a:off x="0" y="-38100"/>
              <a:ext cx="3047987" cy="169986"/>
            </a:xfrm>
            <a:prstGeom prst="rect">
              <a:avLst/>
            </a:prstGeom>
          </p:spPr>
          <p:txBody>
            <a:bodyPr lIns="45156" tIns="45156" rIns="45156" bIns="45156" rtlCol="0" anchor="ctr"/>
            <a:lstStyle/>
            <a:p>
              <a:pPr algn="ctr">
                <a:lnSpc>
                  <a:spcPts val="2140"/>
                </a:lnSpc>
              </a:pPr>
              <a:endParaRPr/>
            </a:p>
          </p:txBody>
        </p:sp>
      </p:grpSp>
      <p:pic>
        <p:nvPicPr>
          <p:cNvPr id="2" name="Imagem 1">
            <a:extLst>
              <a:ext uri="{FF2B5EF4-FFF2-40B4-BE49-F238E27FC236}">
                <a16:creationId xmlns:a16="http://schemas.microsoft.com/office/drawing/2014/main" id="{560DB3DF-030C-6BCF-5CEC-9B7A9D27F9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8000" y="9988685"/>
            <a:ext cx="2149319" cy="439216"/>
          </a:xfrm>
          <a:prstGeom prst="rect">
            <a:avLst/>
          </a:prstGeom>
        </p:spPr>
      </p:pic>
      <p:pic>
        <p:nvPicPr>
          <p:cNvPr id="4" name="Imagem 3" descr="Uma imagem contendo placar, placa&#10;&#10;O conteúdo gerado por IA pode estar incorreto.">
            <a:extLst>
              <a:ext uri="{FF2B5EF4-FFF2-40B4-BE49-F238E27FC236}">
                <a16:creationId xmlns:a16="http://schemas.microsoft.com/office/drawing/2014/main" id="{697F6601-AF68-3C82-B377-AB6B9C0CDC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5950" y="1266246"/>
            <a:ext cx="6248400" cy="1874520"/>
          </a:xfrm>
          <a:prstGeom prst="rect">
            <a:avLst/>
          </a:prstGeom>
        </p:spPr>
      </p:pic>
      <p:sp>
        <p:nvSpPr>
          <p:cNvPr id="5" name="CaixaDeTexto 4">
            <a:extLst>
              <a:ext uri="{FF2B5EF4-FFF2-40B4-BE49-F238E27FC236}">
                <a16:creationId xmlns:a16="http://schemas.microsoft.com/office/drawing/2014/main" id="{A6F6EDF2-72E7-FFAA-27AD-0466780950FB}"/>
              </a:ext>
            </a:extLst>
          </p:cNvPr>
          <p:cNvSpPr txBox="1"/>
          <p:nvPr/>
        </p:nvSpPr>
        <p:spPr>
          <a:xfrm>
            <a:off x="539750" y="3305133"/>
            <a:ext cx="6324600" cy="6786473"/>
          </a:xfrm>
          <a:prstGeom prst="rect">
            <a:avLst/>
          </a:prstGeom>
          <a:noFill/>
        </p:spPr>
        <p:txBody>
          <a:bodyPr wrap="square" rtlCol="0">
            <a:spAutoFit/>
          </a:bodyPr>
          <a:lstStyle/>
          <a:p>
            <a:pPr algn="just"/>
            <a:r>
              <a:rPr lang="pt-BR" sz="1200" b="1" dirty="0">
                <a:latin typeface="Montserrat" panose="00000500000000000000" pitchFamily="2" charset="0"/>
                <a:cs typeface="Arial" panose="020B0604020202020204" pitchFamily="34" charset="0"/>
              </a:rPr>
              <a:t>SUSTENPLAN 4.0 – Plano Inteligente e Sustentável de Energia Pneumática</a:t>
            </a:r>
          </a:p>
          <a:p>
            <a:pPr algn="just"/>
            <a:endParaRPr lang="pt-BR" sz="1100" dirty="0">
              <a:latin typeface="Montserrat" panose="00000500000000000000" pitchFamily="2" charset="0"/>
              <a:cs typeface="Arial" panose="020B0604020202020204" pitchFamily="34" charset="0"/>
            </a:endParaRPr>
          </a:p>
          <a:p>
            <a:pPr marL="171450" indent="-171450" algn="just">
              <a:buFont typeface="Arial" panose="020B0604020202020204" pitchFamily="34" charset="0"/>
              <a:buChar char="•"/>
            </a:pPr>
            <a:r>
              <a:rPr lang="pt-BR" sz="1100" b="1" dirty="0">
                <a:latin typeface="Montserrat" panose="00000500000000000000" pitchFamily="2" charset="0"/>
                <a:cs typeface="Arial" panose="020B0604020202020204" pitchFamily="34" charset="0"/>
              </a:rPr>
              <a:t>O que é?!</a:t>
            </a:r>
          </a:p>
          <a:p>
            <a:pPr algn="just"/>
            <a:endParaRPr lang="pt-BR" sz="1100" dirty="0">
              <a:latin typeface="Montserrat" panose="00000500000000000000" pitchFamily="2" charset="0"/>
              <a:cs typeface="Arial" panose="020B0604020202020204" pitchFamily="34" charset="0"/>
            </a:endParaRPr>
          </a:p>
          <a:p>
            <a:pPr algn="just"/>
            <a:r>
              <a:rPr lang="pt-BR" sz="1100" dirty="0">
                <a:latin typeface="Montserrat" panose="00000500000000000000" pitchFamily="2" charset="0"/>
                <a:cs typeface="Arial" panose="020B0604020202020204" pitchFamily="34" charset="0"/>
              </a:rPr>
              <a:t>Nomeamos como </a:t>
            </a:r>
            <a:r>
              <a:rPr lang="pt-BR" sz="1100" dirty="0" err="1">
                <a:latin typeface="Montserrat" panose="00000500000000000000" pitchFamily="2" charset="0"/>
                <a:cs typeface="Arial" panose="020B0604020202020204" pitchFamily="34" charset="0"/>
              </a:rPr>
              <a:t>SustenPlan</a:t>
            </a:r>
            <a:r>
              <a:rPr lang="pt-BR" sz="1100" dirty="0">
                <a:latin typeface="Montserrat" panose="00000500000000000000" pitchFamily="2" charset="0"/>
                <a:cs typeface="Arial" panose="020B0604020202020204" pitchFamily="34" charset="0"/>
              </a:rPr>
              <a:t> 4.0 o projeto que envolve um trabalho de eficiência energética no ar comprimido e uma locação de central de compressores, com o objetivo de ser auto sustentável. Ou seja, viabilizar os custos de uma locação através de um trabalho total de eficiência energética. </a:t>
            </a:r>
          </a:p>
          <a:p>
            <a:pPr algn="just"/>
            <a:endParaRPr lang="pt-BR" sz="1100" dirty="0">
              <a:latin typeface="Montserrat" panose="00000500000000000000" pitchFamily="2" charset="0"/>
              <a:cs typeface="Arial" panose="020B0604020202020204" pitchFamily="34" charset="0"/>
            </a:endParaRPr>
          </a:p>
          <a:p>
            <a:pPr marL="171450" indent="-171450" algn="just">
              <a:buFont typeface="Arial" panose="020B0604020202020204" pitchFamily="34" charset="0"/>
              <a:buChar char="•"/>
            </a:pPr>
            <a:r>
              <a:rPr lang="pt-BR" sz="1100" b="1" dirty="0">
                <a:latin typeface="Montserrat" panose="00000500000000000000" pitchFamily="2" charset="0"/>
                <a:cs typeface="Arial" panose="020B0604020202020204" pitchFamily="34" charset="0"/>
              </a:rPr>
              <a:t>Porque devo contratar?!</a:t>
            </a:r>
          </a:p>
          <a:p>
            <a:pPr algn="just"/>
            <a:endParaRPr lang="pt-BR" sz="1100" b="1" dirty="0">
              <a:latin typeface="Montserrat" panose="00000500000000000000" pitchFamily="2" charset="0"/>
              <a:cs typeface="Arial" panose="020B0604020202020204" pitchFamily="34" charset="0"/>
            </a:endParaRPr>
          </a:p>
          <a:p>
            <a:pPr algn="just"/>
            <a:r>
              <a:rPr lang="pt-BR" sz="1100" dirty="0">
                <a:latin typeface="Montserrat" panose="00000500000000000000" pitchFamily="2" charset="0"/>
                <a:cs typeface="Arial" panose="020B0604020202020204" pitchFamily="34" charset="0"/>
              </a:rPr>
              <a:t>A Evolução Compressores faz um trabalho sério em cima do seus custos atuais, e com estas informações, o cliente saberá o quanto pode economizar com tecnologia de equipamentos, trabalhos de eficiência energética ou mesmo, boas práticas do uso do ar comprimido. Sendo mais fácil tomar uma decisão, pois mostraremos números contábeis (redução fiscal), desperdícios, sobras, usos inadequados, e tecnologia embarcada. Fora estas vantagens ainda é aconselhável contratar quando, número de manutenções dentro do quadro é baixo e a geração pneumática não pode ser acompanhando preventivamente e diariamente. Fornecedores de serviços atendem mal, com ausência de peças estratégicas ou mesmo não poder contar com equipamento reserva nas assistências técnicas locais.</a:t>
            </a:r>
          </a:p>
          <a:p>
            <a:pPr algn="just"/>
            <a:endParaRPr lang="pt-BR" sz="1100" dirty="0">
              <a:latin typeface="Montserrat" panose="00000500000000000000" pitchFamily="2" charset="0"/>
              <a:cs typeface="Arial" panose="020B0604020202020204" pitchFamily="34" charset="0"/>
            </a:endParaRPr>
          </a:p>
          <a:p>
            <a:pPr marL="171450" indent="-171450" algn="just">
              <a:buFont typeface="Arial" panose="020B0604020202020204" pitchFamily="34" charset="0"/>
              <a:buChar char="•"/>
            </a:pPr>
            <a:r>
              <a:rPr lang="pt-BR" sz="1100" b="1" dirty="0" err="1">
                <a:latin typeface="Montserrat" panose="00000500000000000000" pitchFamily="2" charset="0"/>
                <a:cs typeface="Arial" panose="020B0604020202020204" pitchFamily="34" charset="0"/>
              </a:rPr>
              <a:t>SustenPlan</a:t>
            </a:r>
            <a:r>
              <a:rPr lang="pt-BR" sz="1100" b="1" dirty="0">
                <a:latin typeface="Montserrat" panose="00000500000000000000" pitchFamily="2" charset="0"/>
                <a:cs typeface="Arial" panose="020B0604020202020204" pitchFamily="34" charset="0"/>
              </a:rPr>
              <a:t> 4.0</a:t>
            </a:r>
          </a:p>
          <a:p>
            <a:pPr algn="just"/>
            <a:endParaRPr lang="pt-BR" sz="1100" dirty="0">
              <a:latin typeface="Montserrat" panose="00000500000000000000" pitchFamily="2" charset="0"/>
              <a:cs typeface="Arial" panose="020B0604020202020204" pitchFamily="34" charset="0"/>
            </a:endParaRPr>
          </a:p>
          <a:p>
            <a:pPr algn="just"/>
            <a:r>
              <a:rPr lang="pt-BR" sz="1100" dirty="0">
                <a:latin typeface="Montserrat" panose="00000500000000000000" pitchFamily="2" charset="0"/>
                <a:cs typeface="Arial" panose="020B0604020202020204" pitchFamily="34" charset="0"/>
              </a:rPr>
              <a:t>Você obtém a mesma confiabilidade, serviço e experiência de classe mundial sem grande investimento de capital.</a:t>
            </a:r>
          </a:p>
          <a:p>
            <a:pPr algn="just"/>
            <a:endParaRPr lang="pt-BR" sz="1100" dirty="0">
              <a:latin typeface="Montserrat" panose="00000500000000000000" pitchFamily="2" charset="0"/>
              <a:cs typeface="Arial" panose="020B0604020202020204" pitchFamily="34" charset="0"/>
            </a:endParaRPr>
          </a:p>
          <a:p>
            <a:pPr algn="just"/>
            <a:r>
              <a:rPr lang="pt-BR" sz="1100" dirty="0">
                <a:latin typeface="Montserrat" panose="00000500000000000000" pitchFamily="2" charset="0"/>
                <a:cs typeface="Arial" panose="020B0604020202020204" pitchFamily="34" charset="0"/>
              </a:rPr>
              <a:t>Sem custos de manutenções preventivas e corretivas, fica tudo por nossa conta, assim garantindo sua operação.</a:t>
            </a:r>
          </a:p>
          <a:p>
            <a:pPr algn="just"/>
            <a:endParaRPr lang="pt-BR" sz="1100" dirty="0">
              <a:latin typeface="Montserrat" panose="00000500000000000000" pitchFamily="2" charset="0"/>
              <a:cs typeface="Arial" panose="020B0604020202020204" pitchFamily="34" charset="0"/>
            </a:endParaRPr>
          </a:p>
          <a:p>
            <a:pPr algn="just"/>
            <a:r>
              <a:rPr lang="pt-BR" sz="1100" dirty="0">
                <a:latin typeface="Montserrat" panose="00000500000000000000" pitchFamily="2" charset="0"/>
                <a:cs typeface="Arial" panose="020B0604020202020204" pitchFamily="34" charset="0"/>
              </a:rPr>
              <a:t>Acompanhamento periódicos por técnicos treinados e certificados de fábrica. Nossos técnicos controlam toda a operação dos equipamentos locados.</a:t>
            </a:r>
          </a:p>
          <a:p>
            <a:pPr algn="just"/>
            <a:endParaRPr lang="pt-BR" sz="1100" dirty="0">
              <a:latin typeface="Montserrat" panose="00000500000000000000" pitchFamily="2" charset="0"/>
              <a:cs typeface="Arial" panose="020B0604020202020204" pitchFamily="34" charset="0"/>
            </a:endParaRPr>
          </a:p>
          <a:p>
            <a:pPr algn="just"/>
            <a:r>
              <a:rPr lang="pt-BR" sz="1100" dirty="0">
                <a:latin typeface="Montserrat" panose="00000500000000000000" pitchFamily="2" charset="0"/>
                <a:cs typeface="Arial" panose="020B0604020202020204" pitchFamily="34" charset="0"/>
              </a:rPr>
              <a:t>Amortize as parcelas com variados ganhos indiretos</a:t>
            </a:r>
          </a:p>
          <a:p>
            <a:pPr algn="just"/>
            <a:endParaRPr lang="pt-BR" sz="1100" dirty="0">
              <a:latin typeface="Montserrat" panose="00000500000000000000" pitchFamily="2" charset="0"/>
              <a:cs typeface="Arial" panose="020B0604020202020204" pitchFamily="34" charset="0"/>
            </a:endParaRPr>
          </a:p>
          <a:p>
            <a:pPr algn="just"/>
            <a:r>
              <a:rPr lang="pt-BR" sz="1100" dirty="0">
                <a:latin typeface="Montserrat" panose="00000500000000000000" pitchFamily="2" charset="0"/>
                <a:cs typeface="Arial" panose="020B0604020202020204" pitchFamily="34" charset="0"/>
              </a:rPr>
              <a:t>Nossa equipe gerencia todo o processo, do início ao fim. </a:t>
            </a:r>
            <a:endParaRPr lang="en-US" sz="1100" dirty="0">
              <a:latin typeface="Montserrat" panose="00000500000000000000" pitchFamily="2" charset="0"/>
              <a:cs typeface="Arial" panose="020B0604020202020204" pitchFamily="34" charset="0"/>
            </a:endParaRPr>
          </a:p>
          <a:p>
            <a:pPr algn="just"/>
            <a:endParaRPr lang="pt-BR" sz="1100" u="sng" dirty="0">
              <a:latin typeface="Montserrat" panose="00000500000000000000" pitchFamily="2" charset="0"/>
              <a:cs typeface="Arial" panose="020B0604020202020204" pitchFamily="34" charset="0"/>
            </a:endParaRPr>
          </a:p>
          <a:p>
            <a:pPr algn="just"/>
            <a:r>
              <a:rPr lang="pt-BR" sz="1100" dirty="0">
                <a:latin typeface="Montserrat" panose="00000500000000000000" pitchFamily="2" charset="0"/>
                <a:cs typeface="Arial" panose="020B0604020202020204" pitchFamily="34" charset="0"/>
              </a:rPr>
              <a:t>Obtenha todas as informações na palma da sua mão.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3"/>
          <p:cNvGrpSpPr/>
          <p:nvPr/>
        </p:nvGrpSpPr>
        <p:grpSpPr>
          <a:xfrm>
            <a:off x="407299" y="1658469"/>
            <a:ext cx="374337" cy="187168"/>
            <a:chOff x="0" y="0"/>
            <a:chExt cx="812800" cy="406400"/>
          </a:xfrm>
        </p:grpSpPr>
        <p:sp>
          <p:nvSpPr>
            <p:cNvPr id="14" name="Freeform 14"/>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727275"/>
            </a:solidFill>
          </p:spPr>
        </p:sp>
        <p:sp>
          <p:nvSpPr>
            <p:cNvPr id="15" name="TextBox 15"/>
            <p:cNvSpPr txBox="1"/>
            <p:nvPr/>
          </p:nvSpPr>
          <p:spPr>
            <a:xfrm>
              <a:off x="0" y="-28575"/>
              <a:ext cx="698500" cy="434975"/>
            </a:xfrm>
            <a:prstGeom prst="rect">
              <a:avLst/>
            </a:prstGeom>
          </p:spPr>
          <p:txBody>
            <a:bodyPr lIns="50800" tIns="50800" rIns="50800" bIns="50800" rtlCol="0" anchor="ctr"/>
            <a:lstStyle/>
            <a:p>
              <a:pPr algn="ctr">
                <a:lnSpc>
                  <a:spcPts val="1963"/>
                </a:lnSpc>
              </a:pPr>
              <a:endParaRPr/>
            </a:p>
          </p:txBody>
        </p:sp>
      </p:grpSp>
      <p:sp>
        <p:nvSpPr>
          <p:cNvPr id="18" name="TextBox 18"/>
          <p:cNvSpPr txBox="1"/>
          <p:nvPr/>
        </p:nvSpPr>
        <p:spPr>
          <a:xfrm>
            <a:off x="511650" y="1018277"/>
            <a:ext cx="5171599" cy="367858"/>
          </a:xfrm>
          <a:prstGeom prst="rect">
            <a:avLst/>
          </a:prstGeom>
        </p:spPr>
        <p:txBody>
          <a:bodyPr wrap="square" lIns="0" tIns="0" rIns="0" bIns="0" rtlCol="0" anchor="t">
            <a:spAutoFit/>
          </a:bodyPr>
          <a:lstStyle/>
          <a:p>
            <a:pPr>
              <a:lnSpc>
                <a:spcPts val="3080"/>
              </a:lnSpc>
            </a:pPr>
            <a:r>
              <a:rPr lang="en-US" sz="2200" b="1">
                <a:solidFill>
                  <a:srgbClr val="6F6F6F"/>
                </a:solidFill>
                <a:latin typeface="Montserrat" panose="00000500000000000000" pitchFamily="2" charset="0"/>
                <a:ea typeface="Montserrat Bold"/>
                <a:cs typeface="Montserrat Bold"/>
                <a:sym typeface="Montserrat Bold"/>
              </a:rPr>
              <a:t>VANTAGENS DO SUSTENPLAN 4.0</a:t>
            </a:r>
          </a:p>
        </p:txBody>
      </p:sp>
      <p:sp>
        <p:nvSpPr>
          <p:cNvPr id="19" name="TextBox 19"/>
          <p:cNvSpPr txBox="1"/>
          <p:nvPr/>
        </p:nvSpPr>
        <p:spPr>
          <a:xfrm>
            <a:off x="869352" y="1633687"/>
            <a:ext cx="6098005" cy="236731"/>
          </a:xfrm>
          <a:prstGeom prst="rect">
            <a:avLst/>
          </a:prstGeom>
        </p:spPr>
        <p:txBody>
          <a:bodyPr wrap="square" lIns="0" tIns="0" rIns="0" bIns="0" rtlCol="0" anchor="t">
            <a:spAutoFit/>
          </a:bodyPr>
          <a:lstStyle/>
          <a:p>
            <a:pPr>
              <a:lnSpc>
                <a:spcPts val="1960"/>
              </a:lnSpc>
            </a:pPr>
            <a:r>
              <a:rPr lang="en-US" sz="1400" b="1">
                <a:solidFill>
                  <a:srgbClr val="6F6F6F"/>
                </a:solidFill>
                <a:latin typeface="Montserrat" panose="00000500000000000000" pitchFamily="2" charset="0"/>
                <a:ea typeface="Montserrat Bold"/>
                <a:cs typeface="Montserrat Bold"/>
                <a:sym typeface="Montserrat Bold"/>
              </a:rPr>
              <a:t>OPERACIONAL</a:t>
            </a:r>
          </a:p>
        </p:txBody>
      </p:sp>
      <p:pic>
        <p:nvPicPr>
          <p:cNvPr id="24" name="Imagem 23">
            <a:extLst>
              <a:ext uri="{FF2B5EF4-FFF2-40B4-BE49-F238E27FC236}">
                <a16:creationId xmlns:a16="http://schemas.microsoft.com/office/drawing/2014/main" id="{469D1465-FCB0-19F6-0B2B-5FA5EEF1AE9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4150" y="-33020"/>
            <a:ext cx="7737150" cy="859247"/>
          </a:xfrm>
          <a:prstGeom prst="rect">
            <a:avLst/>
          </a:prstGeom>
        </p:spPr>
      </p:pic>
      <p:grpSp>
        <p:nvGrpSpPr>
          <p:cNvPr id="25" name="Group 8">
            <a:extLst>
              <a:ext uri="{FF2B5EF4-FFF2-40B4-BE49-F238E27FC236}">
                <a16:creationId xmlns:a16="http://schemas.microsoft.com/office/drawing/2014/main" id="{418FDBA1-DF8F-CEA9-7C91-65D78750C4EB}"/>
              </a:ext>
            </a:extLst>
          </p:cNvPr>
          <p:cNvGrpSpPr/>
          <p:nvPr/>
        </p:nvGrpSpPr>
        <p:grpSpPr>
          <a:xfrm>
            <a:off x="-3500" y="10528423"/>
            <a:ext cx="7556500" cy="231978"/>
            <a:chOff x="0" y="0"/>
            <a:chExt cx="3047987" cy="131886"/>
          </a:xfrm>
        </p:grpSpPr>
        <p:sp>
          <p:nvSpPr>
            <p:cNvPr id="26" name="Freeform 9">
              <a:extLst>
                <a:ext uri="{FF2B5EF4-FFF2-40B4-BE49-F238E27FC236}">
                  <a16:creationId xmlns:a16="http://schemas.microsoft.com/office/drawing/2014/main" id="{39402534-480B-EE0E-7680-84BB3722A4EB}"/>
                </a:ext>
              </a:extLst>
            </p:cNvPr>
            <p:cNvSpPr/>
            <p:nvPr/>
          </p:nvSpPr>
          <p:spPr>
            <a:xfrm>
              <a:off x="0" y="0"/>
              <a:ext cx="3047987" cy="131886"/>
            </a:xfrm>
            <a:custGeom>
              <a:avLst/>
              <a:gdLst/>
              <a:ahLst/>
              <a:cxnLst/>
              <a:rect l="l" t="t" r="r" b="b"/>
              <a:pathLst>
                <a:path w="3047987" h="131886">
                  <a:moveTo>
                    <a:pt x="0" y="0"/>
                  </a:moveTo>
                  <a:lnTo>
                    <a:pt x="3047987" y="0"/>
                  </a:lnTo>
                  <a:lnTo>
                    <a:pt x="3047987" y="131886"/>
                  </a:lnTo>
                  <a:lnTo>
                    <a:pt x="0" y="131886"/>
                  </a:lnTo>
                  <a:close/>
                </a:path>
              </a:pathLst>
            </a:custGeom>
            <a:solidFill>
              <a:srgbClr val="8B8A88"/>
            </a:solidFill>
          </p:spPr>
        </p:sp>
        <p:sp>
          <p:nvSpPr>
            <p:cNvPr id="27" name="TextBox 10">
              <a:extLst>
                <a:ext uri="{FF2B5EF4-FFF2-40B4-BE49-F238E27FC236}">
                  <a16:creationId xmlns:a16="http://schemas.microsoft.com/office/drawing/2014/main" id="{9F5E098C-FCAD-E910-E75B-2E648CBBEBB6}"/>
                </a:ext>
              </a:extLst>
            </p:cNvPr>
            <p:cNvSpPr txBox="1"/>
            <p:nvPr/>
          </p:nvSpPr>
          <p:spPr>
            <a:xfrm>
              <a:off x="0" y="-38100"/>
              <a:ext cx="3047987" cy="169986"/>
            </a:xfrm>
            <a:prstGeom prst="rect">
              <a:avLst/>
            </a:prstGeom>
          </p:spPr>
          <p:txBody>
            <a:bodyPr lIns="45156" tIns="45156" rIns="45156" bIns="45156" rtlCol="0" anchor="ctr"/>
            <a:lstStyle/>
            <a:p>
              <a:pPr algn="ctr">
                <a:lnSpc>
                  <a:spcPts val="2140"/>
                </a:lnSpc>
              </a:pPr>
              <a:endParaRPr/>
            </a:p>
          </p:txBody>
        </p:sp>
      </p:grpSp>
      <p:grpSp>
        <p:nvGrpSpPr>
          <p:cNvPr id="22" name="Group 13">
            <a:extLst>
              <a:ext uri="{FF2B5EF4-FFF2-40B4-BE49-F238E27FC236}">
                <a16:creationId xmlns:a16="http://schemas.microsoft.com/office/drawing/2014/main" id="{44C6EAF4-8669-BF6B-EF4A-39A00CD7C111}"/>
              </a:ext>
            </a:extLst>
          </p:cNvPr>
          <p:cNvGrpSpPr/>
          <p:nvPr/>
        </p:nvGrpSpPr>
        <p:grpSpPr>
          <a:xfrm>
            <a:off x="407300" y="6214514"/>
            <a:ext cx="374337" cy="187168"/>
            <a:chOff x="0" y="0"/>
            <a:chExt cx="812800" cy="406400"/>
          </a:xfrm>
        </p:grpSpPr>
        <p:sp>
          <p:nvSpPr>
            <p:cNvPr id="23" name="Freeform 14">
              <a:extLst>
                <a:ext uri="{FF2B5EF4-FFF2-40B4-BE49-F238E27FC236}">
                  <a16:creationId xmlns:a16="http://schemas.microsoft.com/office/drawing/2014/main" id="{21651ADA-75C0-CE66-4F57-40AFCF330A45}"/>
                </a:ext>
              </a:extLst>
            </p:cNvPr>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727275"/>
            </a:solidFill>
          </p:spPr>
        </p:sp>
        <p:sp>
          <p:nvSpPr>
            <p:cNvPr id="28" name="TextBox 15">
              <a:extLst>
                <a:ext uri="{FF2B5EF4-FFF2-40B4-BE49-F238E27FC236}">
                  <a16:creationId xmlns:a16="http://schemas.microsoft.com/office/drawing/2014/main" id="{2CE73B72-A01A-56DB-F86A-B77D4D232309}"/>
                </a:ext>
              </a:extLst>
            </p:cNvPr>
            <p:cNvSpPr txBox="1"/>
            <p:nvPr/>
          </p:nvSpPr>
          <p:spPr>
            <a:xfrm>
              <a:off x="0" y="-28575"/>
              <a:ext cx="698500" cy="434975"/>
            </a:xfrm>
            <a:prstGeom prst="rect">
              <a:avLst/>
            </a:prstGeom>
          </p:spPr>
          <p:txBody>
            <a:bodyPr lIns="50800" tIns="50800" rIns="50800" bIns="50800" rtlCol="0" anchor="ctr"/>
            <a:lstStyle/>
            <a:p>
              <a:pPr algn="ctr">
                <a:lnSpc>
                  <a:spcPts val="1963"/>
                </a:lnSpc>
              </a:pPr>
              <a:endParaRPr/>
            </a:p>
          </p:txBody>
        </p:sp>
      </p:grpSp>
      <p:sp>
        <p:nvSpPr>
          <p:cNvPr id="7" name="TextBox 19">
            <a:extLst>
              <a:ext uri="{FF2B5EF4-FFF2-40B4-BE49-F238E27FC236}">
                <a16:creationId xmlns:a16="http://schemas.microsoft.com/office/drawing/2014/main" id="{2494773B-3827-3FE9-5DAC-61A6363C9A48}"/>
              </a:ext>
            </a:extLst>
          </p:cNvPr>
          <p:cNvSpPr txBox="1"/>
          <p:nvPr/>
        </p:nvSpPr>
        <p:spPr>
          <a:xfrm>
            <a:off x="869352" y="6189732"/>
            <a:ext cx="6205940" cy="236731"/>
          </a:xfrm>
          <a:prstGeom prst="rect">
            <a:avLst/>
          </a:prstGeom>
        </p:spPr>
        <p:txBody>
          <a:bodyPr wrap="square" lIns="0" tIns="0" rIns="0" bIns="0" rtlCol="0" anchor="t">
            <a:spAutoFit/>
          </a:bodyPr>
          <a:lstStyle/>
          <a:p>
            <a:pPr>
              <a:lnSpc>
                <a:spcPts val="1960"/>
              </a:lnSpc>
            </a:pPr>
            <a:r>
              <a:rPr lang="en-US" sz="1400" b="1">
                <a:solidFill>
                  <a:srgbClr val="6F6F6F"/>
                </a:solidFill>
                <a:latin typeface="Montserrat" panose="00000500000000000000" pitchFamily="2" charset="0"/>
                <a:ea typeface="Montserrat Bold"/>
                <a:cs typeface="Montserrat Bold"/>
                <a:sym typeface="Montserrat Bold"/>
              </a:rPr>
              <a:t>EFICIÊNCIA ENERGÉTICA</a:t>
            </a:r>
          </a:p>
        </p:txBody>
      </p:sp>
      <p:pic>
        <p:nvPicPr>
          <p:cNvPr id="2" name="Imagem 1">
            <a:extLst>
              <a:ext uri="{FF2B5EF4-FFF2-40B4-BE49-F238E27FC236}">
                <a16:creationId xmlns:a16="http://schemas.microsoft.com/office/drawing/2014/main" id="{F78F8B10-8AA7-7D0F-EE15-FB507E9496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731" y="9957653"/>
            <a:ext cx="2149319" cy="439216"/>
          </a:xfrm>
          <a:prstGeom prst="rect">
            <a:avLst/>
          </a:prstGeom>
        </p:spPr>
      </p:pic>
      <p:sp>
        <p:nvSpPr>
          <p:cNvPr id="4" name="CaixaDeTexto 3">
            <a:extLst>
              <a:ext uri="{FF2B5EF4-FFF2-40B4-BE49-F238E27FC236}">
                <a16:creationId xmlns:a16="http://schemas.microsoft.com/office/drawing/2014/main" id="{B3914379-5869-2B90-0393-51B7361D136C}"/>
              </a:ext>
            </a:extLst>
          </p:cNvPr>
          <p:cNvSpPr txBox="1"/>
          <p:nvPr/>
        </p:nvSpPr>
        <p:spPr>
          <a:xfrm>
            <a:off x="370267" y="1960953"/>
            <a:ext cx="4750358" cy="3766609"/>
          </a:xfrm>
          <a:prstGeom prst="rect">
            <a:avLst/>
          </a:prstGeom>
          <a:noFill/>
        </p:spPr>
        <p:txBody>
          <a:bodyPr wrap="square">
            <a:spAutoFit/>
          </a:bodyPr>
          <a:lstStyle/>
          <a:p>
            <a:pPr>
              <a:lnSpc>
                <a:spcPct val="200000"/>
              </a:lnSpc>
              <a:buFont typeface="Wingdings" pitchFamily="2" charset="2"/>
              <a:buChar char="ü"/>
            </a:pPr>
            <a:r>
              <a:rPr lang="pt-BR" sz="1100">
                <a:latin typeface="Montserrat" panose="00000500000000000000" pitchFamily="2" charset="0"/>
                <a:cs typeface="Arial" panose="020B0604020202020204" pitchFamily="34" charset="0"/>
              </a:rPr>
              <a:t> Equipamentos </a:t>
            </a:r>
            <a:r>
              <a:rPr lang="pt-BR" sz="1100" b="1">
                <a:latin typeface="Montserrat" panose="00000500000000000000" pitchFamily="2" charset="0"/>
                <a:cs typeface="Arial" panose="020B0604020202020204" pitchFamily="34" charset="0"/>
              </a:rPr>
              <a:t>NOVOS E SEMINOVOS;</a:t>
            </a:r>
          </a:p>
          <a:p>
            <a:pPr>
              <a:lnSpc>
                <a:spcPct val="200000"/>
              </a:lnSpc>
              <a:buFont typeface="Wingdings" pitchFamily="2" charset="2"/>
              <a:buChar char="ü"/>
            </a:pPr>
            <a:r>
              <a:rPr lang="pt-BR" sz="1100">
                <a:latin typeface="Montserrat" panose="00000500000000000000" pitchFamily="2" charset="0"/>
                <a:cs typeface="Arial" panose="020B0604020202020204" pitchFamily="34" charset="0"/>
              </a:rPr>
              <a:t>  </a:t>
            </a:r>
            <a:r>
              <a:rPr lang="pt-BR" sz="1100" b="1">
                <a:latin typeface="Montserrat" panose="00000500000000000000" pitchFamily="2" charset="0"/>
                <a:cs typeface="Arial" panose="020B0604020202020204" pitchFamily="34" charset="0"/>
              </a:rPr>
              <a:t>CUSTO ZERO </a:t>
            </a:r>
            <a:r>
              <a:rPr lang="pt-BR" sz="1100">
                <a:latin typeface="Montserrat" panose="00000500000000000000" pitchFamily="2" charset="0"/>
                <a:cs typeface="Arial" panose="020B0604020202020204" pitchFamily="34" charset="0"/>
              </a:rPr>
              <a:t>com o frete do compressor e instalação;  </a:t>
            </a:r>
          </a:p>
          <a:p>
            <a:pPr>
              <a:lnSpc>
                <a:spcPct val="200000"/>
              </a:lnSpc>
              <a:buFont typeface="Wingdings" pitchFamily="2" charset="2"/>
              <a:buChar char="ü"/>
            </a:pPr>
            <a:r>
              <a:rPr lang="pt-BR" sz="1100">
                <a:latin typeface="Montserrat" panose="00000500000000000000" pitchFamily="2" charset="0"/>
                <a:cs typeface="Arial" panose="020B0604020202020204" pitchFamily="34" charset="0"/>
              </a:rPr>
              <a:t> </a:t>
            </a:r>
            <a:r>
              <a:rPr lang="pt-BR" sz="1100" b="1">
                <a:latin typeface="Montserrat" panose="00000500000000000000" pitchFamily="2" charset="0"/>
                <a:cs typeface="Arial" panose="020B0604020202020204" pitchFamily="34" charset="0"/>
              </a:rPr>
              <a:t>ECONOMIA</a:t>
            </a:r>
            <a:r>
              <a:rPr lang="pt-BR" sz="1100">
                <a:latin typeface="Montserrat" panose="00000500000000000000" pitchFamily="2" charset="0"/>
                <a:cs typeface="Arial" panose="020B0604020202020204" pitchFamily="34" charset="0"/>
              </a:rPr>
              <a:t> energética;</a:t>
            </a:r>
          </a:p>
          <a:p>
            <a:pPr>
              <a:lnSpc>
                <a:spcPct val="200000"/>
              </a:lnSpc>
              <a:buFont typeface="Wingdings" pitchFamily="2" charset="2"/>
              <a:buChar char="ü"/>
            </a:pPr>
            <a:r>
              <a:rPr lang="pt-BR" sz="1100">
                <a:latin typeface="Montserrat" panose="00000500000000000000" pitchFamily="2" charset="0"/>
                <a:cs typeface="Arial" panose="020B0604020202020204" pitchFamily="34" charset="0"/>
              </a:rPr>
              <a:t>  Integrado Plano de </a:t>
            </a:r>
            <a:r>
              <a:rPr lang="pt-BR" sz="1100" b="1">
                <a:latin typeface="Montserrat" panose="00000500000000000000" pitchFamily="2" charset="0"/>
                <a:cs typeface="Arial" panose="020B0604020202020204" pitchFamily="34" charset="0"/>
              </a:rPr>
              <a:t>MANUTENÇÕES TOTAL;</a:t>
            </a:r>
            <a:endParaRPr lang="pt-BR" sz="1100">
              <a:latin typeface="Montserrat" panose="00000500000000000000" pitchFamily="2" charset="0"/>
              <a:cs typeface="Arial" panose="020B0604020202020204" pitchFamily="34" charset="0"/>
            </a:endParaRPr>
          </a:p>
          <a:p>
            <a:pPr lvl="0">
              <a:lnSpc>
                <a:spcPct val="200000"/>
              </a:lnSpc>
              <a:buFont typeface="Wingdings" pitchFamily="2" charset="2"/>
              <a:buChar char="ü"/>
            </a:pPr>
            <a:r>
              <a:rPr lang="pt-BR" sz="1100">
                <a:latin typeface="Montserrat" panose="00000500000000000000" pitchFamily="2" charset="0"/>
                <a:cs typeface="Arial" panose="020B0604020202020204" pitchFamily="34" charset="0"/>
              </a:rPr>
              <a:t>  Relatórios de acompanhamento dentro da </a:t>
            </a:r>
            <a:r>
              <a:rPr lang="pt-BR" sz="1100" b="1">
                <a:latin typeface="Montserrat" panose="00000500000000000000" pitchFamily="2" charset="0"/>
                <a:cs typeface="Arial" panose="020B0604020202020204" pitchFamily="34" charset="0"/>
              </a:rPr>
              <a:t>ISO 9001;</a:t>
            </a:r>
          </a:p>
          <a:p>
            <a:pPr>
              <a:lnSpc>
                <a:spcPct val="200000"/>
              </a:lnSpc>
              <a:buFont typeface="Wingdings" pitchFamily="2" charset="2"/>
              <a:buChar char="ü"/>
            </a:pPr>
            <a:r>
              <a:rPr lang="pt-BR" sz="1100">
                <a:latin typeface="Montserrat" panose="00000500000000000000" pitchFamily="2" charset="0"/>
                <a:cs typeface="Arial" panose="020B0604020202020204" pitchFamily="34" charset="0"/>
              </a:rPr>
              <a:t>  </a:t>
            </a:r>
            <a:r>
              <a:rPr lang="pt-BR" sz="1100" b="1">
                <a:latin typeface="Montserrat" panose="00000500000000000000" pitchFamily="2" charset="0"/>
                <a:cs typeface="Arial" panose="020B0604020202020204" pitchFamily="34" charset="0"/>
              </a:rPr>
              <a:t>GARANTIA OPERACIONAL;</a:t>
            </a:r>
          </a:p>
          <a:p>
            <a:pPr>
              <a:lnSpc>
                <a:spcPct val="200000"/>
              </a:lnSpc>
              <a:buFont typeface="Wingdings" pitchFamily="2" charset="2"/>
              <a:buChar char="ü"/>
            </a:pPr>
            <a:r>
              <a:rPr lang="pt-BR" sz="1100" b="1">
                <a:latin typeface="Montserrat" panose="00000500000000000000" pitchFamily="2" charset="0"/>
                <a:cs typeface="Arial" panose="020B0604020202020204" pitchFamily="34" charset="0"/>
              </a:rPr>
              <a:t>  UPGRADE</a:t>
            </a:r>
            <a:r>
              <a:rPr lang="pt-BR" sz="1100" b="1" i="1">
                <a:latin typeface="Montserrat" panose="00000500000000000000" pitchFamily="2" charset="0"/>
                <a:cs typeface="Arial" panose="020B0604020202020204" pitchFamily="34" charset="0"/>
              </a:rPr>
              <a:t> </a:t>
            </a:r>
            <a:r>
              <a:rPr lang="pt-BR" sz="1100" i="1">
                <a:latin typeface="Montserrat" panose="00000500000000000000" pitchFamily="2" charset="0"/>
                <a:cs typeface="Arial" panose="020B0604020202020204" pitchFamily="34" charset="0"/>
              </a:rPr>
              <a:t>-</a:t>
            </a:r>
            <a:r>
              <a:rPr lang="pt-BR" sz="1100" b="1" i="1">
                <a:latin typeface="Montserrat" panose="00000500000000000000" pitchFamily="2" charset="0"/>
                <a:cs typeface="Arial" panose="020B0604020202020204" pitchFamily="34" charset="0"/>
              </a:rPr>
              <a:t> </a:t>
            </a:r>
            <a:r>
              <a:rPr lang="pt-BR" sz="1100">
                <a:latin typeface="Montserrat" panose="00000500000000000000" pitchFamily="2" charset="0"/>
                <a:cs typeface="Arial" panose="020B0604020202020204" pitchFamily="34" charset="0"/>
              </a:rPr>
              <a:t>Aumento da potência do equipamento a qualquer momento, sendo os custos recalculados;</a:t>
            </a:r>
          </a:p>
          <a:p>
            <a:pPr>
              <a:lnSpc>
                <a:spcPct val="200000"/>
              </a:lnSpc>
              <a:buFont typeface="Wingdings" pitchFamily="2" charset="2"/>
              <a:buChar char="ü"/>
            </a:pPr>
            <a:r>
              <a:rPr lang="pt-BR" sz="1100" b="1">
                <a:latin typeface="Montserrat" panose="00000500000000000000" pitchFamily="2" charset="0"/>
                <a:cs typeface="Arial" panose="020B0604020202020204" pitchFamily="34" charset="0"/>
              </a:rPr>
              <a:t>  ATUALIZAÇÃO DE TECNOLOGIA </a:t>
            </a:r>
            <a:r>
              <a:rPr lang="pt-BR" sz="1100">
                <a:latin typeface="Montserrat" panose="00000500000000000000" pitchFamily="2" charset="0"/>
                <a:cs typeface="Arial" panose="020B0604020202020204" pitchFamily="34" charset="0"/>
              </a:rPr>
              <a:t>– opção para renovação dos equipamentos após o termino do contrato, assim mantendo a central de ar comprimido com alta tecnologia e renovada.</a:t>
            </a:r>
            <a:endParaRPr lang="pt-BR" sz="1100">
              <a:latin typeface="Montserrat" panose="00000500000000000000" pitchFamily="2" charset="0"/>
            </a:endParaRPr>
          </a:p>
        </p:txBody>
      </p:sp>
      <p:pic>
        <p:nvPicPr>
          <p:cNvPr id="5" name="Imagem 4">
            <a:extLst>
              <a:ext uri="{FF2B5EF4-FFF2-40B4-BE49-F238E27FC236}">
                <a16:creationId xmlns:a16="http://schemas.microsoft.com/office/drawing/2014/main" id="{F38382EA-4E6B-2073-FE13-434F102A52F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14745" y="3465398"/>
            <a:ext cx="1800469" cy="2337462"/>
          </a:xfrm>
          <a:prstGeom prst="rect">
            <a:avLst/>
          </a:prstGeom>
          <a:ln>
            <a:noFill/>
          </a:ln>
          <a:effectLst>
            <a:outerShdw blurRad="190500" algn="tl" rotWithShape="0">
              <a:srgbClr val="000000">
                <a:alpha val="70000"/>
              </a:srgbClr>
            </a:outerShdw>
          </a:effectLst>
        </p:spPr>
      </p:pic>
      <p:pic>
        <p:nvPicPr>
          <p:cNvPr id="6" name="Imagem 5">
            <a:extLst>
              <a:ext uri="{FF2B5EF4-FFF2-40B4-BE49-F238E27FC236}">
                <a16:creationId xmlns:a16="http://schemas.microsoft.com/office/drawing/2014/main" id="{B0C854EB-AE0F-97C1-3216-857E55BF547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14745" y="2020259"/>
            <a:ext cx="1839738" cy="1221916"/>
          </a:xfrm>
          <a:prstGeom prst="rect">
            <a:avLst/>
          </a:prstGeom>
          <a:ln>
            <a:noFill/>
          </a:ln>
          <a:effectLst>
            <a:outerShdw blurRad="190500" algn="tl" rotWithShape="0">
              <a:srgbClr val="000000">
                <a:alpha val="70000"/>
              </a:srgbClr>
            </a:outerShdw>
          </a:effectLst>
        </p:spPr>
      </p:pic>
      <p:pic>
        <p:nvPicPr>
          <p:cNvPr id="3" name="Imagem 2">
            <a:extLst>
              <a:ext uri="{FF2B5EF4-FFF2-40B4-BE49-F238E27FC236}">
                <a16:creationId xmlns:a16="http://schemas.microsoft.com/office/drawing/2014/main" id="{DFE53903-A6D1-5168-BF69-7E271C5071FB}"/>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b="11556"/>
          <a:stretch/>
        </p:blipFill>
        <p:spPr>
          <a:xfrm>
            <a:off x="370267" y="6792381"/>
            <a:ext cx="1834569" cy="2086150"/>
          </a:xfrm>
          <a:prstGeom prst="rect">
            <a:avLst/>
          </a:prstGeom>
          <a:ln>
            <a:noFill/>
          </a:ln>
          <a:effectLst>
            <a:outerShdw blurRad="190500" algn="tl" rotWithShape="0">
              <a:srgbClr val="000000">
                <a:alpha val="70000"/>
              </a:srgbClr>
            </a:outerShdw>
          </a:effectLst>
        </p:spPr>
      </p:pic>
      <p:sp>
        <p:nvSpPr>
          <p:cNvPr id="9" name="CaixaDeTexto 8">
            <a:extLst>
              <a:ext uri="{FF2B5EF4-FFF2-40B4-BE49-F238E27FC236}">
                <a16:creationId xmlns:a16="http://schemas.microsoft.com/office/drawing/2014/main" id="{C1D9E4A4-0CB8-8CF1-9309-14283DC8CB70}"/>
              </a:ext>
            </a:extLst>
          </p:cNvPr>
          <p:cNvSpPr txBox="1"/>
          <p:nvPr/>
        </p:nvSpPr>
        <p:spPr>
          <a:xfrm>
            <a:off x="2603499" y="6599430"/>
            <a:ext cx="4812324" cy="2992679"/>
          </a:xfrm>
          <a:prstGeom prst="rect">
            <a:avLst/>
          </a:prstGeom>
          <a:noFill/>
        </p:spPr>
        <p:txBody>
          <a:bodyPr wrap="square">
            <a:spAutoFit/>
          </a:bodyPr>
          <a:lstStyle/>
          <a:p>
            <a:pPr>
              <a:lnSpc>
                <a:spcPct val="200000"/>
              </a:lnSpc>
              <a:buFont typeface="Wingdings" pitchFamily="2" charset="2"/>
              <a:buChar char="ü"/>
            </a:pPr>
            <a:r>
              <a:rPr lang="pt-BR" sz="1200">
                <a:latin typeface="Montserrat" panose="00000500000000000000" pitchFamily="2" charset="0"/>
                <a:cs typeface="Arial" panose="020B0604020202020204" pitchFamily="34" charset="0"/>
              </a:rPr>
              <a:t> Levantamento do consumo atual dos compressores;</a:t>
            </a:r>
          </a:p>
          <a:p>
            <a:pPr>
              <a:lnSpc>
                <a:spcPct val="200000"/>
              </a:lnSpc>
              <a:buFont typeface="Wingdings" pitchFamily="2" charset="2"/>
              <a:buChar char="ü"/>
            </a:pPr>
            <a:r>
              <a:rPr lang="pt-BR" sz="1200">
                <a:latin typeface="Montserrat" panose="00000500000000000000" pitchFamily="2" charset="0"/>
                <a:cs typeface="Arial" panose="020B0604020202020204" pitchFamily="34" charset="0"/>
              </a:rPr>
              <a:t> Ajuste de bandas de pressão;</a:t>
            </a:r>
          </a:p>
          <a:p>
            <a:pPr>
              <a:lnSpc>
                <a:spcPct val="200000"/>
              </a:lnSpc>
              <a:buFont typeface="Wingdings" pitchFamily="2" charset="2"/>
              <a:buChar char="ü"/>
            </a:pPr>
            <a:r>
              <a:rPr lang="pt-BR" sz="1200">
                <a:latin typeface="Montserrat" panose="00000500000000000000" pitchFamily="2" charset="0"/>
                <a:cs typeface="Arial" panose="020B0604020202020204" pitchFamily="34" charset="0"/>
              </a:rPr>
              <a:t> Controle de purgas;</a:t>
            </a:r>
          </a:p>
          <a:p>
            <a:pPr>
              <a:lnSpc>
                <a:spcPct val="200000"/>
              </a:lnSpc>
              <a:buFont typeface="Wingdings" pitchFamily="2" charset="2"/>
              <a:buChar char="ü"/>
            </a:pPr>
            <a:r>
              <a:rPr lang="pt-BR" sz="1200">
                <a:latin typeface="Montserrat" panose="00000500000000000000" pitchFamily="2" charset="0"/>
                <a:cs typeface="Arial" panose="020B0604020202020204" pitchFamily="34" charset="0"/>
              </a:rPr>
              <a:t> Identificação em campo dos vazamentos;</a:t>
            </a:r>
          </a:p>
          <a:p>
            <a:pPr>
              <a:lnSpc>
                <a:spcPct val="200000"/>
              </a:lnSpc>
              <a:buFont typeface="Wingdings" pitchFamily="2" charset="2"/>
              <a:buChar char="ü"/>
            </a:pPr>
            <a:r>
              <a:rPr lang="pt-BR" sz="1200">
                <a:latin typeface="Montserrat" panose="00000500000000000000" pitchFamily="2" charset="0"/>
                <a:cs typeface="Arial" panose="020B0604020202020204" pitchFamily="34" charset="0"/>
              </a:rPr>
              <a:t> Identificação em campo dos pontos de melhoria;</a:t>
            </a:r>
          </a:p>
          <a:p>
            <a:pPr>
              <a:lnSpc>
                <a:spcPct val="200000"/>
              </a:lnSpc>
              <a:buFont typeface="Wingdings" pitchFamily="2" charset="2"/>
              <a:buChar char="ü"/>
            </a:pPr>
            <a:r>
              <a:rPr lang="pt-BR" sz="1200">
                <a:latin typeface="Montserrat" panose="00000500000000000000" pitchFamily="2" charset="0"/>
                <a:cs typeface="Arial" panose="020B0604020202020204" pitchFamily="34" charset="0"/>
              </a:rPr>
              <a:t> Reunião com líderes;</a:t>
            </a:r>
          </a:p>
          <a:p>
            <a:pPr>
              <a:lnSpc>
                <a:spcPct val="200000"/>
              </a:lnSpc>
              <a:buFont typeface="Wingdings" pitchFamily="2" charset="2"/>
              <a:buChar char="ü"/>
            </a:pPr>
            <a:r>
              <a:rPr lang="pt-BR" sz="1200">
                <a:latin typeface="Montserrat" panose="00000500000000000000" pitchFamily="2" charset="0"/>
                <a:cs typeface="Arial" panose="020B0604020202020204" pitchFamily="34" charset="0"/>
              </a:rPr>
              <a:t> Medições e acompanhamentos na fábrica em intervalos trimestrais.</a:t>
            </a:r>
            <a:endParaRPr lang="pt-BR" sz="1200">
              <a:latin typeface="Montserrat" panose="00000500000000000000" pitchFamily="2"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F650A-F238-9BE3-AB68-080C2BD739BF}"/>
            </a:ext>
          </a:extLst>
        </p:cNvPr>
        <p:cNvGrpSpPr/>
        <p:nvPr/>
      </p:nvGrpSpPr>
      <p:grpSpPr>
        <a:xfrm>
          <a:off x="0" y="0"/>
          <a:ext cx="0" cy="0"/>
          <a:chOff x="0" y="0"/>
          <a:chExt cx="0" cy="0"/>
        </a:xfrm>
      </p:grpSpPr>
      <p:grpSp>
        <p:nvGrpSpPr>
          <p:cNvPr id="13" name="Group 13">
            <a:extLst>
              <a:ext uri="{FF2B5EF4-FFF2-40B4-BE49-F238E27FC236}">
                <a16:creationId xmlns:a16="http://schemas.microsoft.com/office/drawing/2014/main" id="{3CAF38FA-4EE2-44BA-2B7D-E4A889985EDC}"/>
              </a:ext>
            </a:extLst>
          </p:cNvPr>
          <p:cNvGrpSpPr/>
          <p:nvPr/>
        </p:nvGrpSpPr>
        <p:grpSpPr>
          <a:xfrm>
            <a:off x="407299" y="1990405"/>
            <a:ext cx="374337" cy="187168"/>
            <a:chOff x="0" y="0"/>
            <a:chExt cx="812800" cy="406400"/>
          </a:xfrm>
        </p:grpSpPr>
        <p:sp>
          <p:nvSpPr>
            <p:cNvPr id="14" name="Freeform 14">
              <a:extLst>
                <a:ext uri="{FF2B5EF4-FFF2-40B4-BE49-F238E27FC236}">
                  <a16:creationId xmlns:a16="http://schemas.microsoft.com/office/drawing/2014/main" id="{9E65E162-E63E-2CB0-CFDC-2E7FC3CD3750}"/>
                </a:ext>
              </a:extLst>
            </p:cNvPr>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727275"/>
            </a:solidFill>
          </p:spPr>
        </p:sp>
        <p:sp>
          <p:nvSpPr>
            <p:cNvPr id="15" name="TextBox 15">
              <a:extLst>
                <a:ext uri="{FF2B5EF4-FFF2-40B4-BE49-F238E27FC236}">
                  <a16:creationId xmlns:a16="http://schemas.microsoft.com/office/drawing/2014/main" id="{981C3936-1F2B-61EB-6CDB-4B71CE0C6C3A}"/>
                </a:ext>
              </a:extLst>
            </p:cNvPr>
            <p:cNvSpPr txBox="1"/>
            <p:nvPr/>
          </p:nvSpPr>
          <p:spPr>
            <a:xfrm>
              <a:off x="0" y="-28575"/>
              <a:ext cx="698500" cy="434975"/>
            </a:xfrm>
            <a:prstGeom prst="rect">
              <a:avLst/>
            </a:prstGeom>
          </p:spPr>
          <p:txBody>
            <a:bodyPr lIns="50800" tIns="50800" rIns="50800" bIns="50800" rtlCol="0" anchor="ctr"/>
            <a:lstStyle/>
            <a:p>
              <a:pPr algn="ctr">
                <a:lnSpc>
                  <a:spcPts val="1963"/>
                </a:lnSpc>
              </a:pPr>
              <a:endParaRPr/>
            </a:p>
          </p:txBody>
        </p:sp>
      </p:grpSp>
      <p:sp>
        <p:nvSpPr>
          <p:cNvPr id="18" name="TextBox 18">
            <a:extLst>
              <a:ext uri="{FF2B5EF4-FFF2-40B4-BE49-F238E27FC236}">
                <a16:creationId xmlns:a16="http://schemas.microsoft.com/office/drawing/2014/main" id="{BBF7DF6F-5248-02EF-E095-17F50E742256}"/>
              </a:ext>
            </a:extLst>
          </p:cNvPr>
          <p:cNvSpPr txBox="1"/>
          <p:nvPr/>
        </p:nvSpPr>
        <p:spPr>
          <a:xfrm>
            <a:off x="511650" y="1018277"/>
            <a:ext cx="5171599" cy="367858"/>
          </a:xfrm>
          <a:prstGeom prst="rect">
            <a:avLst/>
          </a:prstGeom>
        </p:spPr>
        <p:txBody>
          <a:bodyPr wrap="square" lIns="0" tIns="0" rIns="0" bIns="0" rtlCol="0" anchor="t">
            <a:spAutoFit/>
          </a:bodyPr>
          <a:lstStyle/>
          <a:p>
            <a:pPr>
              <a:lnSpc>
                <a:spcPts val="3080"/>
              </a:lnSpc>
            </a:pPr>
            <a:r>
              <a:rPr lang="en-US" sz="2200" b="1">
                <a:solidFill>
                  <a:srgbClr val="6F6F6F"/>
                </a:solidFill>
                <a:latin typeface="Montserrat" panose="00000500000000000000" pitchFamily="2" charset="0"/>
                <a:ea typeface="Montserrat Bold"/>
                <a:cs typeface="Montserrat Bold"/>
                <a:sym typeface="Montserrat Bold"/>
              </a:rPr>
              <a:t>VANTAGENS DO SUSTENPLAN 4.0</a:t>
            </a:r>
          </a:p>
        </p:txBody>
      </p:sp>
      <p:sp>
        <p:nvSpPr>
          <p:cNvPr id="19" name="TextBox 19">
            <a:extLst>
              <a:ext uri="{FF2B5EF4-FFF2-40B4-BE49-F238E27FC236}">
                <a16:creationId xmlns:a16="http://schemas.microsoft.com/office/drawing/2014/main" id="{D5579242-E205-4A9E-2DD9-181F88BEC88D}"/>
              </a:ext>
            </a:extLst>
          </p:cNvPr>
          <p:cNvSpPr txBox="1"/>
          <p:nvPr/>
        </p:nvSpPr>
        <p:spPr>
          <a:xfrm>
            <a:off x="868082" y="1965623"/>
            <a:ext cx="6098005" cy="236731"/>
          </a:xfrm>
          <a:prstGeom prst="rect">
            <a:avLst/>
          </a:prstGeom>
        </p:spPr>
        <p:txBody>
          <a:bodyPr wrap="square" lIns="0" tIns="0" rIns="0" bIns="0" rtlCol="0" anchor="t">
            <a:spAutoFit/>
          </a:bodyPr>
          <a:lstStyle/>
          <a:p>
            <a:pPr>
              <a:lnSpc>
                <a:spcPts val="1960"/>
              </a:lnSpc>
            </a:pPr>
            <a:r>
              <a:rPr lang="en-US" sz="1400" b="1">
                <a:solidFill>
                  <a:srgbClr val="6F6F6F"/>
                </a:solidFill>
                <a:latin typeface="Montserrat" panose="00000500000000000000" pitchFamily="2" charset="0"/>
                <a:ea typeface="Montserrat Bold"/>
                <a:cs typeface="Montserrat Bold"/>
                <a:sym typeface="Montserrat Bold"/>
              </a:rPr>
              <a:t>ADMINISTRATIVO CONTÁBIL</a:t>
            </a:r>
          </a:p>
        </p:txBody>
      </p:sp>
      <p:pic>
        <p:nvPicPr>
          <p:cNvPr id="24" name="Imagem 23">
            <a:extLst>
              <a:ext uri="{FF2B5EF4-FFF2-40B4-BE49-F238E27FC236}">
                <a16:creationId xmlns:a16="http://schemas.microsoft.com/office/drawing/2014/main" id="{89016480-BE29-6C90-572B-4DED04059E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4150" y="-33020"/>
            <a:ext cx="7737150" cy="859247"/>
          </a:xfrm>
          <a:prstGeom prst="rect">
            <a:avLst/>
          </a:prstGeom>
        </p:spPr>
      </p:pic>
      <p:grpSp>
        <p:nvGrpSpPr>
          <p:cNvPr id="25" name="Group 8">
            <a:extLst>
              <a:ext uri="{FF2B5EF4-FFF2-40B4-BE49-F238E27FC236}">
                <a16:creationId xmlns:a16="http://schemas.microsoft.com/office/drawing/2014/main" id="{0C917620-EF6B-AD8C-88CF-C9076AFF6070}"/>
              </a:ext>
            </a:extLst>
          </p:cNvPr>
          <p:cNvGrpSpPr/>
          <p:nvPr/>
        </p:nvGrpSpPr>
        <p:grpSpPr>
          <a:xfrm>
            <a:off x="-3500" y="10528423"/>
            <a:ext cx="7556500" cy="231978"/>
            <a:chOff x="0" y="0"/>
            <a:chExt cx="3047987" cy="131886"/>
          </a:xfrm>
        </p:grpSpPr>
        <p:sp>
          <p:nvSpPr>
            <p:cNvPr id="26" name="Freeform 9">
              <a:extLst>
                <a:ext uri="{FF2B5EF4-FFF2-40B4-BE49-F238E27FC236}">
                  <a16:creationId xmlns:a16="http://schemas.microsoft.com/office/drawing/2014/main" id="{AABE7797-6129-C347-BEA9-7335A2D01F3B}"/>
                </a:ext>
              </a:extLst>
            </p:cNvPr>
            <p:cNvSpPr/>
            <p:nvPr/>
          </p:nvSpPr>
          <p:spPr>
            <a:xfrm>
              <a:off x="0" y="0"/>
              <a:ext cx="3047987" cy="131886"/>
            </a:xfrm>
            <a:custGeom>
              <a:avLst/>
              <a:gdLst/>
              <a:ahLst/>
              <a:cxnLst/>
              <a:rect l="l" t="t" r="r" b="b"/>
              <a:pathLst>
                <a:path w="3047987" h="131886">
                  <a:moveTo>
                    <a:pt x="0" y="0"/>
                  </a:moveTo>
                  <a:lnTo>
                    <a:pt x="3047987" y="0"/>
                  </a:lnTo>
                  <a:lnTo>
                    <a:pt x="3047987" y="131886"/>
                  </a:lnTo>
                  <a:lnTo>
                    <a:pt x="0" y="131886"/>
                  </a:lnTo>
                  <a:close/>
                </a:path>
              </a:pathLst>
            </a:custGeom>
            <a:solidFill>
              <a:srgbClr val="8B8A88"/>
            </a:solidFill>
          </p:spPr>
        </p:sp>
        <p:sp>
          <p:nvSpPr>
            <p:cNvPr id="27" name="TextBox 10">
              <a:extLst>
                <a:ext uri="{FF2B5EF4-FFF2-40B4-BE49-F238E27FC236}">
                  <a16:creationId xmlns:a16="http://schemas.microsoft.com/office/drawing/2014/main" id="{4F4D1DB1-B4F5-202B-C2FF-C6BC743BD346}"/>
                </a:ext>
              </a:extLst>
            </p:cNvPr>
            <p:cNvSpPr txBox="1"/>
            <p:nvPr/>
          </p:nvSpPr>
          <p:spPr>
            <a:xfrm>
              <a:off x="0" y="-38100"/>
              <a:ext cx="3047987" cy="169986"/>
            </a:xfrm>
            <a:prstGeom prst="rect">
              <a:avLst/>
            </a:prstGeom>
          </p:spPr>
          <p:txBody>
            <a:bodyPr lIns="45156" tIns="45156" rIns="45156" bIns="45156" rtlCol="0" anchor="ctr"/>
            <a:lstStyle/>
            <a:p>
              <a:pPr algn="ctr">
                <a:lnSpc>
                  <a:spcPts val="2140"/>
                </a:lnSpc>
              </a:pPr>
              <a:endParaRPr/>
            </a:p>
          </p:txBody>
        </p:sp>
      </p:grpSp>
      <p:grpSp>
        <p:nvGrpSpPr>
          <p:cNvPr id="22" name="Group 13">
            <a:extLst>
              <a:ext uri="{FF2B5EF4-FFF2-40B4-BE49-F238E27FC236}">
                <a16:creationId xmlns:a16="http://schemas.microsoft.com/office/drawing/2014/main" id="{3DBD1B3A-070A-F2C9-01DC-904A87148385}"/>
              </a:ext>
            </a:extLst>
          </p:cNvPr>
          <p:cNvGrpSpPr/>
          <p:nvPr/>
        </p:nvGrpSpPr>
        <p:grpSpPr>
          <a:xfrm>
            <a:off x="407299" y="5346562"/>
            <a:ext cx="374337" cy="187168"/>
            <a:chOff x="0" y="0"/>
            <a:chExt cx="812800" cy="406400"/>
          </a:xfrm>
        </p:grpSpPr>
        <p:sp>
          <p:nvSpPr>
            <p:cNvPr id="23" name="Freeform 14">
              <a:extLst>
                <a:ext uri="{FF2B5EF4-FFF2-40B4-BE49-F238E27FC236}">
                  <a16:creationId xmlns:a16="http://schemas.microsoft.com/office/drawing/2014/main" id="{94B09240-B836-8BBD-46E0-E26DEEFC5C61}"/>
                </a:ext>
              </a:extLst>
            </p:cNvPr>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727275"/>
            </a:solidFill>
          </p:spPr>
        </p:sp>
        <p:sp>
          <p:nvSpPr>
            <p:cNvPr id="28" name="TextBox 15">
              <a:extLst>
                <a:ext uri="{FF2B5EF4-FFF2-40B4-BE49-F238E27FC236}">
                  <a16:creationId xmlns:a16="http://schemas.microsoft.com/office/drawing/2014/main" id="{0822AB00-355E-AECA-3894-D40B879B612B}"/>
                </a:ext>
              </a:extLst>
            </p:cNvPr>
            <p:cNvSpPr txBox="1"/>
            <p:nvPr/>
          </p:nvSpPr>
          <p:spPr>
            <a:xfrm>
              <a:off x="0" y="-28575"/>
              <a:ext cx="698500" cy="434975"/>
            </a:xfrm>
            <a:prstGeom prst="rect">
              <a:avLst/>
            </a:prstGeom>
          </p:spPr>
          <p:txBody>
            <a:bodyPr lIns="50800" tIns="50800" rIns="50800" bIns="50800" rtlCol="0" anchor="ctr"/>
            <a:lstStyle/>
            <a:p>
              <a:pPr algn="ctr">
                <a:lnSpc>
                  <a:spcPts val="1963"/>
                </a:lnSpc>
              </a:pPr>
              <a:endParaRPr/>
            </a:p>
          </p:txBody>
        </p:sp>
      </p:grpSp>
      <p:sp>
        <p:nvSpPr>
          <p:cNvPr id="7" name="TextBox 19">
            <a:extLst>
              <a:ext uri="{FF2B5EF4-FFF2-40B4-BE49-F238E27FC236}">
                <a16:creationId xmlns:a16="http://schemas.microsoft.com/office/drawing/2014/main" id="{B891A29A-83C5-C762-9AA1-E9D461867EFC}"/>
              </a:ext>
            </a:extLst>
          </p:cNvPr>
          <p:cNvSpPr txBox="1"/>
          <p:nvPr/>
        </p:nvSpPr>
        <p:spPr>
          <a:xfrm>
            <a:off x="924713" y="5321565"/>
            <a:ext cx="6205940" cy="236731"/>
          </a:xfrm>
          <a:prstGeom prst="rect">
            <a:avLst/>
          </a:prstGeom>
        </p:spPr>
        <p:txBody>
          <a:bodyPr wrap="square" lIns="0" tIns="0" rIns="0" bIns="0" rtlCol="0" anchor="t">
            <a:spAutoFit/>
          </a:bodyPr>
          <a:lstStyle/>
          <a:p>
            <a:pPr>
              <a:lnSpc>
                <a:spcPts val="1960"/>
              </a:lnSpc>
            </a:pPr>
            <a:r>
              <a:rPr lang="en-US" sz="1400" b="1">
                <a:solidFill>
                  <a:srgbClr val="6F6F6F"/>
                </a:solidFill>
                <a:latin typeface="Montserrat" panose="00000500000000000000" pitchFamily="2" charset="0"/>
                <a:ea typeface="Montserrat Bold"/>
                <a:cs typeface="Montserrat Bold"/>
                <a:sym typeface="Montserrat Bold"/>
              </a:rPr>
              <a:t>CONTRATO</a:t>
            </a:r>
          </a:p>
        </p:txBody>
      </p:sp>
      <p:pic>
        <p:nvPicPr>
          <p:cNvPr id="2" name="Imagem 1">
            <a:extLst>
              <a:ext uri="{FF2B5EF4-FFF2-40B4-BE49-F238E27FC236}">
                <a16:creationId xmlns:a16="http://schemas.microsoft.com/office/drawing/2014/main" id="{D85AB872-F1F8-11B7-ACE3-4FF83AB3ED4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731" y="9957653"/>
            <a:ext cx="2149319" cy="439216"/>
          </a:xfrm>
          <a:prstGeom prst="rect">
            <a:avLst/>
          </a:prstGeom>
        </p:spPr>
      </p:pic>
      <p:sp>
        <p:nvSpPr>
          <p:cNvPr id="4" name="CaixaDeTexto 3">
            <a:extLst>
              <a:ext uri="{FF2B5EF4-FFF2-40B4-BE49-F238E27FC236}">
                <a16:creationId xmlns:a16="http://schemas.microsoft.com/office/drawing/2014/main" id="{55AFA0AD-CAA6-0918-AF4D-280D93D426E1}"/>
              </a:ext>
            </a:extLst>
          </p:cNvPr>
          <p:cNvSpPr txBox="1"/>
          <p:nvPr/>
        </p:nvSpPr>
        <p:spPr>
          <a:xfrm>
            <a:off x="288513" y="2342080"/>
            <a:ext cx="4750358" cy="2411814"/>
          </a:xfrm>
          <a:prstGeom prst="rect">
            <a:avLst/>
          </a:prstGeom>
          <a:noFill/>
        </p:spPr>
        <p:txBody>
          <a:bodyPr wrap="square">
            <a:spAutoFit/>
          </a:bodyPr>
          <a:lstStyle/>
          <a:p>
            <a:pPr>
              <a:lnSpc>
                <a:spcPct val="200000"/>
              </a:lnSpc>
              <a:buFont typeface="Wingdings" pitchFamily="2" charset="2"/>
              <a:buChar char="ü"/>
            </a:pPr>
            <a:r>
              <a:rPr lang="pt-BR" sz="1100">
                <a:latin typeface="Montserrat" panose="00000500000000000000" pitchFamily="2" charset="0"/>
                <a:cs typeface="Arial" panose="020B0604020202020204" pitchFamily="34" charset="0"/>
              </a:rPr>
              <a:t> </a:t>
            </a:r>
            <a:r>
              <a:rPr lang="pt-BR" sz="1100" b="1">
                <a:latin typeface="Montserrat" panose="00000500000000000000" pitchFamily="2" charset="0"/>
                <a:cs typeface="Arial" panose="020B0604020202020204" pitchFamily="34" charset="0"/>
              </a:rPr>
              <a:t>INCENTIVO FISCAL </a:t>
            </a:r>
            <a:r>
              <a:rPr lang="pt-BR" sz="1100">
                <a:latin typeface="Montserrat" panose="00000500000000000000" pitchFamily="2" charset="0"/>
                <a:cs typeface="Arial" panose="020B0604020202020204" pitchFamily="34" charset="0"/>
              </a:rPr>
              <a:t>- Para empresas do lucro Real, </a:t>
            </a:r>
            <a:r>
              <a:rPr lang="pt-BR" sz="1100" u="sng">
                <a:latin typeface="Montserrat" panose="00000500000000000000" pitchFamily="2" charset="0"/>
                <a:cs typeface="Arial" panose="020B0604020202020204" pitchFamily="34" charset="0"/>
              </a:rPr>
              <a:t>entra como despesa</a:t>
            </a:r>
            <a:r>
              <a:rPr lang="pt-BR" sz="1100">
                <a:latin typeface="Montserrat" panose="00000500000000000000" pitchFamily="2" charset="0"/>
                <a:cs typeface="Arial" panose="020B0604020202020204" pitchFamily="34" charset="0"/>
              </a:rPr>
              <a:t>. Economia tributaria (25% IR + 9% CS + 9,25 PIS/COFINS)</a:t>
            </a:r>
          </a:p>
          <a:p>
            <a:pPr lvl="0">
              <a:lnSpc>
                <a:spcPct val="200000"/>
              </a:lnSpc>
              <a:buFont typeface="Wingdings" pitchFamily="2" charset="2"/>
              <a:buChar char="ü"/>
            </a:pPr>
            <a:r>
              <a:rPr lang="pt-BR" sz="1100" b="1">
                <a:latin typeface="Montserrat" panose="00000500000000000000" pitchFamily="2" charset="0"/>
                <a:cs typeface="Arial" panose="020B0604020202020204" pitchFamily="34" charset="0"/>
              </a:rPr>
              <a:t>  REDUÇÃO</a:t>
            </a:r>
            <a:r>
              <a:rPr lang="pt-BR" sz="1100">
                <a:latin typeface="Montserrat" panose="00000500000000000000" pitchFamily="2" charset="0"/>
                <a:cs typeface="Arial" panose="020B0604020202020204" pitchFamily="34" charset="0"/>
              </a:rPr>
              <a:t> de despesas administrativas</a:t>
            </a:r>
            <a:endParaRPr lang="en-US" sz="1100">
              <a:latin typeface="Montserrat" panose="00000500000000000000" pitchFamily="2" charset="0"/>
              <a:cs typeface="Arial" panose="020B0604020202020204" pitchFamily="34" charset="0"/>
            </a:endParaRPr>
          </a:p>
          <a:p>
            <a:pPr lvl="0">
              <a:lnSpc>
                <a:spcPct val="200000"/>
              </a:lnSpc>
              <a:buFont typeface="Wingdings" pitchFamily="2" charset="2"/>
              <a:buChar char="ü"/>
            </a:pPr>
            <a:r>
              <a:rPr lang="en-US" sz="1100">
                <a:latin typeface="Montserrat" panose="00000500000000000000" pitchFamily="2" charset="0"/>
                <a:cs typeface="Arial" panose="020B0604020202020204" pitchFamily="34" charset="0"/>
              </a:rPr>
              <a:t>  </a:t>
            </a:r>
            <a:r>
              <a:rPr lang="en-US" sz="1100" b="1">
                <a:latin typeface="Montserrat" panose="00000500000000000000" pitchFamily="2" charset="0"/>
                <a:cs typeface="Arial" panose="020B0604020202020204" pitchFamily="34" charset="0"/>
              </a:rPr>
              <a:t>ZERO </a:t>
            </a:r>
            <a:r>
              <a:rPr lang="pt-BR" sz="1100">
                <a:latin typeface="Montserrat" panose="00000500000000000000" pitchFamily="2" charset="0"/>
                <a:cs typeface="Arial" panose="020B0604020202020204" pitchFamily="34" charset="0"/>
              </a:rPr>
              <a:t>investimento inicial </a:t>
            </a:r>
          </a:p>
          <a:p>
            <a:pPr lvl="0">
              <a:lnSpc>
                <a:spcPct val="200000"/>
              </a:lnSpc>
              <a:buFont typeface="Wingdings" pitchFamily="2" charset="2"/>
              <a:buChar char="ü"/>
            </a:pPr>
            <a:r>
              <a:rPr lang="pt-BR" sz="1100" b="1">
                <a:latin typeface="Montserrat" panose="00000500000000000000" pitchFamily="2" charset="0"/>
                <a:cs typeface="Arial" panose="020B0604020202020204" pitchFamily="34" charset="0"/>
              </a:rPr>
              <a:t>  ZERO CUSTO </a:t>
            </a:r>
            <a:r>
              <a:rPr lang="pt-BR" sz="1100">
                <a:latin typeface="Montserrat" panose="00000500000000000000" pitchFamily="2" charset="0"/>
                <a:cs typeface="Arial" panose="020B0604020202020204" pitchFamily="34" charset="0"/>
              </a:rPr>
              <a:t>de capital</a:t>
            </a:r>
          </a:p>
          <a:p>
            <a:pPr lvl="0">
              <a:lnSpc>
                <a:spcPct val="200000"/>
              </a:lnSpc>
              <a:buFont typeface="Wingdings" pitchFamily="2" charset="2"/>
              <a:buChar char="ü"/>
            </a:pPr>
            <a:r>
              <a:rPr lang="pt-BR" sz="1100">
                <a:latin typeface="Montserrat" panose="00000500000000000000" pitchFamily="2" charset="0"/>
                <a:cs typeface="Arial" panose="020B0604020202020204" pitchFamily="34" charset="0"/>
              </a:rPr>
              <a:t>  </a:t>
            </a:r>
            <a:r>
              <a:rPr lang="pt-BR" sz="1100" b="1">
                <a:latin typeface="Montserrat" panose="00000500000000000000" pitchFamily="2" charset="0"/>
                <a:cs typeface="Arial" panose="020B0604020202020204" pitchFamily="34" charset="0"/>
              </a:rPr>
              <a:t>NÃO CONTABILIZA </a:t>
            </a:r>
            <a:r>
              <a:rPr lang="pt-BR" sz="1100">
                <a:latin typeface="Montserrat" panose="00000500000000000000" pitchFamily="2" charset="0"/>
                <a:cs typeface="Arial" panose="020B0604020202020204" pitchFamily="34" charset="0"/>
              </a:rPr>
              <a:t>depreciação do bem</a:t>
            </a:r>
            <a:endParaRPr lang="en-US" sz="1100">
              <a:latin typeface="Montserrat" panose="00000500000000000000" pitchFamily="2" charset="0"/>
              <a:cs typeface="Arial" panose="020B0604020202020204" pitchFamily="34" charset="0"/>
            </a:endParaRPr>
          </a:p>
          <a:p>
            <a:pPr lvl="0">
              <a:lnSpc>
                <a:spcPct val="200000"/>
              </a:lnSpc>
              <a:buFont typeface="Wingdings" pitchFamily="2" charset="2"/>
              <a:buChar char="ü"/>
            </a:pPr>
            <a:r>
              <a:rPr lang="en-US" sz="1100">
                <a:latin typeface="Montserrat" panose="00000500000000000000" pitchFamily="2" charset="0"/>
                <a:cs typeface="Arial" panose="020B0604020202020204" pitchFamily="34" charset="0"/>
              </a:rPr>
              <a:t>  </a:t>
            </a:r>
            <a:r>
              <a:rPr lang="pt-BR" sz="1100">
                <a:latin typeface="Montserrat" panose="00000500000000000000" pitchFamily="2" charset="0"/>
                <a:cs typeface="Arial" panose="020B0604020202020204" pitchFamily="34" charset="0"/>
              </a:rPr>
              <a:t>Melhores resultados no </a:t>
            </a:r>
            <a:r>
              <a:rPr lang="pt-BR" sz="1100" b="1">
                <a:latin typeface="Montserrat" panose="00000500000000000000" pitchFamily="2" charset="0"/>
                <a:cs typeface="Arial" panose="020B0604020202020204" pitchFamily="34" charset="0"/>
              </a:rPr>
              <a:t>EVA</a:t>
            </a:r>
            <a:r>
              <a:rPr lang="pt-BR" sz="1100">
                <a:latin typeface="Montserrat" panose="00000500000000000000" pitchFamily="2" charset="0"/>
                <a:cs typeface="Arial" panose="020B0604020202020204" pitchFamily="34" charset="0"/>
              </a:rPr>
              <a:t> – Atratividade de empresas S/A</a:t>
            </a:r>
            <a:endParaRPr lang="pt-BR" sz="1100">
              <a:latin typeface="Montserrat" panose="00000500000000000000" pitchFamily="2" charset="0"/>
            </a:endParaRPr>
          </a:p>
        </p:txBody>
      </p:sp>
      <p:sp>
        <p:nvSpPr>
          <p:cNvPr id="9" name="CaixaDeTexto 8">
            <a:extLst>
              <a:ext uri="{FF2B5EF4-FFF2-40B4-BE49-F238E27FC236}">
                <a16:creationId xmlns:a16="http://schemas.microsoft.com/office/drawing/2014/main" id="{E390DE79-0558-9D69-1E18-A6F987C6BDD2}"/>
              </a:ext>
            </a:extLst>
          </p:cNvPr>
          <p:cNvSpPr txBox="1"/>
          <p:nvPr/>
        </p:nvSpPr>
        <p:spPr>
          <a:xfrm>
            <a:off x="302483" y="5633692"/>
            <a:ext cx="6753253" cy="2992679"/>
          </a:xfrm>
          <a:prstGeom prst="rect">
            <a:avLst/>
          </a:prstGeom>
          <a:noFill/>
        </p:spPr>
        <p:txBody>
          <a:bodyPr wrap="square">
            <a:spAutoFit/>
          </a:bodyPr>
          <a:lstStyle/>
          <a:p>
            <a:pPr>
              <a:lnSpc>
                <a:spcPct val="200000"/>
              </a:lnSpc>
              <a:buFont typeface="Wingdings" pitchFamily="2" charset="2"/>
              <a:buChar char="ü"/>
            </a:pPr>
            <a:r>
              <a:rPr lang="pt-BR" sz="1200">
                <a:latin typeface="Montserrat" panose="00000500000000000000" pitchFamily="2" charset="0"/>
                <a:cs typeface="Arial" panose="020B0604020202020204" pitchFamily="34" charset="0"/>
              </a:rPr>
              <a:t> Durabilidade de 60 meses – </a:t>
            </a:r>
            <a:r>
              <a:rPr lang="pt-BR" sz="1200" b="1">
                <a:latin typeface="Montserrat" panose="00000500000000000000" pitchFamily="2" charset="0"/>
                <a:cs typeface="Arial" panose="020B0604020202020204" pitchFamily="34" charset="0"/>
              </a:rPr>
              <a:t>RENOVÁVEIS;</a:t>
            </a:r>
          </a:p>
          <a:p>
            <a:pPr>
              <a:lnSpc>
                <a:spcPct val="200000"/>
              </a:lnSpc>
              <a:buFont typeface="Wingdings" pitchFamily="2" charset="2"/>
              <a:buChar char="ü"/>
            </a:pPr>
            <a:r>
              <a:rPr lang="pt-BR" sz="1200" b="1">
                <a:latin typeface="Montserrat" panose="00000500000000000000" pitchFamily="2" charset="0"/>
                <a:cs typeface="Arial" panose="020B0604020202020204" pitchFamily="34" charset="0"/>
              </a:rPr>
              <a:t>  </a:t>
            </a:r>
            <a:r>
              <a:rPr lang="pt-BR" sz="1200">
                <a:latin typeface="Montserrat" panose="00000500000000000000" pitchFamily="2" charset="0"/>
                <a:cs typeface="Arial" panose="020B0604020202020204" pitchFamily="34" charset="0"/>
              </a:rPr>
              <a:t>Opção para </a:t>
            </a:r>
            <a:r>
              <a:rPr lang="pt-BR" sz="1200" b="1">
                <a:latin typeface="Montserrat" panose="00000500000000000000" pitchFamily="2" charset="0"/>
                <a:cs typeface="Arial" panose="020B0604020202020204" pitchFamily="34" charset="0"/>
              </a:rPr>
              <a:t>COMPRA – </a:t>
            </a:r>
            <a:r>
              <a:rPr lang="pt-BR" sz="1200">
                <a:latin typeface="Montserrat" panose="00000500000000000000" pitchFamily="2" charset="0"/>
                <a:cs typeface="Arial" panose="020B0604020202020204" pitchFamily="34" charset="0"/>
              </a:rPr>
              <a:t>após</a:t>
            </a:r>
            <a:r>
              <a:rPr lang="pt-BR" sz="1200" b="1">
                <a:latin typeface="Montserrat" panose="00000500000000000000" pitchFamily="2" charset="0"/>
                <a:cs typeface="Arial" panose="020B0604020202020204" pitchFamily="34" charset="0"/>
              </a:rPr>
              <a:t> </a:t>
            </a:r>
            <a:r>
              <a:rPr lang="pt-BR" sz="1200">
                <a:latin typeface="Montserrat" panose="00000500000000000000" pitchFamily="2" charset="0"/>
                <a:cs typeface="Arial" panose="020B0604020202020204" pitchFamily="34" charset="0"/>
              </a:rPr>
              <a:t>quitação da 36ª mensalidade poderá ser adquirido o(s) equipamento(s), calculando a depreciação de 10% a.a;</a:t>
            </a:r>
          </a:p>
          <a:p>
            <a:pPr>
              <a:lnSpc>
                <a:spcPct val="200000"/>
              </a:lnSpc>
              <a:buFont typeface="Wingdings" pitchFamily="2" charset="2"/>
              <a:buChar char="ü"/>
            </a:pPr>
            <a:r>
              <a:rPr lang="pt-BR" sz="1200" b="1">
                <a:latin typeface="Montserrat" panose="00000500000000000000" pitchFamily="2" charset="0"/>
                <a:cs typeface="Arial" panose="020B0604020202020204" pitchFamily="34" charset="0"/>
              </a:rPr>
              <a:t>  </a:t>
            </a:r>
            <a:r>
              <a:rPr lang="pt-BR" sz="1200">
                <a:latin typeface="Montserrat" panose="00000500000000000000" pitchFamily="2" charset="0"/>
                <a:cs typeface="Arial" panose="020B0604020202020204" pitchFamily="34" charset="0"/>
              </a:rPr>
              <a:t>Rescisão </a:t>
            </a:r>
            <a:r>
              <a:rPr lang="pt-BR" sz="1200" b="1">
                <a:latin typeface="Montserrat" panose="00000500000000000000" pitchFamily="2" charset="0"/>
                <a:cs typeface="Arial" panose="020B0604020202020204" pitchFamily="34" charset="0"/>
              </a:rPr>
              <a:t>SEM MULTA – </a:t>
            </a:r>
            <a:r>
              <a:rPr lang="pt-BR" sz="1200">
                <a:latin typeface="Montserrat" panose="00000500000000000000" pitchFamily="2" charset="0"/>
                <a:cs typeface="Arial" panose="020B0604020202020204" pitchFamily="34" charset="0"/>
              </a:rPr>
              <a:t>Por irresponsabilidade, ineficiência do equipamento ou da assistência técnica;</a:t>
            </a:r>
          </a:p>
          <a:p>
            <a:pPr lvl="0">
              <a:lnSpc>
                <a:spcPct val="200000"/>
              </a:lnSpc>
              <a:buFont typeface="Wingdings" pitchFamily="2" charset="2"/>
              <a:buChar char="ü"/>
            </a:pPr>
            <a:r>
              <a:rPr lang="pt-BR" sz="1200">
                <a:latin typeface="Montserrat" panose="00000500000000000000" pitchFamily="2" charset="0"/>
                <a:cs typeface="Arial" panose="020B0604020202020204" pitchFamily="34" charset="0"/>
              </a:rPr>
              <a:t>  Atendimento</a:t>
            </a:r>
            <a:r>
              <a:rPr lang="pt-BR" sz="1200" b="1">
                <a:latin typeface="Montserrat" panose="00000500000000000000" pitchFamily="2" charset="0"/>
                <a:cs typeface="Arial" panose="020B0604020202020204" pitchFamily="34" charset="0"/>
              </a:rPr>
              <a:t> PRIORITÁRIO;</a:t>
            </a:r>
          </a:p>
          <a:p>
            <a:pPr lvl="0">
              <a:lnSpc>
                <a:spcPct val="200000"/>
              </a:lnSpc>
              <a:buFont typeface="Wingdings" pitchFamily="2" charset="2"/>
              <a:buChar char="ü"/>
            </a:pPr>
            <a:r>
              <a:rPr lang="pt-BR" sz="1200" b="1">
                <a:latin typeface="Montserrat" panose="00000500000000000000" pitchFamily="2" charset="0"/>
                <a:cs typeface="Arial" panose="020B0604020202020204" pitchFamily="34" charset="0"/>
              </a:rPr>
              <a:t>  </a:t>
            </a:r>
            <a:r>
              <a:rPr lang="pt-BR" sz="1200">
                <a:latin typeface="Montserrat" panose="00000500000000000000" pitchFamily="2" charset="0"/>
                <a:cs typeface="Arial" panose="020B0604020202020204" pitchFamily="34" charset="0"/>
              </a:rPr>
              <a:t>Plano total de </a:t>
            </a:r>
            <a:r>
              <a:rPr lang="pt-BR" sz="1200" b="1">
                <a:latin typeface="Montserrat" panose="00000500000000000000" pitchFamily="2" charset="0"/>
                <a:cs typeface="Arial" panose="020B0604020202020204" pitchFamily="34" charset="0"/>
              </a:rPr>
              <a:t>MANUTENÇÕES</a:t>
            </a:r>
            <a:r>
              <a:rPr lang="pt-BR" sz="1200">
                <a:latin typeface="Montserrat" panose="00000500000000000000" pitchFamily="2" charset="0"/>
                <a:cs typeface="Arial" panose="020B0604020202020204" pitchFamily="34" charset="0"/>
              </a:rPr>
              <a:t> – isenção 100% de qualquer manutenção;</a:t>
            </a:r>
            <a:endParaRPr lang="en-US" sz="1200">
              <a:latin typeface="Montserrat" panose="00000500000000000000" pitchFamily="2" charset="0"/>
              <a:cs typeface="Arial" panose="020B0604020202020204" pitchFamily="34" charset="0"/>
            </a:endParaRPr>
          </a:p>
          <a:p>
            <a:pPr lvl="0">
              <a:lnSpc>
                <a:spcPct val="200000"/>
              </a:lnSpc>
              <a:buFont typeface="Wingdings" pitchFamily="2" charset="2"/>
              <a:buChar char="ü"/>
            </a:pPr>
            <a:r>
              <a:rPr lang="en-US" sz="1200">
                <a:latin typeface="Montserrat" panose="00000500000000000000" pitchFamily="2" charset="0"/>
                <a:cs typeface="Arial" panose="020B0604020202020204" pitchFamily="34" charset="0"/>
              </a:rPr>
              <a:t>  </a:t>
            </a:r>
            <a:r>
              <a:rPr lang="pt-BR" sz="1200">
                <a:latin typeface="Montserrat" panose="00000500000000000000" pitchFamily="2" charset="0"/>
                <a:cs typeface="Arial" panose="020B0604020202020204" pitchFamily="34" charset="0"/>
              </a:rPr>
              <a:t>Reajustes </a:t>
            </a:r>
            <a:r>
              <a:rPr lang="pt-BR" sz="1200" b="1">
                <a:latin typeface="Montserrat" panose="00000500000000000000" pitchFamily="2" charset="0"/>
                <a:cs typeface="Arial" panose="020B0604020202020204" pitchFamily="34" charset="0"/>
              </a:rPr>
              <a:t>ANUAIS</a:t>
            </a:r>
            <a:r>
              <a:rPr lang="pt-BR" sz="1200">
                <a:latin typeface="Montserrat" panose="00000500000000000000" pitchFamily="2" charset="0"/>
                <a:cs typeface="Arial" panose="020B0604020202020204" pitchFamily="34" charset="0"/>
              </a:rPr>
              <a:t> conforme IPCA.</a:t>
            </a:r>
            <a:endParaRPr lang="pt-BR" sz="1200">
              <a:latin typeface="Montserrat" panose="00000500000000000000" pitchFamily="2" charset="0"/>
            </a:endParaRPr>
          </a:p>
        </p:txBody>
      </p:sp>
      <p:pic>
        <p:nvPicPr>
          <p:cNvPr id="8" name="Imagem 7">
            <a:extLst>
              <a:ext uri="{FF2B5EF4-FFF2-40B4-BE49-F238E27FC236}">
                <a16:creationId xmlns:a16="http://schemas.microsoft.com/office/drawing/2014/main" id="{9917B3DA-09B3-2D91-05AF-EA0824CB01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84722" y="2496771"/>
            <a:ext cx="1650883" cy="963015"/>
          </a:xfrm>
          <a:prstGeom prst="rect">
            <a:avLst/>
          </a:prstGeom>
          <a:ln>
            <a:noFill/>
          </a:ln>
          <a:effectLst>
            <a:outerShdw blurRad="190500" algn="tl" rotWithShape="0">
              <a:srgbClr val="000000">
                <a:alpha val="70000"/>
              </a:srgbClr>
            </a:outerShdw>
          </a:effectLst>
        </p:spPr>
      </p:pic>
      <p:pic>
        <p:nvPicPr>
          <p:cNvPr id="10" name="Imagem 9">
            <a:extLst>
              <a:ext uri="{FF2B5EF4-FFF2-40B4-BE49-F238E27FC236}">
                <a16:creationId xmlns:a16="http://schemas.microsoft.com/office/drawing/2014/main" id="{C17D8699-4D69-40DA-90C5-101C53174D5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84722" y="3585400"/>
            <a:ext cx="1650883" cy="1186572"/>
          </a:xfrm>
          <a:prstGeom prst="rect">
            <a:avLst/>
          </a:prstGeom>
          <a:ln>
            <a:noFill/>
          </a:ln>
          <a:effectLst>
            <a:outerShdw blurRad="190500" algn="tl" rotWithShape="0">
              <a:srgbClr val="000000">
                <a:alpha val="70000"/>
              </a:srgbClr>
            </a:outerShdw>
          </a:effectLst>
        </p:spPr>
      </p:pic>
      <p:pic>
        <p:nvPicPr>
          <p:cNvPr id="12" name="Imagem 11" descr="Interface gráfica do usuário&#10;&#10;O conteúdo gerado por IA pode estar incorreto.">
            <a:extLst>
              <a:ext uri="{FF2B5EF4-FFF2-40B4-BE49-F238E27FC236}">
                <a16:creationId xmlns:a16="http://schemas.microsoft.com/office/drawing/2014/main" id="{30B6FA5D-9408-71F3-B502-43423BD0ED9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027683" y="8590627"/>
            <a:ext cx="3028813" cy="1353366"/>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5100885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46135-887C-D295-101B-44853B741983}"/>
            </a:ext>
          </a:extLst>
        </p:cNvPr>
        <p:cNvGrpSpPr/>
        <p:nvPr/>
      </p:nvGrpSpPr>
      <p:grpSpPr>
        <a:xfrm>
          <a:off x="0" y="0"/>
          <a:ext cx="0" cy="0"/>
          <a:chOff x="0" y="0"/>
          <a:chExt cx="0" cy="0"/>
        </a:xfrm>
      </p:grpSpPr>
      <p:grpSp>
        <p:nvGrpSpPr>
          <p:cNvPr id="13" name="Group 13">
            <a:extLst>
              <a:ext uri="{FF2B5EF4-FFF2-40B4-BE49-F238E27FC236}">
                <a16:creationId xmlns:a16="http://schemas.microsoft.com/office/drawing/2014/main" id="{064164F3-A188-71F8-827F-D8AA97A97F1A}"/>
              </a:ext>
            </a:extLst>
          </p:cNvPr>
          <p:cNvGrpSpPr/>
          <p:nvPr/>
        </p:nvGrpSpPr>
        <p:grpSpPr>
          <a:xfrm>
            <a:off x="529427" y="1542595"/>
            <a:ext cx="374337" cy="187168"/>
            <a:chOff x="0" y="0"/>
            <a:chExt cx="812800" cy="406400"/>
          </a:xfrm>
        </p:grpSpPr>
        <p:sp>
          <p:nvSpPr>
            <p:cNvPr id="14" name="Freeform 14">
              <a:extLst>
                <a:ext uri="{FF2B5EF4-FFF2-40B4-BE49-F238E27FC236}">
                  <a16:creationId xmlns:a16="http://schemas.microsoft.com/office/drawing/2014/main" id="{9D1BFE85-7A1B-C1FD-EDCF-98C023B47199}"/>
                </a:ext>
              </a:extLst>
            </p:cNvPr>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727275"/>
            </a:solidFill>
          </p:spPr>
        </p:sp>
        <p:sp>
          <p:nvSpPr>
            <p:cNvPr id="15" name="TextBox 15">
              <a:extLst>
                <a:ext uri="{FF2B5EF4-FFF2-40B4-BE49-F238E27FC236}">
                  <a16:creationId xmlns:a16="http://schemas.microsoft.com/office/drawing/2014/main" id="{0B1DEBAD-5CA2-CACD-18DF-8D2514CDC0B5}"/>
                </a:ext>
              </a:extLst>
            </p:cNvPr>
            <p:cNvSpPr txBox="1"/>
            <p:nvPr/>
          </p:nvSpPr>
          <p:spPr>
            <a:xfrm>
              <a:off x="0" y="-28575"/>
              <a:ext cx="698500" cy="434975"/>
            </a:xfrm>
            <a:prstGeom prst="rect">
              <a:avLst/>
            </a:prstGeom>
          </p:spPr>
          <p:txBody>
            <a:bodyPr lIns="50800" tIns="50800" rIns="50800" bIns="50800" rtlCol="0" anchor="ctr"/>
            <a:lstStyle/>
            <a:p>
              <a:pPr algn="ctr">
                <a:lnSpc>
                  <a:spcPts val="1963"/>
                </a:lnSpc>
              </a:pPr>
              <a:endParaRPr/>
            </a:p>
          </p:txBody>
        </p:sp>
      </p:grpSp>
      <p:sp>
        <p:nvSpPr>
          <p:cNvPr id="19" name="TextBox 19">
            <a:extLst>
              <a:ext uri="{FF2B5EF4-FFF2-40B4-BE49-F238E27FC236}">
                <a16:creationId xmlns:a16="http://schemas.microsoft.com/office/drawing/2014/main" id="{BB4D38D7-ACC8-818C-0E98-7C7A85DFE161}"/>
              </a:ext>
            </a:extLst>
          </p:cNvPr>
          <p:cNvSpPr txBox="1"/>
          <p:nvPr/>
        </p:nvSpPr>
        <p:spPr>
          <a:xfrm>
            <a:off x="1050943" y="1511233"/>
            <a:ext cx="5976130" cy="236731"/>
          </a:xfrm>
          <a:prstGeom prst="rect">
            <a:avLst/>
          </a:prstGeom>
        </p:spPr>
        <p:txBody>
          <a:bodyPr lIns="0" tIns="0" rIns="0" bIns="0" rtlCol="0" anchor="t">
            <a:spAutoFit/>
          </a:bodyPr>
          <a:lstStyle/>
          <a:p>
            <a:pPr>
              <a:lnSpc>
                <a:spcPts val="1960"/>
              </a:lnSpc>
            </a:pPr>
            <a:r>
              <a:rPr lang="en-US" sz="1400" b="1">
                <a:solidFill>
                  <a:srgbClr val="6F6F6F"/>
                </a:solidFill>
                <a:latin typeface="Montserrat" panose="00000500000000000000" pitchFamily="2" charset="0"/>
                <a:ea typeface="Montserrat Bold"/>
                <a:cs typeface="Montserrat Bold"/>
                <a:sym typeface="Montserrat Bold"/>
              </a:rPr>
              <a:t>BENEFÍCIOS</a:t>
            </a:r>
          </a:p>
        </p:txBody>
      </p:sp>
      <p:pic>
        <p:nvPicPr>
          <p:cNvPr id="24" name="Imagem 23">
            <a:extLst>
              <a:ext uri="{FF2B5EF4-FFF2-40B4-BE49-F238E27FC236}">
                <a16:creationId xmlns:a16="http://schemas.microsoft.com/office/drawing/2014/main" id="{39F7A9ED-4384-E0B2-0934-5233E1C3666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5504" y="0"/>
            <a:ext cx="7737150" cy="859247"/>
          </a:xfrm>
          <a:prstGeom prst="rect">
            <a:avLst/>
          </a:prstGeom>
        </p:spPr>
      </p:pic>
      <p:grpSp>
        <p:nvGrpSpPr>
          <p:cNvPr id="7" name="Group 8">
            <a:extLst>
              <a:ext uri="{FF2B5EF4-FFF2-40B4-BE49-F238E27FC236}">
                <a16:creationId xmlns:a16="http://schemas.microsoft.com/office/drawing/2014/main" id="{367A32BD-C2E0-1F25-28BF-743EE7CD0C3F}"/>
              </a:ext>
            </a:extLst>
          </p:cNvPr>
          <p:cNvGrpSpPr/>
          <p:nvPr/>
        </p:nvGrpSpPr>
        <p:grpSpPr>
          <a:xfrm>
            <a:off x="-3500" y="10528423"/>
            <a:ext cx="7556500" cy="231978"/>
            <a:chOff x="0" y="0"/>
            <a:chExt cx="3047987" cy="131886"/>
          </a:xfrm>
        </p:grpSpPr>
        <p:sp>
          <p:nvSpPr>
            <p:cNvPr id="8" name="Freeform 9">
              <a:extLst>
                <a:ext uri="{FF2B5EF4-FFF2-40B4-BE49-F238E27FC236}">
                  <a16:creationId xmlns:a16="http://schemas.microsoft.com/office/drawing/2014/main" id="{E85A1E11-35CA-0679-672F-300C8D2EC078}"/>
                </a:ext>
              </a:extLst>
            </p:cNvPr>
            <p:cNvSpPr/>
            <p:nvPr/>
          </p:nvSpPr>
          <p:spPr>
            <a:xfrm>
              <a:off x="0" y="0"/>
              <a:ext cx="3047987" cy="131886"/>
            </a:xfrm>
            <a:custGeom>
              <a:avLst/>
              <a:gdLst/>
              <a:ahLst/>
              <a:cxnLst/>
              <a:rect l="l" t="t" r="r" b="b"/>
              <a:pathLst>
                <a:path w="3047987" h="131886">
                  <a:moveTo>
                    <a:pt x="0" y="0"/>
                  </a:moveTo>
                  <a:lnTo>
                    <a:pt x="3047987" y="0"/>
                  </a:lnTo>
                  <a:lnTo>
                    <a:pt x="3047987" y="131886"/>
                  </a:lnTo>
                  <a:lnTo>
                    <a:pt x="0" y="131886"/>
                  </a:lnTo>
                  <a:close/>
                </a:path>
              </a:pathLst>
            </a:custGeom>
            <a:solidFill>
              <a:srgbClr val="8B8A88"/>
            </a:solidFill>
          </p:spPr>
        </p:sp>
        <p:sp>
          <p:nvSpPr>
            <p:cNvPr id="32" name="TextBox 10">
              <a:extLst>
                <a:ext uri="{FF2B5EF4-FFF2-40B4-BE49-F238E27FC236}">
                  <a16:creationId xmlns:a16="http://schemas.microsoft.com/office/drawing/2014/main" id="{1793D2F2-FAFD-472A-D41B-702F1D3A5492}"/>
                </a:ext>
              </a:extLst>
            </p:cNvPr>
            <p:cNvSpPr txBox="1"/>
            <p:nvPr/>
          </p:nvSpPr>
          <p:spPr>
            <a:xfrm>
              <a:off x="0" y="-38100"/>
              <a:ext cx="3047987" cy="169986"/>
            </a:xfrm>
            <a:prstGeom prst="rect">
              <a:avLst/>
            </a:prstGeom>
          </p:spPr>
          <p:txBody>
            <a:bodyPr lIns="45156" tIns="45156" rIns="45156" bIns="45156" rtlCol="0" anchor="ctr"/>
            <a:lstStyle/>
            <a:p>
              <a:pPr algn="ctr">
                <a:lnSpc>
                  <a:spcPts val="2140"/>
                </a:lnSpc>
              </a:pPr>
              <a:endParaRPr/>
            </a:p>
          </p:txBody>
        </p:sp>
      </p:grpSp>
      <p:pic>
        <p:nvPicPr>
          <p:cNvPr id="2" name="Imagem 1" descr="Proposta locação35.png">
            <a:extLst>
              <a:ext uri="{FF2B5EF4-FFF2-40B4-BE49-F238E27FC236}">
                <a16:creationId xmlns:a16="http://schemas.microsoft.com/office/drawing/2014/main" id="{BB327DDE-A8DF-6F7B-8B1B-03D8B4861379}"/>
              </a:ext>
            </a:extLst>
          </p:cNvPr>
          <p:cNvPicPr>
            <a:picLocks noChangeAspect="1"/>
          </p:cNvPicPr>
          <p:nvPr/>
        </p:nvPicPr>
        <p:blipFill rotWithShape="1">
          <a:blip r:embed="rId3" cstate="print"/>
          <a:srcRect t="26281"/>
          <a:stretch/>
        </p:blipFill>
        <p:spPr>
          <a:xfrm>
            <a:off x="547335" y="2294713"/>
            <a:ext cx="6184088" cy="3399121"/>
          </a:xfrm>
          <a:prstGeom prst="rect">
            <a:avLst/>
          </a:prstGeom>
          <a:ln w="3175">
            <a:solidFill>
              <a:schemeClr val="tx1"/>
            </a:solidFill>
          </a:ln>
        </p:spPr>
      </p:pic>
      <p:pic>
        <p:nvPicPr>
          <p:cNvPr id="27" name="Imagem 26">
            <a:extLst>
              <a:ext uri="{FF2B5EF4-FFF2-40B4-BE49-F238E27FC236}">
                <a16:creationId xmlns:a16="http://schemas.microsoft.com/office/drawing/2014/main" id="{8389ACAD-69DB-64D4-8A5D-ECEA8F5F47D1}"/>
              </a:ext>
            </a:extLst>
          </p:cNvPr>
          <p:cNvPicPr>
            <a:picLocks noChangeAspect="1"/>
          </p:cNvPicPr>
          <p:nvPr/>
        </p:nvPicPr>
        <p:blipFill>
          <a:blip r:embed="rId4"/>
          <a:stretch>
            <a:fillRect/>
          </a:stretch>
        </p:blipFill>
        <p:spPr>
          <a:xfrm>
            <a:off x="505774" y="9909410"/>
            <a:ext cx="2152650" cy="447675"/>
          </a:xfrm>
          <a:prstGeom prst="rect">
            <a:avLst/>
          </a:prstGeom>
        </p:spPr>
      </p:pic>
    </p:spTree>
    <p:extLst>
      <p:ext uri="{BB962C8B-B14F-4D97-AF65-F5344CB8AC3E}">
        <p14:creationId xmlns:p14="http://schemas.microsoft.com/office/powerpoint/2010/main" val="32796732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56501-566D-ADB3-0292-D860A33A15E4}"/>
            </a:ext>
          </a:extLst>
        </p:cNvPr>
        <p:cNvGrpSpPr/>
        <p:nvPr/>
      </p:nvGrpSpPr>
      <p:grpSpPr>
        <a:xfrm>
          <a:off x="0" y="0"/>
          <a:ext cx="0" cy="0"/>
          <a:chOff x="0" y="0"/>
          <a:chExt cx="0" cy="0"/>
        </a:xfrm>
      </p:grpSpPr>
      <p:grpSp>
        <p:nvGrpSpPr>
          <p:cNvPr id="13" name="Group 13">
            <a:extLst>
              <a:ext uri="{FF2B5EF4-FFF2-40B4-BE49-F238E27FC236}">
                <a16:creationId xmlns:a16="http://schemas.microsoft.com/office/drawing/2014/main" id="{004EE0C0-F311-1BF9-4DA1-6EB97A451C63}"/>
              </a:ext>
            </a:extLst>
          </p:cNvPr>
          <p:cNvGrpSpPr/>
          <p:nvPr/>
        </p:nvGrpSpPr>
        <p:grpSpPr>
          <a:xfrm>
            <a:off x="447916" y="1358820"/>
            <a:ext cx="374337" cy="187168"/>
            <a:chOff x="0" y="0"/>
            <a:chExt cx="812800" cy="406400"/>
          </a:xfrm>
        </p:grpSpPr>
        <p:sp>
          <p:nvSpPr>
            <p:cNvPr id="14" name="Freeform 14">
              <a:extLst>
                <a:ext uri="{FF2B5EF4-FFF2-40B4-BE49-F238E27FC236}">
                  <a16:creationId xmlns:a16="http://schemas.microsoft.com/office/drawing/2014/main" id="{D56E9F14-7322-2F1F-0F62-68B350823EF4}"/>
                </a:ext>
              </a:extLst>
            </p:cNvPr>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727275"/>
            </a:solidFill>
          </p:spPr>
        </p:sp>
        <p:sp>
          <p:nvSpPr>
            <p:cNvPr id="15" name="TextBox 15">
              <a:extLst>
                <a:ext uri="{FF2B5EF4-FFF2-40B4-BE49-F238E27FC236}">
                  <a16:creationId xmlns:a16="http://schemas.microsoft.com/office/drawing/2014/main" id="{19A7B10B-14AA-19EC-CA71-928E458FDA97}"/>
                </a:ext>
              </a:extLst>
            </p:cNvPr>
            <p:cNvSpPr txBox="1"/>
            <p:nvPr/>
          </p:nvSpPr>
          <p:spPr>
            <a:xfrm>
              <a:off x="0" y="-28575"/>
              <a:ext cx="698500" cy="434975"/>
            </a:xfrm>
            <a:prstGeom prst="rect">
              <a:avLst/>
            </a:prstGeom>
          </p:spPr>
          <p:txBody>
            <a:bodyPr lIns="50800" tIns="50800" rIns="50800" bIns="50800" rtlCol="0" anchor="ctr"/>
            <a:lstStyle/>
            <a:p>
              <a:pPr algn="ctr">
                <a:lnSpc>
                  <a:spcPts val="1963"/>
                </a:lnSpc>
              </a:pPr>
              <a:endParaRPr/>
            </a:p>
          </p:txBody>
        </p:sp>
      </p:grpSp>
      <p:sp>
        <p:nvSpPr>
          <p:cNvPr id="19" name="TextBox 19">
            <a:extLst>
              <a:ext uri="{FF2B5EF4-FFF2-40B4-BE49-F238E27FC236}">
                <a16:creationId xmlns:a16="http://schemas.microsoft.com/office/drawing/2014/main" id="{44D47680-364F-6732-1D5E-5D898E6BF184}"/>
              </a:ext>
            </a:extLst>
          </p:cNvPr>
          <p:cNvSpPr txBox="1"/>
          <p:nvPr/>
        </p:nvSpPr>
        <p:spPr>
          <a:xfrm>
            <a:off x="1038279" y="1327458"/>
            <a:ext cx="5976130" cy="236731"/>
          </a:xfrm>
          <a:prstGeom prst="rect">
            <a:avLst/>
          </a:prstGeom>
        </p:spPr>
        <p:txBody>
          <a:bodyPr lIns="0" tIns="0" rIns="0" bIns="0" rtlCol="0" anchor="t">
            <a:spAutoFit/>
          </a:bodyPr>
          <a:lstStyle/>
          <a:p>
            <a:pPr>
              <a:lnSpc>
                <a:spcPts val="1960"/>
              </a:lnSpc>
            </a:pPr>
            <a:r>
              <a:rPr lang="en-US" sz="1400" b="1">
                <a:solidFill>
                  <a:srgbClr val="6F6F6F"/>
                </a:solidFill>
                <a:latin typeface="Montserrat" panose="00000500000000000000" pitchFamily="2" charset="0"/>
                <a:ea typeface="Montserrat Bold"/>
                <a:cs typeface="Montserrat Bold"/>
                <a:sym typeface="Montserrat Bold"/>
              </a:rPr>
              <a:t>ITEM 01</a:t>
            </a:r>
          </a:p>
        </p:txBody>
      </p:sp>
      <p:pic>
        <p:nvPicPr>
          <p:cNvPr id="24" name="Imagem 23">
            <a:extLst>
              <a:ext uri="{FF2B5EF4-FFF2-40B4-BE49-F238E27FC236}">
                <a16:creationId xmlns:a16="http://schemas.microsoft.com/office/drawing/2014/main" id="{5CF720B2-DD8E-0BEC-DEB2-88D0618D7E4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0650" y="105596"/>
            <a:ext cx="7737150" cy="859247"/>
          </a:xfrm>
          <a:prstGeom prst="rect">
            <a:avLst/>
          </a:prstGeom>
        </p:spPr>
      </p:pic>
      <p:grpSp>
        <p:nvGrpSpPr>
          <p:cNvPr id="8" name="Group 8">
            <a:extLst>
              <a:ext uri="{FF2B5EF4-FFF2-40B4-BE49-F238E27FC236}">
                <a16:creationId xmlns:a16="http://schemas.microsoft.com/office/drawing/2014/main" id="{E842CC4F-0355-8A02-E90A-B525A83B686B}"/>
              </a:ext>
            </a:extLst>
          </p:cNvPr>
          <p:cNvGrpSpPr/>
          <p:nvPr/>
        </p:nvGrpSpPr>
        <p:grpSpPr>
          <a:xfrm>
            <a:off x="-3500" y="10528423"/>
            <a:ext cx="7556500" cy="231978"/>
            <a:chOff x="0" y="0"/>
            <a:chExt cx="3047987" cy="131886"/>
          </a:xfrm>
        </p:grpSpPr>
        <p:sp>
          <p:nvSpPr>
            <p:cNvPr id="9" name="Freeform 9">
              <a:extLst>
                <a:ext uri="{FF2B5EF4-FFF2-40B4-BE49-F238E27FC236}">
                  <a16:creationId xmlns:a16="http://schemas.microsoft.com/office/drawing/2014/main" id="{55192C4B-9E7D-B6FA-C626-628504E3EB0C}"/>
                </a:ext>
              </a:extLst>
            </p:cNvPr>
            <p:cNvSpPr/>
            <p:nvPr/>
          </p:nvSpPr>
          <p:spPr>
            <a:xfrm>
              <a:off x="0" y="0"/>
              <a:ext cx="3047987" cy="131886"/>
            </a:xfrm>
            <a:custGeom>
              <a:avLst/>
              <a:gdLst/>
              <a:ahLst/>
              <a:cxnLst/>
              <a:rect l="l" t="t" r="r" b="b"/>
              <a:pathLst>
                <a:path w="3047987" h="131886">
                  <a:moveTo>
                    <a:pt x="0" y="0"/>
                  </a:moveTo>
                  <a:lnTo>
                    <a:pt x="3047987" y="0"/>
                  </a:lnTo>
                  <a:lnTo>
                    <a:pt x="3047987" y="131886"/>
                  </a:lnTo>
                  <a:lnTo>
                    <a:pt x="0" y="131886"/>
                  </a:lnTo>
                  <a:close/>
                </a:path>
              </a:pathLst>
            </a:custGeom>
            <a:solidFill>
              <a:srgbClr val="8B8A88"/>
            </a:solidFill>
          </p:spPr>
        </p:sp>
        <p:sp>
          <p:nvSpPr>
            <p:cNvPr id="10" name="TextBox 10">
              <a:extLst>
                <a:ext uri="{FF2B5EF4-FFF2-40B4-BE49-F238E27FC236}">
                  <a16:creationId xmlns:a16="http://schemas.microsoft.com/office/drawing/2014/main" id="{4551FD8C-E789-FAFB-A561-6550A7B7AE0A}"/>
                </a:ext>
              </a:extLst>
            </p:cNvPr>
            <p:cNvSpPr txBox="1"/>
            <p:nvPr/>
          </p:nvSpPr>
          <p:spPr>
            <a:xfrm>
              <a:off x="0" y="-38100"/>
              <a:ext cx="3047987" cy="169986"/>
            </a:xfrm>
            <a:prstGeom prst="rect">
              <a:avLst/>
            </a:prstGeom>
          </p:spPr>
          <p:txBody>
            <a:bodyPr lIns="45156" tIns="45156" rIns="45156" bIns="45156" rtlCol="0" anchor="ctr"/>
            <a:lstStyle/>
            <a:p>
              <a:pPr algn="ctr">
                <a:lnSpc>
                  <a:spcPts val="2140"/>
                </a:lnSpc>
              </a:pPr>
              <a:endParaRPr/>
            </a:p>
          </p:txBody>
        </p:sp>
      </p:grpSp>
      <p:sp>
        <p:nvSpPr>
          <p:cNvPr id="3" name="CaixaDeTexto 2">
            <a:extLst>
              <a:ext uri="{FF2B5EF4-FFF2-40B4-BE49-F238E27FC236}">
                <a16:creationId xmlns:a16="http://schemas.microsoft.com/office/drawing/2014/main" id="{F473C41A-62AF-D87D-A3BF-58869512EC2F}"/>
              </a:ext>
            </a:extLst>
          </p:cNvPr>
          <p:cNvSpPr txBox="1"/>
          <p:nvPr/>
        </p:nvSpPr>
        <p:spPr>
          <a:xfrm>
            <a:off x="608764" y="1687913"/>
            <a:ext cx="3870960" cy="461665"/>
          </a:xfrm>
          <a:prstGeom prst="rect">
            <a:avLst/>
          </a:prstGeom>
          <a:noFill/>
        </p:spPr>
        <p:txBody>
          <a:bodyPr wrap="square">
            <a:spAutoFit/>
          </a:bodyPr>
          <a:lstStyle/>
          <a:p>
            <a:r>
              <a:rPr lang="pt-BR" sz="1200">
                <a:solidFill>
                  <a:schemeClr val="tx1">
                    <a:lumMod val="65000"/>
                    <a:lumOff val="35000"/>
                  </a:schemeClr>
                </a:solidFill>
                <a:latin typeface="Montserrat" panose="00000500000000000000" pitchFamily="2" charset="0"/>
                <a:cs typeface="Arial" panose="020B0604020202020204" pitchFamily="34" charset="0"/>
              </a:rPr>
              <a:t>Compressor Ingersoll Rand®</a:t>
            </a:r>
          </a:p>
          <a:p>
            <a:r>
              <a:rPr lang="pt-BR" sz="1200">
                <a:solidFill>
                  <a:schemeClr val="tx1">
                    <a:lumMod val="65000"/>
                    <a:lumOff val="35000"/>
                  </a:schemeClr>
                </a:solidFill>
                <a:latin typeface="Montserrat" panose="00000500000000000000" pitchFamily="2" charset="0"/>
                <a:cs typeface="Arial" panose="020B0604020202020204" pitchFamily="34" charset="0"/>
              </a:rPr>
              <a:t>Modelo: </a:t>
            </a:r>
            <a:endParaRPr lang="pt-BR" sz="1200" dirty="0">
              <a:solidFill>
                <a:schemeClr val="tx1">
                  <a:lumMod val="65000"/>
                  <a:lumOff val="35000"/>
                </a:schemeClr>
              </a:solidFill>
              <a:latin typeface="Montserrat" panose="00000500000000000000" pitchFamily="2" charset="0"/>
              <a:cs typeface="Arial" panose="020B0604020202020204" pitchFamily="34" charset="0"/>
            </a:endParaRPr>
          </a:p>
        </p:txBody>
      </p:sp>
      <p:sp>
        <p:nvSpPr>
          <p:cNvPr id="5" name="CaixaDeTexto 4">
            <a:extLst>
              <a:ext uri="{FF2B5EF4-FFF2-40B4-BE49-F238E27FC236}">
                <a16:creationId xmlns:a16="http://schemas.microsoft.com/office/drawing/2014/main" id="{616B460F-E74E-F42A-281E-8215EA091427}"/>
              </a:ext>
            </a:extLst>
          </p:cNvPr>
          <p:cNvSpPr txBox="1"/>
          <p:nvPr/>
        </p:nvSpPr>
        <p:spPr>
          <a:xfrm>
            <a:off x="608764" y="2218531"/>
            <a:ext cx="3870960" cy="307777"/>
          </a:xfrm>
          <a:prstGeom prst="rect">
            <a:avLst/>
          </a:prstGeom>
          <a:noFill/>
        </p:spPr>
        <p:txBody>
          <a:bodyPr wrap="square">
            <a:spAutoFit/>
          </a:bodyPr>
          <a:lstStyle/>
          <a:p>
            <a:r>
              <a:rPr lang="pt-BR" sz="1400" b="1">
                <a:latin typeface="Montserrat" panose="00000500000000000000" pitchFamily="2" charset="0"/>
                <a:cs typeface="Arial" panose="020B0604020202020204" pitchFamily="34" charset="0"/>
              </a:rPr>
              <a:t>Consulte o catálogo:</a:t>
            </a:r>
            <a:endParaRPr lang="pt-BR" sz="1400" b="1" dirty="0">
              <a:latin typeface="Montserrat" panose="00000500000000000000" pitchFamily="2" charset="0"/>
              <a:cs typeface="Arial" panose="020B0604020202020204" pitchFamily="34" charset="0"/>
            </a:endParaRPr>
          </a:p>
        </p:txBody>
      </p:sp>
      <p:pic>
        <p:nvPicPr>
          <p:cNvPr id="6" name="Imagem 5">
            <a:extLst>
              <a:ext uri="{FF2B5EF4-FFF2-40B4-BE49-F238E27FC236}">
                <a16:creationId xmlns:a16="http://schemas.microsoft.com/office/drawing/2014/main" id="{3AC934E1-B59A-A3ED-18F3-122612261E7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8764" y="2474571"/>
            <a:ext cx="537162" cy="537162"/>
          </a:xfrm>
          <a:prstGeom prst="rect">
            <a:avLst/>
          </a:prstGeom>
        </p:spPr>
      </p:pic>
      <p:sp>
        <p:nvSpPr>
          <p:cNvPr id="17" name="CaixaDeTexto 16">
            <a:extLst>
              <a:ext uri="{FF2B5EF4-FFF2-40B4-BE49-F238E27FC236}">
                <a16:creationId xmlns:a16="http://schemas.microsoft.com/office/drawing/2014/main" id="{D2DCA3CA-BA30-4A28-9D36-7FDF2E639370}"/>
              </a:ext>
            </a:extLst>
          </p:cNvPr>
          <p:cNvSpPr txBox="1"/>
          <p:nvPr/>
        </p:nvSpPr>
        <p:spPr>
          <a:xfrm>
            <a:off x="1145926" y="2522776"/>
            <a:ext cx="3870960" cy="461665"/>
          </a:xfrm>
          <a:prstGeom prst="rect">
            <a:avLst/>
          </a:prstGeom>
          <a:noFill/>
        </p:spPr>
        <p:txBody>
          <a:bodyPr wrap="square">
            <a:spAutoFit/>
          </a:bodyPr>
          <a:lstStyle/>
          <a:p>
            <a:r>
              <a:rPr lang="pt-BR" sz="1200">
                <a:latin typeface="Montserrat" panose="00000500000000000000" pitchFamily="2" charset="0"/>
                <a:cs typeface="Arial" panose="020B0604020202020204" pitchFamily="34" charset="0"/>
              </a:rPr>
              <a:t>Clique </a:t>
            </a:r>
            <a:r>
              <a:rPr lang="pt-BR" sz="1200">
                <a:latin typeface="Montserrat" panose="00000500000000000000" pitchFamily="2" charset="0"/>
                <a:cs typeface="Arial" panose="020B0604020202020204" pitchFamily="34" charset="0"/>
                <a:hlinkClick r:id="rId4"/>
              </a:rPr>
              <a:t>aqui</a:t>
            </a:r>
            <a:endParaRPr lang="pt-BR" sz="1200">
              <a:latin typeface="Montserrat" panose="00000500000000000000" pitchFamily="2" charset="0"/>
              <a:cs typeface="Arial" panose="020B0604020202020204" pitchFamily="34" charset="0"/>
            </a:endParaRPr>
          </a:p>
          <a:p>
            <a:r>
              <a:rPr lang="pt-BR" sz="1200">
                <a:latin typeface="Montserrat" panose="00000500000000000000" pitchFamily="2" charset="0"/>
                <a:cs typeface="Arial" panose="020B0604020202020204" pitchFamily="34" charset="0"/>
              </a:rPr>
              <a:t>ou aproxime a câmera do seu celular</a:t>
            </a:r>
            <a:endParaRPr lang="pt-BR" sz="1200" dirty="0">
              <a:latin typeface="Montserrat" panose="00000500000000000000" pitchFamily="2" charset="0"/>
              <a:cs typeface="Arial" panose="020B0604020202020204" pitchFamily="34" charset="0"/>
            </a:endParaRPr>
          </a:p>
        </p:txBody>
      </p:sp>
      <p:graphicFrame>
        <p:nvGraphicFramePr>
          <p:cNvPr id="20" name="Tabela 19">
            <a:extLst>
              <a:ext uri="{FF2B5EF4-FFF2-40B4-BE49-F238E27FC236}">
                <a16:creationId xmlns:a16="http://schemas.microsoft.com/office/drawing/2014/main" id="{B483A279-D9BA-20C9-B532-678323F419D0}"/>
              </a:ext>
            </a:extLst>
          </p:cNvPr>
          <p:cNvGraphicFramePr>
            <a:graphicFrameLocks noGrp="1"/>
          </p:cNvGraphicFramePr>
          <p:nvPr>
            <p:extLst>
              <p:ext uri="{D42A27DB-BD31-4B8C-83A1-F6EECF244321}">
                <p14:modId xmlns:p14="http://schemas.microsoft.com/office/powerpoint/2010/main" val="376169724"/>
              </p:ext>
            </p:extLst>
          </p:nvPr>
        </p:nvGraphicFramePr>
        <p:xfrm>
          <a:off x="608764" y="3301094"/>
          <a:ext cx="5918200" cy="6398966"/>
        </p:xfrm>
        <a:graphic>
          <a:graphicData uri="http://schemas.openxmlformats.org/drawingml/2006/table">
            <a:tbl>
              <a:tblPr/>
              <a:tblGrid>
                <a:gridCol w="2773263">
                  <a:extLst>
                    <a:ext uri="{9D8B030D-6E8A-4147-A177-3AD203B41FA5}">
                      <a16:colId xmlns:a16="http://schemas.microsoft.com/office/drawing/2014/main" val="20000"/>
                    </a:ext>
                  </a:extLst>
                </a:gridCol>
                <a:gridCol w="1524818">
                  <a:extLst>
                    <a:ext uri="{9D8B030D-6E8A-4147-A177-3AD203B41FA5}">
                      <a16:colId xmlns:a16="http://schemas.microsoft.com/office/drawing/2014/main" val="20001"/>
                    </a:ext>
                  </a:extLst>
                </a:gridCol>
                <a:gridCol w="1620119">
                  <a:extLst>
                    <a:ext uri="{9D8B030D-6E8A-4147-A177-3AD203B41FA5}">
                      <a16:colId xmlns:a16="http://schemas.microsoft.com/office/drawing/2014/main" val="20002"/>
                    </a:ext>
                  </a:extLst>
                </a:gridCol>
              </a:tblGrid>
              <a:tr h="190500">
                <a:tc gridSpan="3">
                  <a:txBody>
                    <a:bodyPr/>
                    <a:lstStyle/>
                    <a:p>
                      <a:pPr algn="ctr" fontAlgn="ctr"/>
                      <a:r>
                        <a:rPr lang="pt-BR" sz="1100" b="1" i="0" u="none" strike="noStrike">
                          <a:solidFill>
                            <a:srgbClr val="000000"/>
                          </a:solidFill>
                          <a:effectLst/>
                          <a:latin typeface="Arial" panose="020B0604020202020204" pitchFamily="34" charset="0"/>
                        </a:rPr>
                        <a:t>CARACTERISTICAS TÉCNICAS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0"/>
                  </a:ext>
                </a:extLst>
              </a:tr>
              <a:tr h="190500">
                <a:tc>
                  <a:txBody>
                    <a:bodyPr/>
                    <a:lstStyle/>
                    <a:p>
                      <a:pPr algn="l" fontAlgn="ctr"/>
                      <a:r>
                        <a:rPr lang="pt-BR" sz="1100" b="0" i="0" u="none" strike="noStrike">
                          <a:solidFill>
                            <a:srgbClr val="000000"/>
                          </a:solidFill>
                          <a:effectLst/>
                          <a:latin typeface="Arial" panose="020B0604020202020204" pitchFamily="34" charset="0"/>
                        </a:rPr>
                        <a:t>Modelo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pt-BR" sz="1100" b="0" i="0" u="none" strike="noStrike">
                          <a:solidFill>
                            <a:srgbClr val="000000"/>
                          </a:solidFill>
                          <a:effectLst/>
                          <a:latin typeface="Arial" panose="020B0604020202020204" pitchFamily="34" charset="0"/>
                        </a:rPr>
                        <a:t>R75n TAS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pt-BR"/>
                    </a:p>
                  </a:txBody>
                  <a:tcPr/>
                </a:tc>
                <a:extLst>
                  <a:ext uri="{0D108BD9-81ED-4DB2-BD59-A6C34878D82A}">
                    <a16:rowId xmlns:a16="http://schemas.microsoft.com/office/drawing/2014/main" val="10001"/>
                  </a:ext>
                </a:extLst>
              </a:tr>
              <a:tr h="190500">
                <a:tc gridSpan="3">
                  <a:txBody>
                    <a:bodyPr/>
                    <a:lstStyle/>
                    <a:p>
                      <a:pPr algn="ctr" fontAlgn="ctr"/>
                      <a:r>
                        <a:rPr lang="pt-BR" sz="1100" b="1" i="0" u="none" strike="noStrike">
                          <a:solidFill>
                            <a:srgbClr val="000000"/>
                          </a:solidFill>
                          <a:effectLst/>
                          <a:latin typeface="Arial" panose="020B0604020202020204" pitchFamily="34" charset="0"/>
                        </a:rPr>
                        <a:t>Peformance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2"/>
                  </a:ext>
                </a:extLst>
              </a:tr>
              <a:tr h="190500">
                <a:tc>
                  <a:txBody>
                    <a:bodyPr/>
                    <a:lstStyle/>
                    <a:p>
                      <a:pPr algn="l" fontAlgn="ctr"/>
                      <a:r>
                        <a:rPr lang="pt-BR" sz="1100" b="0" i="0" u="none" strike="noStrike">
                          <a:solidFill>
                            <a:srgbClr val="000000"/>
                          </a:solidFill>
                          <a:effectLst/>
                          <a:latin typeface="Arial" panose="020B0604020202020204" pitchFamily="34" charset="0"/>
                        </a:rPr>
                        <a:t>Modo de acionamento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pt-BR" sz="1100" b="0" i="0" u="none" strike="noStrike">
                          <a:solidFill>
                            <a:srgbClr val="000000"/>
                          </a:solidFill>
                          <a:effectLst/>
                          <a:latin typeface="Arial" panose="020B0604020202020204" pitchFamily="34" charset="0"/>
                        </a:rPr>
                        <a:t>Velocidade Variável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pt-BR"/>
                    </a:p>
                  </a:txBody>
                  <a:tcPr/>
                </a:tc>
                <a:extLst>
                  <a:ext uri="{0D108BD9-81ED-4DB2-BD59-A6C34878D82A}">
                    <a16:rowId xmlns:a16="http://schemas.microsoft.com/office/drawing/2014/main" val="10003"/>
                  </a:ext>
                </a:extLst>
              </a:tr>
              <a:tr h="190500">
                <a:tc rowSpan="2">
                  <a:txBody>
                    <a:bodyPr/>
                    <a:lstStyle/>
                    <a:p>
                      <a:pPr algn="l" fontAlgn="ctr"/>
                      <a:r>
                        <a:rPr lang="pt-BR" sz="1100" b="0" i="0" u="none" strike="noStrike">
                          <a:solidFill>
                            <a:srgbClr val="000000"/>
                          </a:solidFill>
                          <a:effectLst/>
                          <a:latin typeface="Arial" panose="020B0604020202020204" pitchFamily="34" charset="0"/>
                        </a:rPr>
                        <a:t>Vazão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100" b="0" i="0" u="none" strike="noStrike">
                          <a:solidFill>
                            <a:srgbClr val="000000"/>
                          </a:solidFill>
                          <a:effectLst/>
                          <a:latin typeface="Arial" panose="020B0604020202020204" pitchFamily="34" charset="0"/>
                        </a:rPr>
                        <a:t>111</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pt-BR" sz="1100" b="0" i="0" u="none" strike="noStrike">
                          <a:solidFill>
                            <a:srgbClr val="000000"/>
                          </a:solidFill>
                          <a:effectLst/>
                          <a:latin typeface="Arial" panose="020B0604020202020204" pitchFamily="34" charset="0"/>
                        </a:rPr>
                        <a:t>m³/min</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90500">
                <a:tc vMerge="1">
                  <a:txBody>
                    <a:bodyPr/>
                    <a:lstStyle/>
                    <a:p>
                      <a:endParaRPr lang="pt-BR"/>
                    </a:p>
                  </a:txBody>
                  <a:tcPr/>
                </a:tc>
                <a:tc>
                  <a:txBody>
                    <a:bodyPr/>
                    <a:lstStyle/>
                    <a:p>
                      <a:pPr algn="ctr" fontAlgn="ctr"/>
                      <a:r>
                        <a:rPr lang="pt-BR" sz="1100" b="0" i="0" u="none" strike="noStrike">
                          <a:solidFill>
                            <a:srgbClr val="000000"/>
                          </a:solidFill>
                          <a:effectLst/>
                          <a:latin typeface="Arial" panose="020B0604020202020204" pitchFamily="34" charset="0"/>
                        </a:rPr>
                        <a:t>1252</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pt-BR" sz="1100" b="0" i="0" u="none" strike="noStrike">
                          <a:solidFill>
                            <a:srgbClr val="000000"/>
                          </a:solidFill>
                          <a:effectLst/>
                          <a:latin typeface="Arial" panose="020B0604020202020204" pitchFamily="34" charset="0"/>
                        </a:rPr>
                        <a:t>PCM</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90500">
                <a:tc rowSpan="2">
                  <a:txBody>
                    <a:bodyPr/>
                    <a:lstStyle/>
                    <a:p>
                      <a:pPr algn="l" fontAlgn="ctr"/>
                      <a:r>
                        <a:rPr lang="pt-BR" sz="1100" b="0" i="0" u="none" strike="noStrike">
                          <a:solidFill>
                            <a:srgbClr val="000000"/>
                          </a:solidFill>
                          <a:effectLst/>
                          <a:latin typeface="Arial" panose="020B0604020202020204" pitchFamily="34" charset="0"/>
                        </a:rPr>
                        <a:t>Pressão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100" b="0" i="0" u="none" strike="noStrike">
                          <a:solidFill>
                            <a:srgbClr val="000000"/>
                          </a:solidFill>
                          <a:effectLst/>
                          <a:latin typeface="Arial" panose="020B0604020202020204" pitchFamily="34" charset="0"/>
                        </a:rPr>
                        <a:t>122</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pt-BR" sz="1100" b="0" i="0" u="none" strike="noStrike">
                          <a:solidFill>
                            <a:srgbClr val="000000"/>
                          </a:solidFill>
                          <a:effectLst/>
                          <a:latin typeface="Arial" panose="020B0604020202020204" pitchFamily="34" charset="0"/>
                        </a:rPr>
                        <a:t>Bar(g)</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90500">
                <a:tc vMerge="1">
                  <a:txBody>
                    <a:bodyPr/>
                    <a:lstStyle/>
                    <a:p>
                      <a:endParaRPr lang="pt-BR"/>
                    </a:p>
                  </a:txBody>
                  <a:tcPr/>
                </a:tc>
                <a:tc>
                  <a:txBody>
                    <a:bodyPr/>
                    <a:lstStyle/>
                    <a:p>
                      <a:pPr algn="ctr" fontAlgn="ctr"/>
                      <a:r>
                        <a:rPr lang="pt-BR" sz="1100" b="0" i="0" u="none" strike="noStrike">
                          <a:solidFill>
                            <a:srgbClr val="000000"/>
                          </a:solidFill>
                          <a:effectLst/>
                          <a:latin typeface="Arial" panose="020B0604020202020204" pitchFamily="34" charset="0"/>
                        </a:rPr>
                        <a:t>121</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pt-BR" sz="1100" b="0" i="0" u="none" strike="noStrike">
                          <a:solidFill>
                            <a:srgbClr val="000000"/>
                          </a:solidFill>
                          <a:effectLst/>
                          <a:latin typeface="Arial" panose="020B0604020202020204" pitchFamily="34" charset="0"/>
                        </a:rPr>
                        <a:t>Psig</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190500">
                <a:tc>
                  <a:txBody>
                    <a:bodyPr/>
                    <a:lstStyle/>
                    <a:p>
                      <a:pPr algn="l" fontAlgn="ctr"/>
                      <a:r>
                        <a:rPr lang="pt-BR" sz="1100" b="0" i="0" u="none" strike="noStrike">
                          <a:solidFill>
                            <a:srgbClr val="000000"/>
                          </a:solidFill>
                          <a:effectLst/>
                          <a:latin typeface="Arial" panose="020B0604020202020204" pitchFamily="34" charset="0"/>
                        </a:rPr>
                        <a:t>Temperatura ambiente maxima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100" b="0" i="0" u="none" strike="noStrike">
                          <a:solidFill>
                            <a:srgbClr val="000000"/>
                          </a:solidFill>
                          <a:effectLst/>
                          <a:latin typeface="Arial" panose="020B0604020202020204" pitchFamily="34" charset="0"/>
                        </a:rPr>
                        <a:t>1</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pt-BR" sz="1100" b="0" i="0" u="none" strike="noStrike">
                          <a:solidFill>
                            <a:srgbClr val="000000"/>
                          </a:solidFill>
                          <a:effectLst/>
                          <a:latin typeface="Arial" panose="020B0604020202020204" pitchFamily="34" charset="0"/>
                        </a:rPr>
                        <a:t>°C</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190500">
                <a:tc>
                  <a:txBody>
                    <a:bodyPr/>
                    <a:lstStyle/>
                    <a:p>
                      <a:pPr algn="l" fontAlgn="ctr"/>
                      <a:r>
                        <a:rPr lang="pt-BR" sz="1100" b="0" i="0" u="none" strike="noStrike">
                          <a:solidFill>
                            <a:srgbClr val="000000"/>
                          </a:solidFill>
                          <a:effectLst/>
                          <a:latin typeface="Arial" panose="020B0604020202020204" pitchFamily="34" charset="0"/>
                        </a:rPr>
                        <a:t>Temperatura ambiente minima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100" b="0" i="0" u="none" strike="noStrike">
                          <a:solidFill>
                            <a:srgbClr val="000000"/>
                          </a:solidFill>
                          <a:effectLst/>
                          <a:latin typeface="Arial" panose="020B0604020202020204" pitchFamily="34" charset="0"/>
                        </a:rPr>
                        <a:t>2</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pt-BR" sz="1100" b="0" i="0" u="none" strike="noStrike">
                          <a:solidFill>
                            <a:srgbClr val="000000"/>
                          </a:solidFill>
                          <a:effectLst/>
                          <a:latin typeface="Arial" panose="020B0604020202020204" pitchFamily="34" charset="0"/>
                        </a:rPr>
                        <a:t>°C</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190500">
                <a:tc>
                  <a:txBody>
                    <a:bodyPr/>
                    <a:lstStyle/>
                    <a:p>
                      <a:pPr algn="l" fontAlgn="ctr"/>
                      <a:r>
                        <a:rPr lang="pt-BR" sz="1100" b="0" i="0" u="none" strike="noStrike">
                          <a:solidFill>
                            <a:srgbClr val="000000"/>
                          </a:solidFill>
                          <a:effectLst/>
                          <a:latin typeface="Arial" panose="020B0604020202020204" pitchFamily="34" charset="0"/>
                        </a:rPr>
                        <a:t>Tipo de refrigeração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pt-BR" sz="1100" b="0" i="0" u="none" strike="noStrike">
                          <a:solidFill>
                            <a:srgbClr val="000000"/>
                          </a:solidFill>
                          <a:effectLst/>
                          <a:latin typeface="Arial" panose="020B0604020202020204" pitchFamily="34" charset="0"/>
                        </a:rPr>
                        <a:t>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pt-BR"/>
                    </a:p>
                  </a:txBody>
                  <a:tcPr/>
                </a:tc>
                <a:extLst>
                  <a:ext uri="{0D108BD9-81ED-4DB2-BD59-A6C34878D82A}">
                    <a16:rowId xmlns:a16="http://schemas.microsoft.com/office/drawing/2014/main" val="10010"/>
                  </a:ext>
                </a:extLst>
              </a:tr>
              <a:tr h="0">
                <a:tc>
                  <a:txBody>
                    <a:bodyPr/>
                    <a:lstStyle/>
                    <a:p>
                      <a:pPr algn="l" fontAlgn="ctr"/>
                      <a:r>
                        <a:rPr lang="pt-BR" sz="1100" b="0" i="0" u="none" strike="noStrike">
                          <a:solidFill>
                            <a:srgbClr val="000000"/>
                          </a:solidFill>
                          <a:effectLst/>
                          <a:latin typeface="Arial" panose="020B0604020202020204" pitchFamily="34" charset="0"/>
                        </a:rPr>
                        <a:t>Temperatura do ar comprimido na descarga (40% da umidade relativa)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pt-BR" sz="1100" b="0" i="0" u="none" strike="noStrike">
                          <a:solidFill>
                            <a:srgbClr val="000000"/>
                          </a:solidFill>
                          <a:effectLst/>
                          <a:latin typeface="Arial" panose="020B0604020202020204" pitchFamily="34" charset="0"/>
                        </a:rPr>
                        <a:t>Temperatura ambiente + 8°C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pt-BR"/>
                    </a:p>
                  </a:txBody>
                  <a:tcPr/>
                </a:tc>
                <a:extLst>
                  <a:ext uri="{0D108BD9-81ED-4DB2-BD59-A6C34878D82A}">
                    <a16:rowId xmlns:a16="http://schemas.microsoft.com/office/drawing/2014/main" val="10011"/>
                  </a:ext>
                </a:extLst>
              </a:tr>
              <a:tr h="190500">
                <a:tc>
                  <a:txBody>
                    <a:bodyPr/>
                    <a:lstStyle/>
                    <a:p>
                      <a:pPr algn="l" fontAlgn="ctr"/>
                      <a:r>
                        <a:rPr lang="pt-BR" sz="1100" b="0" i="0" u="none" strike="noStrike">
                          <a:solidFill>
                            <a:srgbClr val="000000"/>
                          </a:solidFill>
                          <a:effectLst/>
                          <a:latin typeface="Arial" panose="020B0604020202020204" pitchFamily="34" charset="0"/>
                        </a:rPr>
                        <a:t>Nivel de ruído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100" b="0" i="0" u="none" strike="noStrike">
                          <a:solidFill>
                            <a:srgbClr val="000000"/>
                          </a:solidFill>
                          <a:effectLst/>
                          <a:latin typeface="Arial" panose="020B0604020202020204" pitchFamily="34" charset="0"/>
                        </a:rPr>
                        <a:t>75</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pt-BR" sz="1100" b="0" i="0" u="none" strike="noStrike">
                          <a:solidFill>
                            <a:srgbClr val="000000"/>
                          </a:solidFill>
                          <a:effectLst/>
                          <a:latin typeface="Arial" panose="020B0604020202020204" pitchFamily="34" charset="0"/>
                        </a:rPr>
                        <a:t>dBA</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190500">
                <a:tc rowSpan="2">
                  <a:txBody>
                    <a:bodyPr/>
                    <a:lstStyle/>
                    <a:p>
                      <a:pPr algn="l" fontAlgn="ctr"/>
                      <a:r>
                        <a:rPr lang="pt-BR" sz="1100" b="0" i="0" u="none" strike="noStrike">
                          <a:solidFill>
                            <a:srgbClr val="000000"/>
                          </a:solidFill>
                          <a:effectLst/>
                          <a:latin typeface="Arial" panose="020B0604020202020204" pitchFamily="34" charset="0"/>
                        </a:rPr>
                        <a:t>Lubrificante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pt-BR" sz="1100" b="0" i="0" u="none" strike="noStrike">
                          <a:solidFill>
                            <a:srgbClr val="000000"/>
                          </a:solidFill>
                          <a:effectLst/>
                          <a:latin typeface="Arial" panose="020B0604020202020204" pitchFamily="34" charset="0"/>
                        </a:rPr>
                        <a:t>Ultra Coolant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pt-BR"/>
                    </a:p>
                  </a:txBody>
                  <a:tcPr/>
                </a:tc>
                <a:extLst>
                  <a:ext uri="{0D108BD9-81ED-4DB2-BD59-A6C34878D82A}">
                    <a16:rowId xmlns:a16="http://schemas.microsoft.com/office/drawing/2014/main" val="10013"/>
                  </a:ext>
                </a:extLst>
              </a:tr>
              <a:tr h="184856">
                <a:tc vMerge="1">
                  <a:txBody>
                    <a:bodyPr/>
                    <a:lstStyle/>
                    <a:p>
                      <a:endParaRPr lang="pt-BR"/>
                    </a:p>
                  </a:txBody>
                  <a:tcPr/>
                </a:tc>
                <a:tc gridSpan="2">
                  <a:txBody>
                    <a:bodyPr/>
                    <a:lstStyle/>
                    <a:p>
                      <a:pPr algn="ctr" fontAlgn="ctr"/>
                      <a:r>
                        <a:rPr lang="pt-BR" sz="1100" b="0" i="0" u="none" strike="noStrike">
                          <a:solidFill>
                            <a:srgbClr val="000000"/>
                          </a:solidFill>
                          <a:effectLst/>
                          <a:latin typeface="Arial" panose="020B0604020202020204" pitchFamily="34" charset="0"/>
                        </a:rPr>
                        <a:t>8.000 horas ou 2 anos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pt-BR"/>
                    </a:p>
                  </a:txBody>
                  <a:tcPr/>
                </a:tc>
                <a:extLst>
                  <a:ext uri="{0D108BD9-81ED-4DB2-BD59-A6C34878D82A}">
                    <a16:rowId xmlns:a16="http://schemas.microsoft.com/office/drawing/2014/main" val="10014"/>
                  </a:ext>
                </a:extLst>
              </a:tr>
              <a:tr h="190500">
                <a:tc gridSpan="3">
                  <a:txBody>
                    <a:bodyPr/>
                    <a:lstStyle/>
                    <a:p>
                      <a:pPr algn="ctr" fontAlgn="ctr"/>
                      <a:r>
                        <a:rPr lang="pt-BR" sz="1100" b="1" i="0" u="none" strike="noStrike">
                          <a:solidFill>
                            <a:srgbClr val="000000"/>
                          </a:solidFill>
                          <a:effectLst/>
                          <a:latin typeface="Arial" panose="020B0604020202020204" pitchFamily="34" charset="0"/>
                        </a:rPr>
                        <a:t>Motor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15"/>
                  </a:ext>
                </a:extLst>
              </a:tr>
              <a:tr h="190500">
                <a:tc>
                  <a:txBody>
                    <a:bodyPr/>
                    <a:lstStyle/>
                    <a:p>
                      <a:pPr algn="l" fontAlgn="ctr"/>
                      <a:r>
                        <a:rPr lang="pt-BR" sz="1100" b="0" i="0" u="none" strike="noStrike">
                          <a:solidFill>
                            <a:srgbClr val="000000"/>
                          </a:solidFill>
                          <a:effectLst/>
                          <a:latin typeface="Arial" panose="020B0604020202020204" pitchFamily="34" charset="0"/>
                        </a:rPr>
                        <a:t>Tipo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pt-BR" sz="1100" b="0" i="0" u="none" strike="noStrike">
                          <a:solidFill>
                            <a:srgbClr val="000000"/>
                          </a:solidFill>
                          <a:effectLst/>
                          <a:latin typeface="Arial" panose="020B0604020202020204" pitchFamily="34" charset="0"/>
                        </a:rPr>
                        <a:t>Hibrido de Magneto Permanente (HPM)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pt-BR"/>
                    </a:p>
                  </a:txBody>
                  <a:tcPr/>
                </a:tc>
                <a:extLst>
                  <a:ext uri="{0D108BD9-81ED-4DB2-BD59-A6C34878D82A}">
                    <a16:rowId xmlns:a16="http://schemas.microsoft.com/office/drawing/2014/main" val="10016"/>
                  </a:ext>
                </a:extLst>
              </a:tr>
              <a:tr h="190500">
                <a:tc rowSpan="2">
                  <a:txBody>
                    <a:bodyPr/>
                    <a:lstStyle/>
                    <a:p>
                      <a:pPr algn="l" fontAlgn="ctr"/>
                      <a:r>
                        <a:rPr lang="pt-BR" sz="1100" b="0" i="0" u="none" strike="noStrike">
                          <a:solidFill>
                            <a:srgbClr val="000000"/>
                          </a:solidFill>
                          <a:effectLst/>
                          <a:latin typeface="Arial" panose="020B0604020202020204" pitchFamily="34" charset="0"/>
                        </a:rPr>
                        <a:t>Potencia nominal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100" b="0" i="0" u="none" strike="noStrike">
                          <a:solidFill>
                            <a:srgbClr val="000000"/>
                          </a:solidFill>
                          <a:effectLst/>
                          <a:latin typeface="Arial" panose="020B0604020202020204" pitchFamily="34" charset="0"/>
                        </a:rPr>
                        <a:t>100</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pt-BR" sz="1100" b="0" i="0" u="none" strike="noStrike">
                          <a:solidFill>
                            <a:srgbClr val="000000"/>
                          </a:solidFill>
                          <a:effectLst/>
                          <a:latin typeface="Arial" panose="020B0604020202020204" pitchFamily="34" charset="0"/>
                        </a:rPr>
                        <a:t>HP</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r h="190500">
                <a:tc vMerge="1">
                  <a:txBody>
                    <a:bodyPr/>
                    <a:lstStyle/>
                    <a:p>
                      <a:endParaRPr lang="pt-BR"/>
                    </a:p>
                  </a:txBody>
                  <a:tcPr/>
                </a:tc>
                <a:tc>
                  <a:txBody>
                    <a:bodyPr/>
                    <a:lstStyle/>
                    <a:p>
                      <a:pPr algn="ctr" fontAlgn="ctr"/>
                      <a:r>
                        <a:rPr lang="pt-BR" sz="1100" b="0" i="0" u="none" strike="noStrike">
                          <a:solidFill>
                            <a:srgbClr val="000000"/>
                          </a:solidFill>
                          <a:effectLst/>
                          <a:latin typeface="Arial" panose="020B0604020202020204" pitchFamily="34" charset="0"/>
                        </a:rPr>
                        <a:t>75</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pt-BR" sz="1100" b="0" i="0" u="none" strike="noStrike">
                          <a:solidFill>
                            <a:srgbClr val="000000"/>
                          </a:solidFill>
                          <a:effectLst/>
                          <a:latin typeface="Arial" panose="020B0604020202020204" pitchFamily="34" charset="0"/>
                        </a:rPr>
                        <a:t>kW</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8"/>
                  </a:ext>
                </a:extLst>
              </a:tr>
              <a:tr h="190500">
                <a:tc>
                  <a:txBody>
                    <a:bodyPr/>
                    <a:lstStyle/>
                    <a:p>
                      <a:pPr algn="l" fontAlgn="ctr"/>
                      <a:r>
                        <a:rPr lang="pt-BR" sz="1100" b="0" i="0" u="none" strike="noStrike">
                          <a:solidFill>
                            <a:srgbClr val="000000"/>
                          </a:solidFill>
                          <a:effectLst/>
                          <a:latin typeface="Arial" panose="020B0604020202020204" pitchFamily="34" charset="0"/>
                        </a:rPr>
                        <a:t>Tensão de alimentação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100" b="0" i="0" u="none" strike="noStrike">
                          <a:solidFill>
                            <a:srgbClr val="000000"/>
                          </a:solidFill>
                          <a:effectLst/>
                          <a:latin typeface="Arial" panose="020B0604020202020204" pitchFamily="34" charset="0"/>
                        </a:rPr>
                        <a:t>380 / 3 / 60</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pt-BR" sz="1100" b="0" i="0" u="none" strike="noStrike">
                          <a:solidFill>
                            <a:srgbClr val="000000"/>
                          </a:solidFill>
                          <a:effectLst/>
                          <a:latin typeface="Arial" panose="020B0604020202020204" pitchFamily="34" charset="0"/>
                        </a:rPr>
                        <a:t>V / F / Hz</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9"/>
                  </a:ext>
                </a:extLst>
              </a:tr>
              <a:tr h="190500">
                <a:tc>
                  <a:txBody>
                    <a:bodyPr/>
                    <a:lstStyle/>
                    <a:p>
                      <a:pPr algn="l" fontAlgn="ctr"/>
                      <a:r>
                        <a:rPr lang="pt-BR" sz="1100" b="0" i="0" u="none" strike="noStrike">
                          <a:solidFill>
                            <a:srgbClr val="000000"/>
                          </a:solidFill>
                          <a:effectLst/>
                          <a:latin typeface="Arial" panose="020B0604020202020204" pitchFamily="34" charset="0"/>
                        </a:rPr>
                        <a:t>Classe proteção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pt-BR" sz="11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pt-BR"/>
                    </a:p>
                  </a:txBody>
                  <a:tcPr/>
                </a:tc>
                <a:extLst>
                  <a:ext uri="{0D108BD9-81ED-4DB2-BD59-A6C34878D82A}">
                    <a16:rowId xmlns:a16="http://schemas.microsoft.com/office/drawing/2014/main" val="10020"/>
                  </a:ext>
                </a:extLst>
              </a:tr>
              <a:tr h="190500">
                <a:tc gridSpan="3">
                  <a:txBody>
                    <a:bodyPr/>
                    <a:lstStyle/>
                    <a:p>
                      <a:pPr algn="ctr" fontAlgn="ctr"/>
                      <a:r>
                        <a:rPr lang="pt-BR" sz="1100" b="1" i="0" u="none" strike="noStrike">
                          <a:solidFill>
                            <a:srgbClr val="000000"/>
                          </a:solidFill>
                          <a:effectLst/>
                          <a:latin typeface="Arial" panose="020B0604020202020204" pitchFamily="34" charset="0"/>
                        </a:rPr>
                        <a:t>Chave de partida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21"/>
                  </a:ext>
                </a:extLst>
              </a:tr>
              <a:tr h="190500">
                <a:tc>
                  <a:txBody>
                    <a:bodyPr/>
                    <a:lstStyle/>
                    <a:p>
                      <a:pPr algn="l" fontAlgn="ctr"/>
                      <a:r>
                        <a:rPr lang="pt-BR" sz="1100" b="0" i="0" u="none" strike="noStrike">
                          <a:solidFill>
                            <a:srgbClr val="000000"/>
                          </a:solidFill>
                          <a:effectLst/>
                          <a:latin typeface="Arial" panose="020B0604020202020204" pitchFamily="34" charset="0"/>
                        </a:rPr>
                        <a:t>Por inversor de frequencia</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100" b="0" i="0" u="none" strike="noStrike">
                          <a:solidFill>
                            <a:srgbClr val="000000"/>
                          </a:solidFill>
                          <a:effectLst/>
                          <a:latin typeface="Arial" panose="020B0604020202020204" pitchFamily="34" charset="0"/>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pt-BR" sz="1100" b="0" i="0" u="none" strike="noStrike">
                          <a:solidFill>
                            <a:srgbClr val="000000"/>
                          </a:solidFill>
                          <a:effectLst/>
                          <a:latin typeface="Arial" panose="020B0604020202020204" pitchFamily="34" charset="0"/>
                        </a:rPr>
                        <a:t> </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2"/>
                  </a:ext>
                </a:extLst>
              </a:tr>
              <a:tr h="190500">
                <a:tc gridSpan="3">
                  <a:txBody>
                    <a:bodyPr/>
                    <a:lstStyle/>
                    <a:p>
                      <a:pPr algn="ctr" fontAlgn="ctr"/>
                      <a:r>
                        <a:rPr lang="pt-BR" sz="1100" b="1" i="0" u="none" strike="noStrike">
                          <a:solidFill>
                            <a:srgbClr val="000000"/>
                          </a:solidFill>
                          <a:effectLst/>
                          <a:latin typeface="Arial" panose="020B0604020202020204" pitchFamily="34" charset="0"/>
                        </a:rPr>
                        <a:t>Tratamento do ar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23"/>
                  </a:ext>
                </a:extLst>
              </a:tr>
              <a:tr h="0">
                <a:tc>
                  <a:txBody>
                    <a:bodyPr/>
                    <a:lstStyle/>
                    <a:p>
                      <a:pPr algn="l" fontAlgn="ctr"/>
                      <a:r>
                        <a:rPr lang="pt-BR" sz="1100" b="0" i="0" u="none" strike="noStrike">
                          <a:solidFill>
                            <a:srgbClr val="000000"/>
                          </a:solidFill>
                          <a:effectLst/>
                          <a:latin typeface="Arial" panose="020B0604020202020204" pitchFamily="34" charset="0"/>
                        </a:rPr>
                        <a:t>Pacote TAS™ (Total Air System™)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pt-BR" sz="1100" b="0" i="0" u="none" strike="noStrike">
                          <a:solidFill>
                            <a:srgbClr val="000000"/>
                          </a:solidFill>
                          <a:effectLst/>
                          <a:latin typeface="Arial" panose="020B0604020202020204" pitchFamily="34" charset="0"/>
                        </a:rPr>
                        <a:t>Secador por refrigeração, filtros coalescentes, separador de condensado, purgadores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pt-BR"/>
                    </a:p>
                  </a:txBody>
                  <a:tcPr/>
                </a:tc>
                <a:extLst>
                  <a:ext uri="{0D108BD9-81ED-4DB2-BD59-A6C34878D82A}">
                    <a16:rowId xmlns:a16="http://schemas.microsoft.com/office/drawing/2014/main" val="10024"/>
                  </a:ext>
                </a:extLst>
              </a:tr>
              <a:tr h="190500">
                <a:tc gridSpan="3">
                  <a:txBody>
                    <a:bodyPr/>
                    <a:lstStyle/>
                    <a:p>
                      <a:pPr algn="ctr" fontAlgn="ctr"/>
                      <a:r>
                        <a:rPr lang="pt-BR" sz="1100" b="1" i="0" u="none" strike="noStrike">
                          <a:solidFill>
                            <a:srgbClr val="000000"/>
                          </a:solidFill>
                          <a:effectLst/>
                          <a:latin typeface="Arial" panose="020B0604020202020204" pitchFamily="34" charset="0"/>
                        </a:rPr>
                        <a:t>Aplicação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25"/>
                  </a:ext>
                </a:extLst>
              </a:tr>
              <a:tr h="190500">
                <a:tc>
                  <a:txBody>
                    <a:bodyPr/>
                    <a:lstStyle/>
                    <a:p>
                      <a:pPr algn="l" fontAlgn="ctr"/>
                      <a:r>
                        <a:rPr lang="pt-BR" sz="1100" b="0" i="0" u="none" strike="noStrike">
                          <a:solidFill>
                            <a:srgbClr val="000000"/>
                          </a:solidFill>
                          <a:effectLst/>
                          <a:latin typeface="Arial" panose="020B0604020202020204" pitchFamily="34" charset="0"/>
                        </a:rPr>
                        <a:t>Reservatório de ar horizontal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100" b="0" i="0" u="none" strike="noStrike">
                          <a:solidFill>
                            <a:srgbClr val="000000"/>
                          </a:solidFill>
                          <a:effectLst/>
                          <a:latin typeface="Arial" panose="020B0604020202020204" pitchFamily="34" charset="0"/>
                        </a:rPr>
                        <a:t>NA</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pt-BR" sz="1100" b="0" i="0" u="none" strike="noStrike">
                          <a:solidFill>
                            <a:srgbClr val="000000"/>
                          </a:solidFill>
                          <a:effectLst/>
                          <a:latin typeface="Arial" panose="020B0604020202020204" pitchFamily="34" charset="0"/>
                        </a:rPr>
                        <a:t>Litros (L)</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6"/>
                  </a:ext>
                </a:extLst>
              </a:tr>
              <a:tr h="190500">
                <a:tc>
                  <a:txBody>
                    <a:bodyPr/>
                    <a:lstStyle/>
                    <a:p>
                      <a:pPr algn="l" fontAlgn="ctr"/>
                      <a:r>
                        <a:rPr lang="pt-BR" sz="1100" b="0" i="0" u="none" strike="noStrike">
                          <a:solidFill>
                            <a:srgbClr val="000000"/>
                          </a:solidFill>
                          <a:effectLst/>
                          <a:latin typeface="Arial" panose="020B0604020202020204" pitchFamily="34" charset="0"/>
                        </a:rPr>
                        <a:t>Conexão descarga de 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100" b="0" i="0" u="none" strike="noStrike">
                          <a:solidFill>
                            <a:srgbClr val="000000"/>
                          </a:solidFill>
                          <a:effectLst/>
                          <a:latin typeface="Arial" panose="020B0604020202020204" pitchFamily="34" charset="0"/>
                        </a:rPr>
                        <a:t>3</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pt-BR" sz="1100" b="0" i="0" u="none" strike="noStrike">
                          <a:solidFill>
                            <a:srgbClr val="000000"/>
                          </a:solidFill>
                          <a:effectLst/>
                          <a:latin typeface="Arial" panose="020B0604020202020204" pitchFamily="34" charset="0"/>
                        </a:rPr>
                        <a:t>Polegadas (")</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7"/>
                  </a:ext>
                </a:extLst>
              </a:tr>
              <a:tr h="190500">
                <a:tc>
                  <a:txBody>
                    <a:bodyPr/>
                    <a:lstStyle/>
                    <a:p>
                      <a:pPr algn="l" fontAlgn="ctr"/>
                      <a:r>
                        <a:rPr lang="pt-BR" sz="1100" b="0" i="0" u="none" strike="noStrike">
                          <a:solidFill>
                            <a:srgbClr val="000000"/>
                          </a:solidFill>
                          <a:effectLst/>
                          <a:latin typeface="Arial" panose="020B0604020202020204" pitchFamily="34" charset="0"/>
                        </a:rPr>
                        <a:t>Comprimento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1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pt-BR" sz="1100" b="0" i="0" u="none" strike="noStrike">
                          <a:solidFill>
                            <a:srgbClr val="000000"/>
                          </a:solidFill>
                          <a:effectLst/>
                          <a:latin typeface="Arial" panose="020B0604020202020204" pitchFamily="34" charset="0"/>
                        </a:rPr>
                        <a:t>Milímitros (mm)</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8"/>
                  </a:ext>
                </a:extLst>
              </a:tr>
              <a:tr h="190500">
                <a:tc>
                  <a:txBody>
                    <a:bodyPr/>
                    <a:lstStyle/>
                    <a:p>
                      <a:pPr algn="l" fontAlgn="ctr"/>
                      <a:r>
                        <a:rPr lang="pt-BR" sz="1100" b="0" i="0" u="none" strike="noStrike">
                          <a:solidFill>
                            <a:srgbClr val="000000"/>
                          </a:solidFill>
                          <a:effectLst/>
                          <a:latin typeface="Arial" panose="020B0604020202020204" pitchFamily="34" charset="0"/>
                        </a:rPr>
                        <a:t>Largura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1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pt-BR" sz="1100" b="0" i="0" u="none" strike="noStrike">
                          <a:solidFill>
                            <a:srgbClr val="000000"/>
                          </a:solidFill>
                          <a:effectLst/>
                          <a:latin typeface="Arial" panose="020B0604020202020204" pitchFamily="34" charset="0"/>
                        </a:rPr>
                        <a:t>Milímitros (mm)</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9"/>
                  </a:ext>
                </a:extLst>
              </a:tr>
              <a:tr h="190500">
                <a:tc>
                  <a:txBody>
                    <a:bodyPr/>
                    <a:lstStyle/>
                    <a:p>
                      <a:pPr algn="l" fontAlgn="ctr"/>
                      <a:r>
                        <a:rPr lang="pt-BR" sz="1100" b="0" i="0" u="none" strike="noStrike">
                          <a:solidFill>
                            <a:srgbClr val="000000"/>
                          </a:solidFill>
                          <a:effectLst/>
                          <a:latin typeface="Arial" panose="020B0604020202020204" pitchFamily="34" charset="0"/>
                        </a:rPr>
                        <a:t>Altura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1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pt-BR" sz="1100" b="0" i="0" u="none" strike="noStrike">
                          <a:solidFill>
                            <a:srgbClr val="000000"/>
                          </a:solidFill>
                          <a:effectLst/>
                          <a:latin typeface="Arial" panose="020B0604020202020204" pitchFamily="34" charset="0"/>
                        </a:rPr>
                        <a:t>Milímitros (mm)</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0"/>
                  </a:ext>
                </a:extLst>
              </a:tr>
              <a:tr h="190500">
                <a:tc>
                  <a:txBody>
                    <a:bodyPr/>
                    <a:lstStyle/>
                    <a:p>
                      <a:pPr algn="l" fontAlgn="ctr"/>
                      <a:r>
                        <a:rPr lang="pt-BR" sz="1100" b="0" i="0" u="none" strike="noStrike">
                          <a:solidFill>
                            <a:srgbClr val="000000"/>
                          </a:solidFill>
                          <a:effectLst/>
                          <a:latin typeface="Arial" panose="020B0604020202020204" pitchFamily="34" charset="0"/>
                        </a:rPr>
                        <a:t>Peso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1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pt-BR" sz="1100" b="0" i="0" u="none" strike="noStrike" dirty="0">
                          <a:solidFill>
                            <a:srgbClr val="000000"/>
                          </a:solidFill>
                          <a:effectLst/>
                          <a:latin typeface="Arial" panose="020B0604020202020204" pitchFamily="34" charset="0"/>
                        </a:rPr>
                        <a:t>Quilos (Kg)</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1"/>
                  </a:ext>
                </a:extLst>
              </a:tr>
            </a:tbl>
          </a:graphicData>
        </a:graphic>
      </p:graphicFrame>
      <p:pic>
        <p:nvPicPr>
          <p:cNvPr id="26" name="Imagem 25">
            <a:extLst>
              <a:ext uri="{FF2B5EF4-FFF2-40B4-BE49-F238E27FC236}">
                <a16:creationId xmlns:a16="http://schemas.microsoft.com/office/drawing/2014/main" id="{7FE4DA9D-506A-F7CD-ED3C-01E9DAE9AC13}"/>
              </a:ext>
            </a:extLst>
          </p:cNvPr>
          <p:cNvPicPr>
            <a:picLocks noChangeAspect="1"/>
          </p:cNvPicPr>
          <p:nvPr/>
        </p:nvPicPr>
        <p:blipFill>
          <a:blip r:embed="rId5"/>
          <a:stretch>
            <a:fillRect/>
          </a:stretch>
        </p:blipFill>
        <p:spPr>
          <a:xfrm>
            <a:off x="446646" y="9986441"/>
            <a:ext cx="2152650" cy="447675"/>
          </a:xfrm>
          <a:prstGeom prst="rect">
            <a:avLst/>
          </a:prstGeom>
        </p:spPr>
      </p:pic>
    </p:spTree>
    <p:extLst>
      <p:ext uri="{BB962C8B-B14F-4D97-AF65-F5344CB8AC3E}">
        <p14:creationId xmlns:p14="http://schemas.microsoft.com/office/powerpoint/2010/main" val="1625544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A1383-0717-AE2B-69EB-3AD20310CD3E}"/>
            </a:ext>
          </a:extLst>
        </p:cNvPr>
        <p:cNvGrpSpPr/>
        <p:nvPr/>
      </p:nvGrpSpPr>
      <p:grpSpPr>
        <a:xfrm>
          <a:off x="0" y="0"/>
          <a:ext cx="0" cy="0"/>
          <a:chOff x="0" y="0"/>
          <a:chExt cx="0" cy="0"/>
        </a:xfrm>
      </p:grpSpPr>
      <p:grpSp>
        <p:nvGrpSpPr>
          <p:cNvPr id="13" name="Group 13">
            <a:extLst>
              <a:ext uri="{FF2B5EF4-FFF2-40B4-BE49-F238E27FC236}">
                <a16:creationId xmlns:a16="http://schemas.microsoft.com/office/drawing/2014/main" id="{27E07C98-A6A6-5655-8CF9-29846F34889E}"/>
              </a:ext>
            </a:extLst>
          </p:cNvPr>
          <p:cNvGrpSpPr/>
          <p:nvPr/>
        </p:nvGrpSpPr>
        <p:grpSpPr>
          <a:xfrm>
            <a:off x="349250" y="1449293"/>
            <a:ext cx="374337" cy="187168"/>
            <a:chOff x="0" y="0"/>
            <a:chExt cx="812800" cy="406400"/>
          </a:xfrm>
        </p:grpSpPr>
        <p:sp>
          <p:nvSpPr>
            <p:cNvPr id="14" name="Freeform 14">
              <a:extLst>
                <a:ext uri="{FF2B5EF4-FFF2-40B4-BE49-F238E27FC236}">
                  <a16:creationId xmlns:a16="http://schemas.microsoft.com/office/drawing/2014/main" id="{FEB64006-F1A3-5D21-ACD2-D855CF43A7F2}"/>
                </a:ext>
              </a:extLst>
            </p:cNvPr>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727275"/>
            </a:solidFill>
          </p:spPr>
        </p:sp>
        <p:sp>
          <p:nvSpPr>
            <p:cNvPr id="15" name="TextBox 15">
              <a:extLst>
                <a:ext uri="{FF2B5EF4-FFF2-40B4-BE49-F238E27FC236}">
                  <a16:creationId xmlns:a16="http://schemas.microsoft.com/office/drawing/2014/main" id="{8389D4B9-AD58-579C-673B-1094BA6EBF0A}"/>
                </a:ext>
              </a:extLst>
            </p:cNvPr>
            <p:cNvSpPr txBox="1"/>
            <p:nvPr/>
          </p:nvSpPr>
          <p:spPr>
            <a:xfrm>
              <a:off x="0" y="-28575"/>
              <a:ext cx="698500" cy="434975"/>
            </a:xfrm>
            <a:prstGeom prst="rect">
              <a:avLst/>
            </a:prstGeom>
          </p:spPr>
          <p:txBody>
            <a:bodyPr lIns="50800" tIns="50800" rIns="50800" bIns="50800" rtlCol="0" anchor="ctr"/>
            <a:lstStyle/>
            <a:p>
              <a:pPr algn="ctr">
                <a:lnSpc>
                  <a:spcPts val="1963"/>
                </a:lnSpc>
              </a:pPr>
              <a:endParaRPr/>
            </a:p>
          </p:txBody>
        </p:sp>
      </p:grpSp>
      <p:sp>
        <p:nvSpPr>
          <p:cNvPr id="18" name="TextBox 18">
            <a:extLst>
              <a:ext uri="{FF2B5EF4-FFF2-40B4-BE49-F238E27FC236}">
                <a16:creationId xmlns:a16="http://schemas.microsoft.com/office/drawing/2014/main" id="{8F70FB20-F8D4-518C-6515-3330886DBDB1}"/>
              </a:ext>
            </a:extLst>
          </p:cNvPr>
          <p:cNvSpPr txBox="1"/>
          <p:nvPr/>
        </p:nvSpPr>
        <p:spPr>
          <a:xfrm>
            <a:off x="882650" y="1349926"/>
            <a:ext cx="4608974" cy="372742"/>
          </a:xfrm>
          <a:prstGeom prst="rect">
            <a:avLst/>
          </a:prstGeom>
        </p:spPr>
        <p:txBody>
          <a:bodyPr lIns="0" tIns="0" rIns="0" bIns="0" rtlCol="0" anchor="t">
            <a:spAutoFit/>
          </a:bodyPr>
          <a:lstStyle/>
          <a:p>
            <a:pPr>
              <a:lnSpc>
                <a:spcPts val="3080"/>
              </a:lnSpc>
            </a:pPr>
            <a:r>
              <a:rPr lang="en-US" sz="2200" b="1">
                <a:solidFill>
                  <a:srgbClr val="6F6F6F"/>
                </a:solidFill>
                <a:latin typeface="Montserrat" panose="00000500000000000000" pitchFamily="2" charset="0"/>
                <a:ea typeface="Montserrat Bold"/>
                <a:cs typeface="Montserrat Bold"/>
                <a:sym typeface="Montserrat Bold"/>
              </a:rPr>
              <a:t>DIFERENCIAIS DO PRODUTO</a:t>
            </a:r>
          </a:p>
        </p:txBody>
      </p:sp>
      <p:pic>
        <p:nvPicPr>
          <p:cNvPr id="24" name="Imagem 23">
            <a:extLst>
              <a:ext uri="{FF2B5EF4-FFF2-40B4-BE49-F238E27FC236}">
                <a16:creationId xmlns:a16="http://schemas.microsoft.com/office/drawing/2014/main" id="{C44135A4-0D60-7E91-21EF-241DB82CB49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5900" y="168959"/>
            <a:ext cx="7737150" cy="859247"/>
          </a:xfrm>
          <a:prstGeom prst="rect">
            <a:avLst/>
          </a:prstGeom>
        </p:spPr>
      </p:pic>
      <p:grpSp>
        <p:nvGrpSpPr>
          <p:cNvPr id="25" name="Group 8">
            <a:extLst>
              <a:ext uri="{FF2B5EF4-FFF2-40B4-BE49-F238E27FC236}">
                <a16:creationId xmlns:a16="http://schemas.microsoft.com/office/drawing/2014/main" id="{43DD3B49-33EE-4CB8-4EAF-0D17D9143126}"/>
              </a:ext>
            </a:extLst>
          </p:cNvPr>
          <p:cNvGrpSpPr/>
          <p:nvPr/>
        </p:nvGrpSpPr>
        <p:grpSpPr>
          <a:xfrm>
            <a:off x="-3500" y="10528423"/>
            <a:ext cx="7556500" cy="231978"/>
            <a:chOff x="0" y="0"/>
            <a:chExt cx="3047987" cy="131886"/>
          </a:xfrm>
        </p:grpSpPr>
        <p:sp>
          <p:nvSpPr>
            <p:cNvPr id="26" name="Freeform 9">
              <a:extLst>
                <a:ext uri="{FF2B5EF4-FFF2-40B4-BE49-F238E27FC236}">
                  <a16:creationId xmlns:a16="http://schemas.microsoft.com/office/drawing/2014/main" id="{C9276BC3-3962-ADD3-5568-3FB5BDCE4B65}"/>
                </a:ext>
              </a:extLst>
            </p:cNvPr>
            <p:cNvSpPr/>
            <p:nvPr/>
          </p:nvSpPr>
          <p:spPr>
            <a:xfrm>
              <a:off x="0" y="0"/>
              <a:ext cx="3047987" cy="131886"/>
            </a:xfrm>
            <a:custGeom>
              <a:avLst/>
              <a:gdLst/>
              <a:ahLst/>
              <a:cxnLst/>
              <a:rect l="l" t="t" r="r" b="b"/>
              <a:pathLst>
                <a:path w="3047987" h="131886">
                  <a:moveTo>
                    <a:pt x="0" y="0"/>
                  </a:moveTo>
                  <a:lnTo>
                    <a:pt x="3047987" y="0"/>
                  </a:lnTo>
                  <a:lnTo>
                    <a:pt x="3047987" y="131886"/>
                  </a:lnTo>
                  <a:lnTo>
                    <a:pt x="0" y="131886"/>
                  </a:lnTo>
                  <a:close/>
                </a:path>
              </a:pathLst>
            </a:custGeom>
            <a:solidFill>
              <a:srgbClr val="8B8A88"/>
            </a:solidFill>
          </p:spPr>
        </p:sp>
        <p:sp>
          <p:nvSpPr>
            <p:cNvPr id="27" name="TextBox 10">
              <a:extLst>
                <a:ext uri="{FF2B5EF4-FFF2-40B4-BE49-F238E27FC236}">
                  <a16:creationId xmlns:a16="http://schemas.microsoft.com/office/drawing/2014/main" id="{2F4594CF-4F1F-1B0E-A681-6A8DB8C4B7AA}"/>
                </a:ext>
              </a:extLst>
            </p:cNvPr>
            <p:cNvSpPr txBox="1"/>
            <p:nvPr/>
          </p:nvSpPr>
          <p:spPr>
            <a:xfrm>
              <a:off x="0" y="-38100"/>
              <a:ext cx="3047987" cy="169986"/>
            </a:xfrm>
            <a:prstGeom prst="rect">
              <a:avLst/>
            </a:prstGeom>
          </p:spPr>
          <p:txBody>
            <a:bodyPr lIns="45156" tIns="45156" rIns="45156" bIns="45156" rtlCol="0" anchor="ctr"/>
            <a:lstStyle/>
            <a:p>
              <a:pPr algn="ctr">
                <a:lnSpc>
                  <a:spcPts val="2140"/>
                </a:lnSpc>
              </a:pPr>
              <a:endParaRPr/>
            </a:p>
          </p:txBody>
        </p:sp>
      </p:grpSp>
      <p:sp>
        <p:nvSpPr>
          <p:cNvPr id="2" name="Retângulo 1">
            <a:extLst>
              <a:ext uri="{FF2B5EF4-FFF2-40B4-BE49-F238E27FC236}">
                <a16:creationId xmlns:a16="http://schemas.microsoft.com/office/drawing/2014/main" id="{CBC63413-3D9B-2044-7D71-F0870264FFA4}"/>
              </a:ext>
            </a:extLst>
          </p:cNvPr>
          <p:cNvSpPr/>
          <p:nvPr/>
        </p:nvSpPr>
        <p:spPr>
          <a:xfrm>
            <a:off x="347980" y="2175821"/>
            <a:ext cx="6630670" cy="1571158"/>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3" name="Picture 2">
            <a:extLst>
              <a:ext uri="{FF2B5EF4-FFF2-40B4-BE49-F238E27FC236}">
                <a16:creationId xmlns:a16="http://schemas.microsoft.com/office/drawing/2014/main" id="{5A8FF4F3-1D5C-7055-B708-BCD2E4E48763}"/>
              </a:ext>
            </a:extLst>
          </p:cNvPr>
          <p:cNvPicPr/>
          <p:nvPr/>
        </p:nvPicPr>
        <p:blipFill>
          <a:blip r:embed="rId3" cstate="print"/>
          <a:srcRect/>
          <a:stretch>
            <a:fillRect/>
          </a:stretch>
        </p:blipFill>
        <p:spPr bwMode="auto">
          <a:xfrm>
            <a:off x="4963479" y="2679659"/>
            <a:ext cx="1785861" cy="1004547"/>
          </a:xfrm>
          <a:prstGeom prst="rect">
            <a:avLst/>
          </a:prstGeom>
          <a:ln>
            <a:noFill/>
          </a:ln>
          <a:effectLst>
            <a:outerShdw blurRad="190500" algn="tl" rotWithShape="0">
              <a:srgbClr val="000000">
                <a:alpha val="70000"/>
              </a:srgbClr>
            </a:outerShdw>
          </a:effectLst>
        </p:spPr>
      </p:pic>
      <p:sp>
        <p:nvSpPr>
          <p:cNvPr id="5" name="CaixaDeTexto 4">
            <a:extLst>
              <a:ext uri="{FF2B5EF4-FFF2-40B4-BE49-F238E27FC236}">
                <a16:creationId xmlns:a16="http://schemas.microsoft.com/office/drawing/2014/main" id="{02DBE76F-E7F1-6D39-CCC4-7F21F36CEDE1}"/>
              </a:ext>
            </a:extLst>
          </p:cNvPr>
          <p:cNvSpPr txBox="1"/>
          <p:nvPr/>
        </p:nvSpPr>
        <p:spPr>
          <a:xfrm>
            <a:off x="412288" y="2183498"/>
            <a:ext cx="5553710" cy="434863"/>
          </a:xfrm>
          <a:prstGeom prst="rect">
            <a:avLst/>
          </a:prstGeom>
          <a:noFill/>
        </p:spPr>
        <p:txBody>
          <a:bodyPr wrap="square">
            <a:spAutoFit/>
          </a:bodyPr>
          <a:lstStyle/>
          <a:p>
            <a:pPr>
              <a:lnSpc>
                <a:spcPts val="3080"/>
              </a:lnSpc>
            </a:pPr>
            <a:r>
              <a:rPr lang="pt-BR" sz="1400" b="1">
                <a:solidFill>
                  <a:srgbClr val="6F6F6F"/>
                </a:solidFill>
                <a:latin typeface="Montserrat" panose="00000500000000000000" pitchFamily="2" charset="0"/>
              </a:rPr>
              <a:t>Sistema de Proteção PAC (Progressive Adaptive Control)</a:t>
            </a:r>
            <a:endParaRPr lang="pt-BR" sz="1400" b="1" dirty="0">
              <a:solidFill>
                <a:srgbClr val="6F6F6F"/>
              </a:solidFill>
              <a:latin typeface="Montserrat" panose="00000500000000000000" pitchFamily="2" charset="0"/>
            </a:endParaRPr>
          </a:p>
        </p:txBody>
      </p:sp>
      <p:pic>
        <p:nvPicPr>
          <p:cNvPr id="6" name="Imagem 5">
            <a:extLst>
              <a:ext uri="{FF2B5EF4-FFF2-40B4-BE49-F238E27FC236}">
                <a16:creationId xmlns:a16="http://schemas.microsoft.com/office/drawing/2014/main" id="{401562BC-06C5-C387-21BA-D2702A8F766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9211" y="2876697"/>
            <a:ext cx="561600" cy="561600"/>
          </a:xfrm>
          <a:prstGeom prst="rect">
            <a:avLst/>
          </a:prstGeom>
        </p:spPr>
      </p:pic>
      <p:sp>
        <p:nvSpPr>
          <p:cNvPr id="16" name="CaixaDeTexto 15">
            <a:extLst>
              <a:ext uri="{FF2B5EF4-FFF2-40B4-BE49-F238E27FC236}">
                <a16:creationId xmlns:a16="http://schemas.microsoft.com/office/drawing/2014/main" id="{30700B4A-6B3D-25AB-5548-44344152727D}"/>
              </a:ext>
            </a:extLst>
          </p:cNvPr>
          <p:cNvSpPr txBox="1"/>
          <p:nvPr/>
        </p:nvSpPr>
        <p:spPr>
          <a:xfrm>
            <a:off x="1002352" y="2858768"/>
            <a:ext cx="6630670" cy="646331"/>
          </a:xfrm>
          <a:prstGeom prst="rect">
            <a:avLst/>
          </a:prstGeom>
          <a:noFill/>
        </p:spPr>
        <p:txBody>
          <a:bodyPr wrap="square">
            <a:spAutoFit/>
          </a:bodyPr>
          <a:lstStyle/>
          <a:p>
            <a:r>
              <a:rPr lang="pt-BR" sz="1200">
                <a:latin typeface="Montserrat" panose="00000500000000000000" pitchFamily="2" charset="0"/>
                <a:cs typeface="Arial" panose="020B0604020202020204" pitchFamily="34" charset="0"/>
              </a:rPr>
              <a:t>Confira o Sistema PAC</a:t>
            </a:r>
          </a:p>
          <a:p>
            <a:pPr lvl="0"/>
            <a:r>
              <a:rPr lang="pt-BR" sz="1200">
                <a:latin typeface="Montserrat" panose="00000500000000000000" pitchFamily="2" charset="0"/>
                <a:cs typeface="Arial" panose="020B0604020202020204" pitchFamily="34" charset="0"/>
              </a:rPr>
              <a:t>Clique </a:t>
            </a:r>
            <a:r>
              <a:rPr lang="pt-BR" sz="1200">
                <a:latin typeface="Montserrat" panose="00000500000000000000" pitchFamily="2" charset="0"/>
                <a:cs typeface="Arial" panose="020B0604020202020204" pitchFamily="34" charset="0"/>
                <a:hlinkClick r:id="rId5"/>
              </a:rPr>
              <a:t>aqui</a:t>
            </a:r>
            <a:r>
              <a:rPr lang="pt-BR" sz="1200">
                <a:latin typeface="Montserrat" panose="00000500000000000000" pitchFamily="2" charset="0"/>
                <a:cs typeface="Arial" panose="020B0604020202020204" pitchFamily="34" charset="0"/>
              </a:rPr>
              <a:t> ou aproxime a câmera do</a:t>
            </a:r>
          </a:p>
          <a:p>
            <a:pPr lvl="0"/>
            <a:r>
              <a:rPr lang="pt-BR" sz="1200">
                <a:latin typeface="Montserrat" panose="00000500000000000000" pitchFamily="2" charset="0"/>
                <a:cs typeface="Arial" panose="020B0604020202020204" pitchFamily="34" charset="0"/>
              </a:rPr>
              <a:t>seu celular no QR Code</a:t>
            </a:r>
            <a:endParaRPr lang="pt-BR" sz="1200" dirty="0">
              <a:latin typeface="Montserrat" panose="00000500000000000000" pitchFamily="2" charset="0"/>
              <a:cs typeface="Arial" panose="020B0604020202020204" pitchFamily="34" charset="0"/>
            </a:endParaRPr>
          </a:p>
        </p:txBody>
      </p:sp>
      <p:pic>
        <p:nvPicPr>
          <p:cNvPr id="17" name="Imagem 16">
            <a:extLst>
              <a:ext uri="{FF2B5EF4-FFF2-40B4-BE49-F238E27FC236}">
                <a16:creationId xmlns:a16="http://schemas.microsoft.com/office/drawing/2014/main" id="{505D1F8B-0C43-44DE-67FF-F90FC33D815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77522" y="2550103"/>
            <a:ext cx="3599695" cy="359665"/>
          </a:xfrm>
          <a:prstGeom prst="rect">
            <a:avLst/>
          </a:prstGeom>
        </p:spPr>
      </p:pic>
      <p:sp>
        <p:nvSpPr>
          <p:cNvPr id="21" name="Retângulo 20">
            <a:extLst>
              <a:ext uri="{FF2B5EF4-FFF2-40B4-BE49-F238E27FC236}">
                <a16:creationId xmlns:a16="http://schemas.microsoft.com/office/drawing/2014/main" id="{28241852-B9F9-FAA4-26C2-CFB82E9ED402}"/>
              </a:ext>
            </a:extLst>
          </p:cNvPr>
          <p:cNvSpPr/>
          <p:nvPr/>
        </p:nvSpPr>
        <p:spPr>
          <a:xfrm>
            <a:off x="347980" y="4089758"/>
            <a:ext cx="6630670" cy="1571158"/>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30" name="Picture 4">
            <a:extLst>
              <a:ext uri="{FF2B5EF4-FFF2-40B4-BE49-F238E27FC236}">
                <a16:creationId xmlns:a16="http://schemas.microsoft.com/office/drawing/2014/main" id="{5EA83EC3-A7D9-0FAE-C124-D86759B7DC70}"/>
              </a:ext>
            </a:extLst>
          </p:cNvPr>
          <p:cNvPicPr/>
          <p:nvPr/>
        </p:nvPicPr>
        <p:blipFill>
          <a:blip r:embed="rId7" cstate="print"/>
          <a:srcRect/>
          <a:stretch>
            <a:fillRect/>
          </a:stretch>
        </p:blipFill>
        <p:spPr bwMode="auto">
          <a:xfrm>
            <a:off x="588490" y="4431575"/>
            <a:ext cx="1539572" cy="1006643"/>
          </a:xfrm>
          <a:prstGeom prst="rect">
            <a:avLst/>
          </a:prstGeom>
          <a:ln>
            <a:noFill/>
          </a:ln>
          <a:effectLst>
            <a:outerShdw blurRad="190500" algn="tl" rotWithShape="0">
              <a:srgbClr val="000000">
                <a:alpha val="70000"/>
              </a:srgbClr>
            </a:outerShdw>
          </a:effectLst>
        </p:spPr>
      </p:pic>
      <p:sp>
        <p:nvSpPr>
          <p:cNvPr id="38" name="CaixaDeTexto 37">
            <a:extLst>
              <a:ext uri="{FF2B5EF4-FFF2-40B4-BE49-F238E27FC236}">
                <a16:creationId xmlns:a16="http://schemas.microsoft.com/office/drawing/2014/main" id="{73CD91C4-F32A-6952-1848-30632B6DF17C}"/>
              </a:ext>
            </a:extLst>
          </p:cNvPr>
          <p:cNvSpPr txBox="1"/>
          <p:nvPr/>
        </p:nvSpPr>
        <p:spPr>
          <a:xfrm>
            <a:off x="2428007" y="4089758"/>
            <a:ext cx="5780080" cy="434863"/>
          </a:xfrm>
          <a:prstGeom prst="rect">
            <a:avLst/>
          </a:prstGeom>
          <a:noFill/>
        </p:spPr>
        <p:txBody>
          <a:bodyPr wrap="square">
            <a:spAutoFit/>
          </a:bodyPr>
          <a:lstStyle/>
          <a:p>
            <a:pPr>
              <a:lnSpc>
                <a:spcPts val="3080"/>
              </a:lnSpc>
            </a:pPr>
            <a:r>
              <a:rPr lang="pt-BR" sz="1200" b="1">
                <a:solidFill>
                  <a:srgbClr val="6F6F6F"/>
                </a:solidFill>
                <a:latin typeface="Montserrat" panose="00000500000000000000" pitchFamily="2" charset="0"/>
              </a:rPr>
              <a:t>Tecnologia V-Shield - Compressor livre de vazamentos</a:t>
            </a:r>
            <a:endParaRPr lang="pt-BR" sz="1200" b="1" dirty="0">
              <a:solidFill>
                <a:srgbClr val="6F6F6F"/>
              </a:solidFill>
              <a:latin typeface="Montserrat" panose="00000500000000000000" pitchFamily="2" charset="0"/>
            </a:endParaRPr>
          </a:p>
        </p:txBody>
      </p:sp>
      <p:pic>
        <p:nvPicPr>
          <p:cNvPr id="39" name="Imagem 38">
            <a:extLst>
              <a:ext uri="{FF2B5EF4-FFF2-40B4-BE49-F238E27FC236}">
                <a16:creationId xmlns:a16="http://schemas.microsoft.com/office/drawing/2014/main" id="{8C55099C-55F9-9A3E-1593-CD7F0B5EEF9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3282028" y="4327525"/>
            <a:ext cx="3599695" cy="359665"/>
          </a:xfrm>
          <a:prstGeom prst="rect">
            <a:avLst/>
          </a:prstGeom>
        </p:spPr>
      </p:pic>
      <p:pic>
        <p:nvPicPr>
          <p:cNvPr id="40" name="Imagem 39">
            <a:extLst>
              <a:ext uri="{FF2B5EF4-FFF2-40B4-BE49-F238E27FC236}">
                <a16:creationId xmlns:a16="http://schemas.microsoft.com/office/drawing/2014/main" id="{1AC679FC-97BA-C1D3-911D-AC6A6C1C0F3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146027" y="4821194"/>
            <a:ext cx="648593" cy="648593"/>
          </a:xfrm>
          <a:prstGeom prst="rect">
            <a:avLst/>
          </a:prstGeom>
        </p:spPr>
      </p:pic>
      <p:sp>
        <p:nvSpPr>
          <p:cNvPr id="42" name="CaixaDeTexto 41">
            <a:extLst>
              <a:ext uri="{FF2B5EF4-FFF2-40B4-BE49-F238E27FC236}">
                <a16:creationId xmlns:a16="http://schemas.microsoft.com/office/drawing/2014/main" id="{82784F63-9568-5CB7-B918-846343AFFA69}"/>
              </a:ext>
            </a:extLst>
          </p:cNvPr>
          <p:cNvSpPr txBox="1"/>
          <p:nvPr/>
        </p:nvSpPr>
        <p:spPr>
          <a:xfrm>
            <a:off x="1946137" y="4775316"/>
            <a:ext cx="4213860" cy="646331"/>
          </a:xfrm>
          <a:prstGeom prst="rect">
            <a:avLst/>
          </a:prstGeom>
          <a:noFill/>
        </p:spPr>
        <p:txBody>
          <a:bodyPr wrap="square">
            <a:spAutoFit/>
          </a:bodyPr>
          <a:lstStyle/>
          <a:p>
            <a:pPr algn="r"/>
            <a:r>
              <a:rPr lang="pt-BR" sz="1200">
                <a:latin typeface="Montserrat" panose="00000500000000000000" pitchFamily="2" charset="0"/>
                <a:cs typeface="Arial" panose="020B0604020202020204" pitchFamily="34" charset="0"/>
              </a:rPr>
              <a:t>Confira a Tecnologia V-Shield</a:t>
            </a:r>
          </a:p>
          <a:p>
            <a:pPr lvl="0" algn="r"/>
            <a:r>
              <a:rPr lang="pt-BR" sz="1200">
                <a:latin typeface="Montserrat" panose="00000500000000000000" pitchFamily="2" charset="0"/>
                <a:cs typeface="Arial" panose="020B0604020202020204" pitchFamily="34" charset="0"/>
              </a:rPr>
              <a:t>Clique </a:t>
            </a:r>
            <a:r>
              <a:rPr lang="pt-BR" sz="1200">
                <a:latin typeface="Montserrat" panose="00000500000000000000" pitchFamily="2" charset="0"/>
                <a:cs typeface="Arial" panose="020B0604020202020204" pitchFamily="34" charset="0"/>
                <a:hlinkClick r:id="rId9"/>
              </a:rPr>
              <a:t>aqui</a:t>
            </a:r>
            <a:r>
              <a:rPr lang="pt-BR" sz="1200">
                <a:latin typeface="Montserrat" panose="00000500000000000000" pitchFamily="2" charset="0"/>
                <a:cs typeface="Arial" panose="020B0604020202020204" pitchFamily="34" charset="0"/>
              </a:rPr>
              <a:t> ou aproxime a câmera do</a:t>
            </a:r>
          </a:p>
          <a:p>
            <a:pPr lvl="0" algn="r"/>
            <a:r>
              <a:rPr lang="pt-BR" sz="1200">
                <a:latin typeface="Montserrat" panose="00000500000000000000" pitchFamily="2" charset="0"/>
                <a:cs typeface="Arial" panose="020B0604020202020204" pitchFamily="34" charset="0"/>
              </a:rPr>
              <a:t>seu celular no QR Code</a:t>
            </a:r>
            <a:endParaRPr lang="pt-BR" sz="1200" dirty="0">
              <a:latin typeface="Montserrat" panose="00000500000000000000" pitchFamily="2" charset="0"/>
              <a:cs typeface="Arial" panose="020B0604020202020204" pitchFamily="34" charset="0"/>
            </a:endParaRPr>
          </a:p>
        </p:txBody>
      </p:sp>
      <p:sp>
        <p:nvSpPr>
          <p:cNvPr id="44" name="Retângulo 43">
            <a:extLst>
              <a:ext uri="{FF2B5EF4-FFF2-40B4-BE49-F238E27FC236}">
                <a16:creationId xmlns:a16="http://schemas.microsoft.com/office/drawing/2014/main" id="{880AD3B6-B444-558B-C30F-93D78CECE0C9}"/>
              </a:ext>
            </a:extLst>
          </p:cNvPr>
          <p:cNvSpPr/>
          <p:nvPr/>
        </p:nvSpPr>
        <p:spPr>
          <a:xfrm>
            <a:off x="347980" y="5976613"/>
            <a:ext cx="6630670" cy="1571158"/>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45" name="Group 32">
            <a:extLst>
              <a:ext uri="{FF2B5EF4-FFF2-40B4-BE49-F238E27FC236}">
                <a16:creationId xmlns:a16="http://schemas.microsoft.com/office/drawing/2014/main" id="{8C498E22-4C40-2D1C-E03C-8D8975F7A6D2}"/>
              </a:ext>
            </a:extLst>
          </p:cNvPr>
          <p:cNvGrpSpPr>
            <a:grpSpLocks/>
          </p:cNvGrpSpPr>
          <p:nvPr/>
        </p:nvGrpSpPr>
        <p:grpSpPr bwMode="auto">
          <a:xfrm>
            <a:off x="4207447" y="6291302"/>
            <a:ext cx="2568354" cy="1007998"/>
            <a:chOff x="0" y="2888"/>
            <a:chExt cx="47679" cy="18448"/>
          </a:xfrm>
        </p:grpSpPr>
        <p:pic>
          <p:nvPicPr>
            <p:cNvPr id="46" name="Picture 4" descr="cooler_clean3">
              <a:extLst>
                <a:ext uri="{FF2B5EF4-FFF2-40B4-BE49-F238E27FC236}">
                  <a16:creationId xmlns:a16="http://schemas.microsoft.com/office/drawing/2014/main" id="{51B8ECD3-05B9-BBDB-4FEF-0783386B3392}"/>
                </a:ext>
              </a:extLst>
            </p:cNvPr>
            <p:cNvPicPr>
              <a:picLocks noChangeAspect="1" noChangeArrowheads="1"/>
            </p:cNvPicPr>
            <p:nvPr/>
          </p:nvPicPr>
          <p:blipFill>
            <a:blip r:embed="rId10"/>
            <a:srcRect/>
            <a:stretch>
              <a:fillRect/>
            </a:stretch>
          </p:blipFill>
          <p:spPr bwMode="auto">
            <a:xfrm>
              <a:off x="0" y="4572"/>
              <a:ext cx="14478" cy="16307"/>
            </a:xfrm>
            <a:prstGeom prst="rect">
              <a:avLst/>
            </a:prstGeom>
            <a:ln>
              <a:noFill/>
            </a:ln>
            <a:effectLst>
              <a:outerShdw blurRad="190500" algn="tl" rotWithShape="0">
                <a:srgbClr val="000000">
                  <a:alpha val="70000"/>
                </a:srgbClr>
              </a:outerShdw>
            </a:effectLst>
          </p:spPr>
        </p:pic>
        <p:pic>
          <p:nvPicPr>
            <p:cNvPr id="47" name="Picture 5" descr="AC-TEFC">
              <a:extLst>
                <a:ext uri="{FF2B5EF4-FFF2-40B4-BE49-F238E27FC236}">
                  <a16:creationId xmlns:a16="http://schemas.microsoft.com/office/drawing/2014/main" id="{9D443811-136D-0298-4216-5A9A879DBD17}"/>
                </a:ext>
              </a:extLst>
            </p:cNvPr>
            <p:cNvPicPr>
              <a:picLocks noChangeAspect="1" noChangeArrowheads="1"/>
            </p:cNvPicPr>
            <p:nvPr/>
          </p:nvPicPr>
          <p:blipFill>
            <a:blip r:embed="rId11"/>
            <a:srcRect t="7510" b="6107"/>
            <a:stretch>
              <a:fillRect/>
            </a:stretch>
          </p:blipFill>
          <p:spPr bwMode="auto">
            <a:xfrm>
              <a:off x="28678" y="3810"/>
              <a:ext cx="19001" cy="17526"/>
            </a:xfrm>
            <a:prstGeom prst="rect">
              <a:avLst/>
            </a:prstGeom>
            <a:ln>
              <a:noFill/>
            </a:ln>
            <a:effectLst>
              <a:outerShdw blurRad="190500" algn="tl" rotWithShape="0">
                <a:srgbClr val="000000">
                  <a:alpha val="70000"/>
                </a:srgbClr>
              </a:outerShdw>
            </a:effectLst>
          </p:spPr>
        </p:pic>
        <p:sp>
          <p:nvSpPr>
            <p:cNvPr id="48" name="Oval 3">
              <a:extLst>
                <a:ext uri="{FF2B5EF4-FFF2-40B4-BE49-F238E27FC236}">
                  <a16:creationId xmlns:a16="http://schemas.microsoft.com/office/drawing/2014/main" id="{3F8F7B5D-885A-23C9-6016-EA701AD7B595}"/>
                </a:ext>
              </a:extLst>
            </p:cNvPr>
            <p:cNvSpPr>
              <a:spLocks noChangeArrowheads="1"/>
            </p:cNvSpPr>
            <p:nvPr/>
          </p:nvSpPr>
          <p:spPr bwMode="auto">
            <a:xfrm>
              <a:off x="39248" y="4637"/>
              <a:ext cx="4948" cy="10122"/>
            </a:xfrm>
            <a:prstGeom prst="ellipse">
              <a:avLst/>
            </a:prstGeom>
            <a:noFill/>
            <a:ln w="25400">
              <a:solidFill>
                <a:srgbClr val="FF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9" name="TextBox 15">
              <a:extLst>
                <a:ext uri="{FF2B5EF4-FFF2-40B4-BE49-F238E27FC236}">
                  <a16:creationId xmlns:a16="http://schemas.microsoft.com/office/drawing/2014/main" id="{6298C843-5BEF-0C71-65ED-0D0A5CEBF946}"/>
                </a:ext>
              </a:extLst>
            </p:cNvPr>
            <p:cNvSpPr txBox="1">
              <a:spLocks noChangeArrowheads="1"/>
            </p:cNvSpPr>
            <p:nvPr/>
          </p:nvSpPr>
          <p:spPr bwMode="auto">
            <a:xfrm>
              <a:off x="15906" y="2888"/>
              <a:ext cx="12163" cy="9985"/>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marL="0" marR="0" lvl="0" indent="0" algn="ctr" defTabSz="914400" rtl="0" eaLnBrk="1" fontAlgn="base" latinLnBrk="0" hangingPunct="1">
                <a:lnSpc>
                  <a:spcPct val="100000"/>
                </a:lnSpc>
                <a:spcBef>
                  <a:spcPts val="500"/>
                </a:spcBef>
                <a:spcAft>
                  <a:spcPts val="500"/>
                </a:spcAft>
                <a:buClrTx/>
                <a:buSzTx/>
                <a:buFontTx/>
                <a:buNone/>
                <a:tabLst/>
              </a:pPr>
              <a:r>
                <a:rPr kumimoji="0" lang="pt-BR" sz="500" b="0" i="0" u="none" strike="noStrike" cap="none" normalizeH="0" baseline="0" dirty="0">
                  <a:ln>
                    <a:noFill/>
                  </a:ln>
                  <a:solidFill>
                    <a:srgbClr val="000000"/>
                  </a:solidFill>
                  <a:effectLst/>
                  <a:cs typeface="Arial" pitchFamily="34" charset="0"/>
                </a:rPr>
                <a:t>RADIADORES DE ÓLEO/AR QUENTE INDEPENDENTES POSICIONADOS SEQUENCIALMENTE</a:t>
              </a:r>
              <a:endParaRPr kumimoji="0" lang="en-US" sz="500" b="0" i="0" u="none" strike="noStrike" cap="none" normalizeH="0" baseline="0" dirty="0">
                <a:ln>
                  <a:noFill/>
                </a:ln>
                <a:solidFill>
                  <a:schemeClr val="tx1"/>
                </a:solidFill>
                <a:effectLst/>
                <a:cs typeface="Arial" pitchFamily="34" charset="0"/>
              </a:endParaRPr>
            </a:p>
          </p:txBody>
        </p:sp>
        <p:cxnSp>
          <p:nvCxnSpPr>
            <p:cNvPr id="50" name="Straight Arrow Connector 16">
              <a:extLst>
                <a:ext uri="{FF2B5EF4-FFF2-40B4-BE49-F238E27FC236}">
                  <a16:creationId xmlns:a16="http://schemas.microsoft.com/office/drawing/2014/main" id="{6B1032CD-DD34-36F9-9C96-E1FF928EBC1F}"/>
                </a:ext>
              </a:extLst>
            </p:cNvPr>
            <p:cNvCxnSpPr>
              <a:cxnSpLocks noChangeShapeType="1"/>
            </p:cNvCxnSpPr>
            <p:nvPr/>
          </p:nvCxnSpPr>
          <p:spPr bwMode="auto">
            <a:xfrm flipV="1">
              <a:off x="28194" y="11430"/>
              <a:ext cx="10668" cy="4572"/>
            </a:xfrm>
            <a:prstGeom prst="straightConnector1">
              <a:avLst/>
            </a:prstGeom>
            <a:noFill/>
            <a:ln w="19050">
              <a:solidFill>
                <a:srgbClr val="FF0000"/>
              </a:solidFill>
              <a:round/>
              <a:headEnd/>
              <a:tailEnd type="arrow" w="med" len="med"/>
            </a:ln>
          </p:spPr>
        </p:cxnSp>
        <p:cxnSp>
          <p:nvCxnSpPr>
            <p:cNvPr id="51" name="Straight Arrow Connector 14">
              <a:extLst>
                <a:ext uri="{FF2B5EF4-FFF2-40B4-BE49-F238E27FC236}">
                  <a16:creationId xmlns:a16="http://schemas.microsoft.com/office/drawing/2014/main" id="{EE975B64-0BD5-EB57-529C-658872244E4E}"/>
                </a:ext>
              </a:extLst>
            </p:cNvPr>
            <p:cNvCxnSpPr>
              <a:cxnSpLocks noChangeShapeType="1"/>
            </p:cNvCxnSpPr>
            <p:nvPr/>
          </p:nvCxnSpPr>
          <p:spPr bwMode="auto">
            <a:xfrm rot="5400000">
              <a:off x="9082" y="6960"/>
              <a:ext cx="8382" cy="7620"/>
            </a:xfrm>
            <a:prstGeom prst="straightConnector1">
              <a:avLst/>
            </a:prstGeom>
            <a:noFill/>
            <a:ln w="19050">
              <a:solidFill>
                <a:srgbClr val="FF0000"/>
              </a:solidFill>
              <a:round/>
              <a:headEnd/>
              <a:tailEnd type="arrow" w="med" len="med"/>
            </a:ln>
          </p:spPr>
        </p:cxnSp>
        <p:cxnSp>
          <p:nvCxnSpPr>
            <p:cNvPr id="52" name="Straight Arrow Connector 15">
              <a:extLst>
                <a:ext uri="{FF2B5EF4-FFF2-40B4-BE49-F238E27FC236}">
                  <a16:creationId xmlns:a16="http://schemas.microsoft.com/office/drawing/2014/main" id="{E23D368C-0C4C-648F-1272-BB998CC2B2F4}"/>
                </a:ext>
              </a:extLst>
            </p:cNvPr>
            <p:cNvCxnSpPr>
              <a:cxnSpLocks noChangeShapeType="1"/>
            </p:cNvCxnSpPr>
            <p:nvPr/>
          </p:nvCxnSpPr>
          <p:spPr bwMode="auto">
            <a:xfrm rot="5400000">
              <a:off x="11749" y="8864"/>
              <a:ext cx="7620" cy="3048"/>
            </a:xfrm>
            <a:prstGeom prst="straightConnector1">
              <a:avLst/>
            </a:prstGeom>
            <a:noFill/>
            <a:ln w="19050">
              <a:solidFill>
                <a:srgbClr val="FF0000"/>
              </a:solidFill>
              <a:round/>
              <a:headEnd/>
              <a:tailEnd type="arrow" w="med" len="med"/>
            </a:ln>
          </p:spPr>
        </p:cxnSp>
      </p:grpSp>
      <p:sp>
        <p:nvSpPr>
          <p:cNvPr id="54" name="CaixaDeTexto 53">
            <a:extLst>
              <a:ext uri="{FF2B5EF4-FFF2-40B4-BE49-F238E27FC236}">
                <a16:creationId xmlns:a16="http://schemas.microsoft.com/office/drawing/2014/main" id="{5E86F682-3702-0215-262F-DEB52D0AA9A1}"/>
              </a:ext>
            </a:extLst>
          </p:cNvPr>
          <p:cNvSpPr txBox="1"/>
          <p:nvPr/>
        </p:nvSpPr>
        <p:spPr>
          <a:xfrm>
            <a:off x="467945" y="5958430"/>
            <a:ext cx="4213860" cy="443070"/>
          </a:xfrm>
          <a:prstGeom prst="rect">
            <a:avLst/>
          </a:prstGeom>
          <a:noFill/>
        </p:spPr>
        <p:txBody>
          <a:bodyPr wrap="square">
            <a:spAutoFit/>
          </a:bodyPr>
          <a:lstStyle/>
          <a:p>
            <a:pPr>
              <a:lnSpc>
                <a:spcPts val="3080"/>
              </a:lnSpc>
            </a:pPr>
            <a:r>
              <a:rPr lang="pt-BR" sz="1400" b="1">
                <a:solidFill>
                  <a:srgbClr val="6F6F6F"/>
                </a:solidFill>
                <a:latin typeface="Montserrat" panose="00000500000000000000" pitchFamily="2" charset="0"/>
              </a:rPr>
              <a:t>Sistema de Refrigeração Sequencial</a:t>
            </a:r>
            <a:endParaRPr lang="pt-BR" sz="1400" b="1" dirty="0">
              <a:solidFill>
                <a:srgbClr val="6F6F6F"/>
              </a:solidFill>
              <a:latin typeface="Montserrat" panose="00000500000000000000" pitchFamily="2" charset="0"/>
            </a:endParaRPr>
          </a:p>
        </p:txBody>
      </p:sp>
      <p:pic>
        <p:nvPicPr>
          <p:cNvPr id="56" name="Imagem 55">
            <a:extLst>
              <a:ext uri="{FF2B5EF4-FFF2-40B4-BE49-F238E27FC236}">
                <a16:creationId xmlns:a16="http://schemas.microsoft.com/office/drawing/2014/main" id="{FF6888A2-A30A-5F25-DA13-5CC9633B8E8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89990" y="6298019"/>
            <a:ext cx="3599695" cy="359665"/>
          </a:xfrm>
          <a:prstGeom prst="rect">
            <a:avLst/>
          </a:prstGeom>
        </p:spPr>
      </p:pic>
      <p:pic>
        <p:nvPicPr>
          <p:cNvPr id="57" name="Imagem 56">
            <a:extLst>
              <a:ext uri="{FF2B5EF4-FFF2-40B4-BE49-F238E27FC236}">
                <a16:creationId xmlns:a16="http://schemas.microsoft.com/office/drawing/2014/main" id="{69387161-B1DD-474D-B359-34E78D71F76D}"/>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12288" y="6696024"/>
            <a:ext cx="654485" cy="654485"/>
          </a:xfrm>
          <a:prstGeom prst="rect">
            <a:avLst/>
          </a:prstGeom>
        </p:spPr>
      </p:pic>
      <p:sp>
        <p:nvSpPr>
          <p:cNvPr id="59" name="CaixaDeTexto 58">
            <a:extLst>
              <a:ext uri="{FF2B5EF4-FFF2-40B4-BE49-F238E27FC236}">
                <a16:creationId xmlns:a16="http://schemas.microsoft.com/office/drawing/2014/main" id="{266D7420-EA38-DCA5-772D-3DD1B81E96CC}"/>
              </a:ext>
            </a:extLst>
          </p:cNvPr>
          <p:cNvSpPr txBox="1"/>
          <p:nvPr/>
        </p:nvSpPr>
        <p:spPr>
          <a:xfrm>
            <a:off x="1010811" y="6681975"/>
            <a:ext cx="3163832" cy="769441"/>
          </a:xfrm>
          <a:prstGeom prst="rect">
            <a:avLst/>
          </a:prstGeom>
          <a:noFill/>
        </p:spPr>
        <p:txBody>
          <a:bodyPr wrap="square">
            <a:spAutoFit/>
          </a:bodyPr>
          <a:lstStyle/>
          <a:p>
            <a:r>
              <a:rPr lang="pt-BR" sz="1100">
                <a:latin typeface="Montserrat" panose="00000500000000000000" pitchFamily="2" charset="0"/>
                <a:cs typeface="Arial" panose="020B0604020202020204" pitchFamily="34" charset="0"/>
              </a:rPr>
              <a:t>Confira o Sistema de Refrigeração Sequencial</a:t>
            </a:r>
          </a:p>
          <a:p>
            <a:pPr lvl="0"/>
            <a:r>
              <a:rPr lang="pt-BR" sz="1100">
                <a:latin typeface="Montserrat" panose="00000500000000000000" pitchFamily="2" charset="0"/>
                <a:cs typeface="Arial" panose="020B0604020202020204" pitchFamily="34" charset="0"/>
              </a:rPr>
              <a:t>Clique </a:t>
            </a:r>
            <a:r>
              <a:rPr lang="pt-BR" sz="1100">
                <a:latin typeface="Montserrat" panose="00000500000000000000" pitchFamily="2" charset="0"/>
                <a:cs typeface="Arial" panose="020B0604020202020204" pitchFamily="34" charset="0"/>
                <a:hlinkClick r:id="rId13"/>
              </a:rPr>
              <a:t>aqui</a:t>
            </a:r>
            <a:r>
              <a:rPr lang="pt-BR" sz="1100">
                <a:latin typeface="Montserrat" panose="00000500000000000000" pitchFamily="2" charset="0"/>
                <a:cs typeface="Arial" panose="020B0604020202020204" pitchFamily="34" charset="0"/>
              </a:rPr>
              <a:t> ou aproxime a câmera do</a:t>
            </a:r>
          </a:p>
          <a:p>
            <a:pPr lvl="0"/>
            <a:r>
              <a:rPr lang="pt-BR" sz="1100">
                <a:latin typeface="Montserrat" panose="00000500000000000000" pitchFamily="2" charset="0"/>
                <a:cs typeface="Arial" panose="020B0604020202020204" pitchFamily="34" charset="0"/>
              </a:rPr>
              <a:t>seu celular no QR Code</a:t>
            </a:r>
            <a:endParaRPr lang="pt-BR" sz="1100" dirty="0">
              <a:latin typeface="Montserrat" panose="00000500000000000000" pitchFamily="2" charset="0"/>
              <a:cs typeface="Arial" panose="020B0604020202020204" pitchFamily="34" charset="0"/>
            </a:endParaRPr>
          </a:p>
        </p:txBody>
      </p:sp>
      <p:sp>
        <p:nvSpPr>
          <p:cNvPr id="60" name="Retângulo 59">
            <a:extLst>
              <a:ext uri="{FF2B5EF4-FFF2-40B4-BE49-F238E27FC236}">
                <a16:creationId xmlns:a16="http://schemas.microsoft.com/office/drawing/2014/main" id="{50354AA6-5BAA-36F3-A475-29066BA02F3B}"/>
              </a:ext>
            </a:extLst>
          </p:cNvPr>
          <p:cNvSpPr/>
          <p:nvPr/>
        </p:nvSpPr>
        <p:spPr>
          <a:xfrm>
            <a:off x="337340" y="7916525"/>
            <a:ext cx="6630670" cy="1571158"/>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1" name="Picture 16" descr="T:\Rotary\_Competitive Teardown\R-Series\images\motor_vsd.png">
            <a:extLst>
              <a:ext uri="{FF2B5EF4-FFF2-40B4-BE49-F238E27FC236}">
                <a16:creationId xmlns:a16="http://schemas.microsoft.com/office/drawing/2014/main" id="{7F848B26-C643-1917-648D-EC7BCA982FA6}"/>
              </a:ext>
            </a:extLst>
          </p:cNvPr>
          <p:cNvPicPr/>
          <p:nvPr/>
        </p:nvPicPr>
        <p:blipFill>
          <a:blip r:embed="rId14" cstate="print"/>
          <a:srcRect/>
          <a:stretch>
            <a:fillRect/>
          </a:stretch>
        </p:blipFill>
        <p:spPr bwMode="auto">
          <a:xfrm>
            <a:off x="588490" y="8221009"/>
            <a:ext cx="990600" cy="939115"/>
          </a:xfrm>
          <a:prstGeom prst="rect">
            <a:avLst/>
          </a:prstGeom>
          <a:ln>
            <a:noFill/>
          </a:ln>
          <a:effectLst>
            <a:outerShdw blurRad="190500" algn="tl" rotWithShape="0">
              <a:srgbClr val="000000">
                <a:alpha val="70000"/>
              </a:srgbClr>
            </a:outerShdw>
          </a:effectLst>
        </p:spPr>
      </p:pic>
      <p:pic>
        <p:nvPicPr>
          <p:cNvPr id="62" name="Espaço Reservado para Conteúdo 16" descr="12.png">
            <a:extLst>
              <a:ext uri="{FF2B5EF4-FFF2-40B4-BE49-F238E27FC236}">
                <a16:creationId xmlns:a16="http://schemas.microsoft.com/office/drawing/2014/main" id="{E3507D96-DF13-C232-B21E-67BAF5A1BAC4}"/>
              </a:ext>
            </a:extLst>
          </p:cNvPr>
          <p:cNvPicPr>
            <a:picLocks noChangeAspect="1"/>
          </p:cNvPicPr>
          <p:nvPr/>
        </p:nvPicPr>
        <p:blipFill>
          <a:blip r:embed="rId15" cstate="print"/>
          <a:stretch>
            <a:fillRect/>
          </a:stretch>
        </p:blipFill>
        <p:spPr>
          <a:xfrm rot="20576152">
            <a:off x="1070365" y="8597437"/>
            <a:ext cx="689915" cy="621927"/>
          </a:xfrm>
          <a:prstGeom prst="rect">
            <a:avLst/>
          </a:prstGeom>
          <a:ln>
            <a:noFill/>
          </a:ln>
          <a:effectLst>
            <a:outerShdw blurRad="292100" dist="139700" dir="2700000" algn="tl" rotWithShape="0">
              <a:srgbClr val="333333">
                <a:alpha val="65000"/>
              </a:srgbClr>
            </a:outerShdw>
          </a:effectLst>
        </p:spPr>
      </p:pic>
      <p:sp>
        <p:nvSpPr>
          <p:cNvPr id="64" name="CaixaDeTexto 63">
            <a:extLst>
              <a:ext uri="{FF2B5EF4-FFF2-40B4-BE49-F238E27FC236}">
                <a16:creationId xmlns:a16="http://schemas.microsoft.com/office/drawing/2014/main" id="{01FC1E51-340F-DE7C-86A8-3740294A97A5}"/>
              </a:ext>
            </a:extLst>
          </p:cNvPr>
          <p:cNvSpPr txBox="1"/>
          <p:nvPr/>
        </p:nvSpPr>
        <p:spPr>
          <a:xfrm>
            <a:off x="2428007" y="7964128"/>
            <a:ext cx="4663458" cy="434863"/>
          </a:xfrm>
          <a:prstGeom prst="rect">
            <a:avLst/>
          </a:prstGeom>
          <a:noFill/>
        </p:spPr>
        <p:txBody>
          <a:bodyPr wrap="square">
            <a:spAutoFit/>
          </a:bodyPr>
          <a:lstStyle/>
          <a:p>
            <a:pPr>
              <a:lnSpc>
                <a:spcPts val="3080"/>
              </a:lnSpc>
            </a:pPr>
            <a:r>
              <a:rPr lang="pt-BR" sz="1400" b="1">
                <a:solidFill>
                  <a:srgbClr val="6F6F6F"/>
                </a:solidFill>
                <a:latin typeface="Montserrat" panose="00000500000000000000" pitchFamily="2" charset="0"/>
              </a:rPr>
              <a:t>Motor Híbrido de Magneto Permanente - HPM</a:t>
            </a:r>
            <a:endParaRPr lang="pt-BR" sz="1400" b="1" dirty="0">
              <a:solidFill>
                <a:srgbClr val="6F6F6F"/>
              </a:solidFill>
              <a:latin typeface="Montserrat" panose="00000500000000000000" pitchFamily="2" charset="0"/>
            </a:endParaRPr>
          </a:p>
        </p:txBody>
      </p:sp>
      <p:pic>
        <p:nvPicPr>
          <p:cNvPr id="65" name="Imagem 64">
            <a:extLst>
              <a:ext uri="{FF2B5EF4-FFF2-40B4-BE49-F238E27FC236}">
                <a16:creationId xmlns:a16="http://schemas.microsoft.com/office/drawing/2014/main" id="{4EA17328-F956-543B-740E-8F813FEAE6F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3245725" y="8244489"/>
            <a:ext cx="3599695" cy="359665"/>
          </a:xfrm>
          <a:prstGeom prst="rect">
            <a:avLst/>
          </a:prstGeom>
        </p:spPr>
      </p:pic>
      <p:pic>
        <p:nvPicPr>
          <p:cNvPr id="66" name="Imagem 65">
            <a:extLst>
              <a:ext uri="{FF2B5EF4-FFF2-40B4-BE49-F238E27FC236}">
                <a16:creationId xmlns:a16="http://schemas.microsoft.com/office/drawing/2014/main" id="{030F9C22-F5DD-9C3E-AE5B-3B2E4B5A7E2B}"/>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6247388" y="8775169"/>
            <a:ext cx="561600" cy="561600"/>
          </a:xfrm>
          <a:prstGeom prst="rect">
            <a:avLst/>
          </a:prstGeom>
        </p:spPr>
      </p:pic>
      <p:sp>
        <p:nvSpPr>
          <p:cNvPr id="67" name="Retângulo 66">
            <a:extLst>
              <a:ext uri="{FF2B5EF4-FFF2-40B4-BE49-F238E27FC236}">
                <a16:creationId xmlns:a16="http://schemas.microsoft.com/office/drawing/2014/main" id="{FD3F08F3-F59C-5DF4-823B-76A5889F1F83}"/>
              </a:ext>
            </a:extLst>
          </p:cNvPr>
          <p:cNvSpPr/>
          <p:nvPr/>
        </p:nvSpPr>
        <p:spPr>
          <a:xfrm>
            <a:off x="2123498" y="8761553"/>
            <a:ext cx="4102289" cy="600164"/>
          </a:xfrm>
          <a:prstGeom prst="rect">
            <a:avLst/>
          </a:prstGeom>
        </p:spPr>
        <p:txBody>
          <a:bodyPr wrap="square">
            <a:spAutoFit/>
          </a:bodyPr>
          <a:lstStyle/>
          <a:p>
            <a:pPr algn="r"/>
            <a:r>
              <a:rPr lang="pt-BR" sz="1100" dirty="0">
                <a:latin typeface="Montserrat" panose="00000500000000000000" pitchFamily="2" charset="0"/>
                <a:cs typeface="Arial" panose="020B0604020202020204" pitchFamily="34" charset="0"/>
              </a:rPr>
              <a:t>Confira o Motor HPM</a:t>
            </a:r>
          </a:p>
          <a:p>
            <a:pPr lvl="0" algn="r"/>
            <a:r>
              <a:rPr lang="pt-BR" sz="1100" dirty="0">
                <a:latin typeface="Montserrat" panose="00000500000000000000" pitchFamily="2" charset="0"/>
                <a:cs typeface="Arial" panose="020B0604020202020204" pitchFamily="34" charset="0"/>
              </a:rPr>
              <a:t>Clique </a:t>
            </a:r>
            <a:r>
              <a:rPr lang="pt-BR" sz="1100" dirty="0">
                <a:latin typeface="Montserrat" panose="00000500000000000000" pitchFamily="2" charset="0"/>
                <a:cs typeface="Arial" panose="020B0604020202020204" pitchFamily="34" charset="0"/>
                <a:hlinkClick r:id="rId17"/>
              </a:rPr>
              <a:t>aqui</a:t>
            </a:r>
            <a:r>
              <a:rPr lang="pt-BR" sz="1100" dirty="0">
                <a:latin typeface="Montserrat" panose="00000500000000000000" pitchFamily="2" charset="0"/>
                <a:cs typeface="Arial" panose="020B0604020202020204" pitchFamily="34" charset="0"/>
              </a:rPr>
              <a:t> ou aproxime a câmera do</a:t>
            </a:r>
          </a:p>
          <a:p>
            <a:pPr lvl="0" algn="r"/>
            <a:r>
              <a:rPr lang="pt-BR" sz="1100" dirty="0">
                <a:latin typeface="Montserrat" panose="00000500000000000000" pitchFamily="2" charset="0"/>
                <a:cs typeface="Arial" panose="020B0604020202020204" pitchFamily="34" charset="0"/>
              </a:rPr>
              <a:t>seu celular no QR </a:t>
            </a:r>
            <a:r>
              <a:rPr lang="pt-BR" sz="1100" dirty="0" err="1">
                <a:latin typeface="Montserrat" panose="00000500000000000000" pitchFamily="2" charset="0"/>
                <a:cs typeface="Arial" panose="020B0604020202020204" pitchFamily="34" charset="0"/>
              </a:rPr>
              <a:t>Code</a:t>
            </a:r>
            <a:endParaRPr lang="pt-BR" sz="1100" dirty="0">
              <a:latin typeface="Montserrat" panose="00000500000000000000" pitchFamily="2" charset="0"/>
              <a:cs typeface="Arial" panose="020B0604020202020204" pitchFamily="34" charset="0"/>
            </a:endParaRPr>
          </a:p>
        </p:txBody>
      </p:sp>
      <p:pic>
        <p:nvPicPr>
          <p:cNvPr id="68" name="Imagem 67">
            <a:extLst>
              <a:ext uri="{FF2B5EF4-FFF2-40B4-BE49-F238E27FC236}">
                <a16:creationId xmlns:a16="http://schemas.microsoft.com/office/drawing/2014/main" id="{5B3EDBFE-19B5-ED60-B683-F7DF0C0EB145}"/>
              </a:ext>
            </a:extLst>
          </p:cNvPr>
          <p:cNvPicPr>
            <a:picLocks noChangeAspect="1"/>
          </p:cNvPicPr>
          <p:nvPr/>
        </p:nvPicPr>
        <p:blipFill>
          <a:blip r:embed="rId18"/>
          <a:stretch>
            <a:fillRect/>
          </a:stretch>
        </p:blipFill>
        <p:spPr>
          <a:xfrm>
            <a:off x="436195" y="9982907"/>
            <a:ext cx="2152650" cy="447675"/>
          </a:xfrm>
          <a:prstGeom prst="rect">
            <a:avLst/>
          </a:prstGeom>
        </p:spPr>
      </p:pic>
    </p:spTree>
    <p:extLst>
      <p:ext uri="{BB962C8B-B14F-4D97-AF65-F5344CB8AC3E}">
        <p14:creationId xmlns:p14="http://schemas.microsoft.com/office/powerpoint/2010/main" val="280001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3"/>
          <p:cNvGrpSpPr/>
          <p:nvPr/>
        </p:nvGrpSpPr>
        <p:grpSpPr>
          <a:xfrm>
            <a:off x="460377" y="1072383"/>
            <a:ext cx="467840" cy="233920"/>
            <a:chOff x="0" y="0"/>
            <a:chExt cx="812800" cy="406400"/>
          </a:xfrm>
        </p:grpSpPr>
        <p:sp>
          <p:nvSpPr>
            <p:cNvPr id="14" name="Freeform 14"/>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727275"/>
            </a:solidFill>
          </p:spPr>
        </p:sp>
        <p:sp>
          <p:nvSpPr>
            <p:cNvPr id="15" name="TextBox 15"/>
            <p:cNvSpPr txBox="1"/>
            <p:nvPr/>
          </p:nvSpPr>
          <p:spPr>
            <a:xfrm>
              <a:off x="0" y="-28575"/>
              <a:ext cx="698500" cy="434975"/>
            </a:xfrm>
            <a:prstGeom prst="rect">
              <a:avLst/>
            </a:prstGeom>
          </p:spPr>
          <p:txBody>
            <a:bodyPr lIns="50800" tIns="50800" rIns="50800" bIns="50800" rtlCol="0" anchor="ctr"/>
            <a:lstStyle/>
            <a:p>
              <a:pPr algn="ctr">
                <a:lnSpc>
                  <a:spcPts val="1963"/>
                </a:lnSpc>
              </a:pPr>
              <a:endParaRPr/>
            </a:p>
          </p:txBody>
        </p:sp>
      </p:grpSp>
      <p:sp>
        <p:nvSpPr>
          <p:cNvPr id="18" name="TextBox 18"/>
          <p:cNvSpPr txBox="1"/>
          <p:nvPr/>
        </p:nvSpPr>
        <p:spPr>
          <a:xfrm>
            <a:off x="1034174" y="1034283"/>
            <a:ext cx="4608974" cy="306702"/>
          </a:xfrm>
          <a:prstGeom prst="rect">
            <a:avLst/>
          </a:prstGeom>
        </p:spPr>
        <p:txBody>
          <a:bodyPr lIns="0" tIns="0" rIns="0" bIns="0" rtlCol="0" anchor="t">
            <a:spAutoFit/>
          </a:bodyPr>
          <a:lstStyle/>
          <a:p>
            <a:pPr>
              <a:lnSpc>
                <a:spcPts val="2520"/>
              </a:lnSpc>
            </a:pPr>
            <a:r>
              <a:rPr lang="en-US" b="1">
                <a:solidFill>
                  <a:srgbClr val="6F6F6F"/>
                </a:solidFill>
                <a:latin typeface="Montserrat" panose="00000500000000000000" pitchFamily="2" charset="0"/>
                <a:ea typeface="Montserrat Bold"/>
                <a:cs typeface="Montserrat Bold"/>
                <a:sym typeface="Montserrat Bold"/>
              </a:rPr>
              <a:t>CONDIÇÕES COMERCIAIS</a:t>
            </a:r>
          </a:p>
        </p:txBody>
      </p:sp>
      <p:pic>
        <p:nvPicPr>
          <p:cNvPr id="27" name="Imagem 26">
            <a:extLst>
              <a:ext uri="{FF2B5EF4-FFF2-40B4-BE49-F238E27FC236}">
                <a16:creationId xmlns:a16="http://schemas.microsoft.com/office/drawing/2014/main" id="{814E04BF-61E6-ABB5-AEE0-A2049027684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1236" y="-90300"/>
            <a:ext cx="7904450" cy="859247"/>
          </a:xfrm>
          <a:prstGeom prst="rect">
            <a:avLst/>
          </a:prstGeom>
        </p:spPr>
      </p:pic>
      <p:grpSp>
        <p:nvGrpSpPr>
          <p:cNvPr id="28" name="Group 8">
            <a:extLst>
              <a:ext uri="{FF2B5EF4-FFF2-40B4-BE49-F238E27FC236}">
                <a16:creationId xmlns:a16="http://schemas.microsoft.com/office/drawing/2014/main" id="{FECB57DE-5C11-67C1-AB1F-474B2068D1DB}"/>
              </a:ext>
            </a:extLst>
          </p:cNvPr>
          <p:cNvGrpSpPr/>
          <p:nvPr/>
        </p:nvGrpSpPr>
        <p:grpSpPr>
          <a:xfrm>
            <a:off x="26701" y="10531095"/>
            <a:ext cx="7556500" cy="231978"/>
            <a:chOff x="0" y="0"/>
            <a:chExt cx="3047987" cy="131886"/>
          </a:xfrm>
        </p:grpSpPr>
        <p:sp>
          <p:nvSpPr>
            <p:cNvPr id="29" name="Freeform 9">
              <a:extLst>
                <a:ext uri="{FF2B5EF4-FFF2-40B4-BE49-F238E27FC236}">
                  <a16:creationId xmlns:a16="http://schemas.microsoft.com/office/drawing/2014/main" id="{0D75A5B5-17FC-E2AC-68F2-D76550173E36}"/>
                </a:ext>
              </a:extLst>
            </p:cNvPr>
            <p:cNvSpPr/>
            <p:nvPr/>
          </p:nvSpPr>
          <p:spPr>
            <a:xfrm>
              <a:off x="0" y="0"/>
              <a:ext cx="3047987" cy="131886"/>
            </a:xfrm>
            <a:custGeom>
              <a:avLst/>
              <a:gdLst/>
              <a:ahLst/>
              <a:cxnLst/>
              <a:rect l="l" t="t" r="r" b="b"/>
              <a:pathLst>
                <a:path w="3047987" h="131886">
                  <a:moveTo>
                    <a:pt x="0" y="0"/>
                  </a:moveTo>
                  <a:lnTo>
                    <a:pt x="3047987" y="0"/>
                  </a:lnTo>
                  <a:lnTo>
                    <a:pt x="3047987" y="131886"/>
                  </a:lnTo>
                  <a:lnTo>
                    <a:pt x="0" y="131886"/>
                  </a:lnTo>
                  <a:close/>
                </a:path>
              </a:pathLst>
            </a:custGeom>
            <a:solidFill>
              <a:srgbClr val="8B8A88"/>
            </a:solidFill>
          </p:spPr>
        </p:sp>
        <p:sp>
          <p:nvSpPr>
            <p:cNvPr id="30" name="TextBox 10">
              <a:extLst>
                <a:ext uri="{FF2B5EF4-FFF2-40B4-BE49-F238E27FC236}">
                  <a16:creationId xmlns:a16="http://schemas.microsoft.com/office/drawing/2014/main" id="{6F15C11A-A527-0C08-7F94-2F1BC6F207A7}"/>
                </a:ext>
              </a:extLst>
            </p:cNvPr>
            <p:cNvSpPr txBox="1"/>
            <p:nvPr/>
          </p:nvSpPr>
          <p:spPr>
            <a:xfrm>
              <a:off x="0" y="-38100"/>
              <a:ext cx="3047987" cy="169986"/>
            </a:xfrm>
            <a:prstGeom prst="rect">
              <a:avLst/>
            </a:prstGeom>
          </p:spPr>
          <p:txBody>
            <a:bodyPr lIns="45156" tIns="45156" rIns="45156" bIns="45156" rtlCol="0" anchor="ctr"/>
            <a:lstStyle/>
            <a:p>
              <a:pPr algn="ctr">
                <a:lnSpc>
                  <a:spcPts val="2140"/>
                </a:lnSpc>
              </a:pPr>
              <a:endParaRPr/>
            </a:p>
          </p:txBody>
        </p:sp>
      </p:grpSp>
      <p:pic>
        <p:nvPicPr>
          <p:cNvPr id="2" name="Imagem 1">
            <a:extLst>
              <a:ext uri="{FF2B5EF4-FFF2-40B4-BE49-F238E27FC236}">
                <a16:creationId xmlns:a16="http://schemas.microsoft.com/office/drawing/2014/main" id="{CFD01A55-15C6-FD2E-6D93-5C40608BEA97}"/>
              </a:ext>
            </a:extLst>
          </p:cNvPr>
          <p:cNvPicPr>
            <a:picLocks noChangeAspect="1"/>
          </p:cNvPicPr>
          <p:nvPr/>
        </p:nvPicPr>
        <p:blipFill>
          <a:blip r:embed="rId3"/>
          <a:stretch>
            <a:fillRect/>
          </a:stretch>
        </p:blipFill>
        <p:spPr>
          <a:xfrm>
            <a:off x="460377" y="9982897"/>
            <a:ext cx="2152650" cy="447675"/>
          </a:xfrm>
          <a:prstGeom prst="rect">
            <a:avLst/>
          </a:prstGeom>
        </p:spPr>
      </p:pic>
      <p:graphicFrame>
        <p:nvGraphicFramePr>
          <p:cNvPr id="3" name="Tabela 2">
            <a:extLst>
              <a:ext uri="{FF2B5EF4-FFF2-40B4-BE49-F238E27FC236}">
                <a16:creationId xmlns:a16="http://schemas.microsoft.com/office/drawing/2014/main" id="{DEC09D31-CDD8-55B4-06AE-93DE0868766E}"/>
              </a:ext>
            </a:extLst>
          </p:cNvPr>
          <p:cNvGraphicFramePr>
            <a:graphicFrameLocks noGrp="1"/>
          </p:cNvGraphicFramePr>
          <p:nvPr>
            <p:extLst>
              <p:ext uri="{D42A27DB-BD31-4B8C-83A1-F6EECF244321}">
                <p14:modId xmlns:p14="http://schemas.microsoft.com/office/powerpoint/2010/main" val="224904212"/>
              </p:ext>
            </p:extLst>
          </p:nvPr>
        </p:nvGraphicFramePr>
        <p:xfrm>
          <a:off x="460377" y="2222500"/>
          <a:ext cx="6172200" cy="1144905"/>
        </p:xfrm>
        <a:graphic>
          <a:graphicData uri="http://schemas.openxmlformats.org/drawingml/2006/table">
            <a:tbl>
              <a:tblPr/>
              <a:tblGrid>
                <a:gridCol w="68580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266700">
                <a:tc>
                  <a:txBody>
                    <a:bodyPr/>
                    <a:lstStyle/>
                    <a:p>
                      <a:pPr algn="ctr" fontAlgn="ctr"/>
                      <a:r>
                        <a:rPr lang="pt-BR" sz="1100" b="0" i="0" u="none" strike="noStrike" dirty="0">
                          <a:solidFill>
                            <a:srgbClr val="000000"/>
                          </a:solidFill>
                          <a:effectLst/>
                          <a:latin typeface="Arial" panose="020B0604020202020204" pitchFamily="34" charset="0"/>
                        </a:rPr>
                        <a:t>Item</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E7E6E6"/>
                    </a:solidFill>
                  </a:tcPr>
                </a:tc>
                <a:tc gridSpan="2">
                  <a:txBody>
                    <a:bodyPr/>
                    <a:lstStyle/>
                    <a:p>
                      <a:pPr algn="l" fontAlgn="ctr"/>
                      <a:r>
                        <a:rPr lang="pt-BR" sz="1100" b="0" i="0" u="none" strike="noStrike" dirty="0">
                          <a:solidFill>
                            <a:srgbClr val="000000"/>
                          </a:solidFill>
                          <a:effectLst/>
                          <a:latin typeface="Arial" panose="020B0604020202020204" pitchFamily="34" charset="0"/>
                        </a:rPr>
                        <a:t>Descrição</a:t>
                      </a:r>
                    </a:p>
                  </a:txBody>
                  <a:tcPr marL="9525" marR="9525" marT="9525" marB="0" anchor="ctr">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E7E6E6"/>
                    </a:solidFill>
                  </a:tcPr>
                </a:tc>
                <a:tc hMerge="1">
                  <a:txBody>
                    <a:bodyPr/>
                    <a:lstStyle/>
                    <a:p>
                      <a:endParaRPr lang="pt-BR"/>
                    </a:p>
                  </a:txBody>
                  <a:tcPr/>
                </a:tc>
                <a:tc>
                  <a:txBody>
                    <a:bodyPr/>
                    <a:lstStyle/>
                    <a:p>
                      <a:pPr marL="0" marR="0" indent="0" algn="ctr" defTabSz="1042873" rtl="0" eaLnBrk="1" fontAlgn="ctr" latinLnBrk="0" hangingPunct="1">
                        <a:lnSpc>
                          <a:spcPct val="100000"/>
                        </a:lnSpc>
                        <a:spcBef>
                          <a:spcPts val="0"/>
                        </a:spcBef>
                        <a:spcAft>
                          <a:spcPts val="0"/>
                        </a:spcAft>
                        <a:buClrTx/>
                        <a:buSzTx/>
                        <a:buFontTx/>
                        <a:buNone/>
                        <a:tabLst/>
                        <a:defRPr/>
                      </a:pPr>
                      <a:r>
                        <a:rPr lang="pt-BR" sz="1100" b="0" i="0" u="none" strike="noStrike" dirty="0">
                          <a:solidFill>
                            <a:srgbClr val="000000"/>
                          </a:solidFill>
                          <a:effectLst/>
                          <a:latin typeface="Arial" panose="020B0604020202020204" pitchFamily="34" charset="0"/>
                        </a:rPr>
                        <a:t>Valor mensal (R$)</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0000"/>
                  </a:ext>
                </a:extLst>
              </a:tr>
              <a:tr h="266700">
                <a:tc>
                  <a:txBody>
                    <a:bodyPr/>
                    <a:lstStyle/>
                    <a:p>
                      <a:pPr algn="ctr" fontAlgn="ctr"/>
                      <a:r>
                        <a:rPr lang="pt-BR" sz="1100" b="0" i="0" u="none" strike="noStrike" dirty="0">
                          <a:solidFill>
                            <a:srgbClr val="000000"/>
                          </a:solidFill>
                          <a:effectLst/>
                          <a:latin typeface="Arial" panose="020B0604020202020204" pitchFamily="34" charset="0"/>
                        </a:rPr>
                        <a:t>01</a:t>
                      </a:r>
                    </a:p>
                  </a:txBody>
                  <a:tcPr marL="9525" marR="9525" marT="9525" marB="0" anchor="ctr">
                    <a:lnL w="6350" cap="flat" cmpd="sng" algn="ctr">
                      <a:solidFill>
                        <a:srgbClr val="000000"/>
                      </a:solidFill>
                      <a:prstDash val="solid"/>
                      <a:round/>
                      <a:headEnd type="none" w="med" len="med"/>
                      <a:tailEnd type="none" w="med" len="med"/>
                    </a:lnL>
                    <a:lnR>
                      <a:noFill/>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l" fontAlgn="ctr"/>
                      <a:r>
                        <a:rPr lang="pt-BR" sz="1100" b="0" i="0" u="none" strike="noStrike" dirty="0" err="1">
                          <a:solidFill>
                            <a:srgbClr val="000000"/>
                          </a:solidFill>
                          <a:effectLst/>
                          <a:latin typeface="Arial" panose="020B0604020202020204" pitchFamily="34" charset="0"/>
                        </a:rPr>
                        <a:t>SustenPlan</a:t>
                      </a:r>
                      <a:r>
                        <a:rPr lang="pt-BR" sz="1100" b="0" i="0" u="none" strike="noStrike" baseline="0" dirty="0">
                          <a:solidFill>
                            <a:srgbClr val="000000"/>
                          </a:solidFill>
                          <a:effectLst/>
                          <a:latin typeface="Arial" panose="020B0604020202020204" pitchFamily="34" charset="0"/>
                        </a:rPr>
                        <a:t> 4.0 – Plano Inteligente e Sustentável de Energia Pneumática</a:t>
                      </a:r>
                      <a:endParaRPr lang="pt-BR" sz="1100" b="0" i="0" u="none" strike="noStrike" dirty="0">
                        <a:solidFill>
                          <a:srgbClr val="000000"/>
                        </a:solidFill>
                        <a:effectLst/>
                        <a:latin typeface="Arial" panose="020B0604020202020204" pitchFamily="34" charset="0"/>
                      </a:endParaRPr>
                    </a:p>
                  </a:txBody>
                  <a:tcPr marL="9525" marR="9525" marT="9525" marB="0" anchor="ctr">
                    <a:lnL>
                      <a:noFill/>
                    </a:lnL>
                    <a:lnR>
                      <a:noFill/>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pt-BR"/>
                    </a:p>
                  </a:txBody>
                  <a:tcPr/>
                </a:tc>
                <a:tc>
                  <a:txBody>
                    <a:bodyPr/>
                    <a:lstStyle/>
                    <a:p>
                      <a:pPr algn="ctr" fontAlgn="ctr"/>
                      <a:r>
                        <a:rPr lang="pt-BR" sz="1100" b="0" i="0" u="none" strike="noStrike">
                          <a:solidFill>
                            <a:srgbClr val="000000"/>
                          </a:solidFill>
                          <a:effectLst/>
                          <a:latin typeface="Arial" panose="020B0604020202020204" pitchFamily="34" charset="0"/>
                        </a:rPr>
                        <a:t> </a:t>
                      </a:r>
                      <a:endParaRPr lang="pt-BR" sz="1100" b="0" i="0" u="none" strike="noStrike" dirty="0">
                        <a:solidFill>
                          <a:srgbClr val="000000"/>
                        </a:solidFill>
                        <a:effectLst/>
                        <a:latin typeface="Arial" panose="020B0604020202020204" pitchFamily="34" charset="0"/>
                      </a:endParaRPr>
                    </a:p>
                  </a:txBody>
                  <a:tcPr marL="9525" marR="9525" marT="9525" marB="0" anchor="ctr">
                    <a:lnL>
                      <a:noFill/>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66700">
                <a:tc>
                  <a:txBody>
                    <a:bodyPr/>
                    <a:lstStyle/>
                    <a:p>
                      <a:pPr algn="ctr" fontAlgn="ctr"/>
                      <a:r>
                        <a:rPr lang="pt-BR" sz="11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l" fontAlgn="ctr"/>
                      <a:r>
                        <a:rPr lang="pt-BR" sz="1100" b="0" i="0" u="none" strike="noStrike" dirty="0">
                          <a:solidFill>
                            <a:srgbClr val="000000"/>
                          </a:solidFill>
                          <a:effectLst/>
                          <a:latin typeface="Arial" panose="020B0604020202020204" pitchFamily="34" charset="0"/>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pt-BR"/>
                    </a:p>
                  </a:txBody>
                  <a:tcPr/>
                </a:tc>
                <a:tc>
                  <a:txBody>
                    <a:bodyPr/>
                    <a:lstStyle/>
                    <a:p>
                      <a:pPr algn="ctr" fontAlgn="ctr"/>
                      <a:r>
                        <a:rPr lang="pt-BR" sz="1100" b="0" i="0" u="none" strike="noStrike" dirty="0">
                          <a:solidFill>
                            <a:srgbClr val="000000"/>
                          </a:solidFill>
                          <a:effectLst/>
                          <a:latin typeface="Arial" panose="020B0604020202020204" pitchFamily="34" charset="0"/>
                        </a:rPr>
                        <a:t> </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66700">
                <a:tc>
                  <a:txBody>
                    <a:bodyPr/>
                    <a:lstStyle/>
                    <a:p>
                      <a:pPr algn="ctr" fontAlgn="ctr"/>
                      <a:endParaRPr lang="pt-BR" sz="1100" b="0" i="0" u="none" strike="noStrike">
                        <a:solidFill>
                          <a:srgbClr val="000000"/>
                        </a:solidFill>
                        <a:effectLst/>
                        <a:latin typeface="Arial" panose="020B060402020202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endParaRPr lang="pt-BR" sz="1100" b="0" i="0" u="none" strike="noStrike">
                        <a:solidFill>
                          <a:srgbClr val="000000"/>
                        </a:solidFill>
                        <a:effectLst/>
                        <a:latin typeface="Arial" panose="020B0604020202020204" pitchFamily="34" charset="0"/>
                      </a:endParaRP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ctr"/>
                      <a:r>
                        <a:rPr lang="pt-BR" sz="1100" b="0" i="0" u="none" strike="noStrike">
                          <a:solidFill>
                            <a:srgbClr val="000000"/>
                          </a:solidFill>
                          <a:effectLst/>
                          <a:latin typeface="Arial" panose="020B0604020202020204" pitchFamily="34" charset="0"/>
                        </a:rPr>
                        <a:t>TOTAL</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E7E6E6"/>
                    </a:solidFill>
                  </a:tcPr>
                </a:tc>
                <a:tc>
                  <a:txBody>
                    <a:bodyPr/>
                    <a:lstStyle/>
                    <a:p>
                      <a:pPr algn="ctr" fontAlgn="ctr"/>
                      <a:r>
                        <a:rPr lang="pt-BR" sz="1100" b="0" i="0" u="none" strike="noStrike" dirty="0">
                          <a:solidFill>
                            <a:srgbClr val="000000"/>
                          </a:solidFill>
                          <a:effectLst/>
                          <a:latin typeface="Arial" panose="020B0604020202020204" pitchFamily="34" charset="0"/>
                        </a:rPr>
                        <a:t> </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0003"/>
                  </a:ext>
                </a:extLst>
              </a:tr>
            </a:tbl>
          </a:graphicData>
        </a:graphic>
      </p:graphicFrame>
      <p:graphicFrame>
        <p:nvGraphicFramePr>
          <p:cNvPr id="4" name="Tabela 3">
            <a:extLst>
              <a:ext uri="{FF2B5EF4-FFF2-40B4-BE49-F238E27FC236}">
                <a16:creationId xmlns:a16="http://schemas.microsoft.com/office/drawing/2014/main" id="{E5AC2318-C68A-EA24-8054-C3D73DA24725}"/>
              </a:ext>
            </a:extLst>
          </p:cNvPr>
          <p:cNvGraphicFramePr>
            <a:graphicFrameLocks noGrp="1"/>
          </p:cNvGraphicFramePr>
          <p:nvPr>
            <p:extLst>
              <p:ext uri="{D42A27DB-BD31-4B8C-83A1-F6EECF244321}">
                <p14:modId xmlns:p14="http://schemas.microsoft.com/office/powerpoint/2010/main" val="410843036"/>
              </p:ext>
            </p:extLst>
          </p:nvPr>
        </p:nvGraphicFramePr>
        <p:xfrm>
          <a:off x="489587" y="4582796"/>
          <a:ext cx="6172201" cy="2743200"/>
        </p:xfrm>
        <a:graphic>
          <a:graphicData uri="http://schemas.openxmlformats.org/drawingml/2006/table">
            <a:tbl>
              <a:tblPr/>
              <a:tblGrid>
                <a:gridCol w="1730761">
                  <a:extLst>
                    <a:ext uri="{9D8B030D-6E8A-4147-A177-3AD203B41FA5}">
                      <a16:colId xmlns:a16="http://schemas.microsoft.com/office/drawing/2014/main" val="20000"/>
                    </a:ext>
                  </a:extLst>
                </a:gridCol>
                <a:gridCol w="1527143">
                  <a:extLst>
                    <a:ext uri="{9D8B030D-6E8A-4147-A177-3AD203B41FA5}">
                      <a16:colId xmlns:a16="http://schemas.microsoft.com/office/drawing/2014/main" val="20001"/>
                    </a:ext>
                  </a:extLst>
                </a:gridCol>
                <a:gridCol w="1361702">
                  <a:extLst>
                    <a:ext uri="{9D8B030D-6E8A-4147-A177-3AD203B41FA5}">
                      <a16:colId xmlns:a16="http://schemas.microsoft.com/office/drawing/2014/main" val="20002"/>
                    </a:ext>
                  </a:extLst>
                </a:gridCol>
                <a:gridCol w="1552595">
                  <a:extLst>
                    <a:ext uri="{9D8B030D-6E8A-4147-A177-3AD203B41FA5}">
                      <a16:colId xmlns:a16="http://schemas.microsoft.com/office/drawing/2014/main" val="20003"/>
                    </a:ext>
                  </a:extLst>
                </a:gridCol>
              </a:tblGrid>
              <a:tr h="266700">
                <a:tc>
                  <a:txBody>
                    <a:bodyPr/>
                    <a:lstStyle/>
                    <a:p>
                      <a:pPr algn="ctr" fontAlgn="ctr"/>
                      <a:r>
                        <a:rPr lang="pt-BR" sz="1100" b="0" i="0" u="none" strike="noStrike" dirty="0">
                          <a:solidFill>
                            <a:srgbClr val="000000"/>
                          </a:solidFill>
                          <a:effectLst/>
                          <a:latin typeface="Arial" panose="020B0604020202020204" pitchFamily="34" charset="0"/>
                        </a:rPr>
                        <a:t>Condições de pagamento</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E7E6E6"/>
                    </a:solidFill>
                  </a:tcPr>
                </a:tc>
                <a:tc>
                  <a:txBody>
                    <a:bodyPr/>
                    <a:lstStyle/>
                    <a:p>
                      <a:pPr algn="ctr" fontAlgn="ctr"/>
                      <a:r>
                        <a:rPr lang="pt-BR" sz="1100" b="0" i="0" u="none" strike="noStrike">
                          <a:solidFill>
                            <a:srgbClr val="000000"/>
                          </a:solidFill>
                          <a:effectLst/>
                          <a:latin typeface="Arial" panose="020B0604020202020204" pitchFamily="34" charset="0"/>
                        </a:rPr>
                        <a:t>Previsão de entrega</a:t>
                      </a:r>
                    </a:p>
                  </a:txBody>
                  <a:tcPr marL="9525" marR="9525" marT="9525" marB="0" anchor="ctr">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E7E6E6"/>
                    </a:solidFill>
                  </a:tcPr>
                </a:tc>
                <a:tc>
                  <a:txBody>
                    <a:bodyPr/>
                    <a:lstStyle/>
                    <a:p>
                      <a:pPr algn="ctr" fontAlgn="ctr"/>
                      <a:r>
                        <a:rPr lang="pt-BR" sz="1100" b="0" i="0" u="none" strike="noStrike">
                          <a:solidFill>
                            <a:srgbClr val="000000"/>
                          </a:solidFill>
                          <a:effectLst/>
                          <a:latin typeface="Arial" panose="020B0604020202020204" pitchFamily="34" charset="0"/>
                        </a:rPr>
                        <a:t>Frete</a:t>
                      </a:r>
                    </a:p>
                  </a:txBody>
                  <a:tcPr marL="9525" marR="9525" marT="9525" marB="0" anchor="ctr">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E7E6E6"/>
                    </a:solidFill>
                  </a:tcPr>
                </a:tc>
                <a:tc>
                  <a:txBody>
                    <a:bodyPr/>
                    <a:lstStyle/>
                    <a:p>
                      <a:pPr algn="ctr" fontAlgn="ctr"/>
                      <a:r>
                        <a:rPr lang="pt-BR" sz="1100" b="0" i="0" u="none" strike="noStrike">
                          <a:solidFill>
                            <a:srgbClr val="000000"/>
                          </a:solidFill>
                          <a:effectLst/>
                          <a:latin typeface="Arial" panose="020B0604020202020204" pitchFamily="34" charset="0"/>
                        </a:rPr>
                        <a:t>Validade da Proposta</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0000"/>
                  </a:ext>
                </a:extLst>
              </a:tr>
              <a:tr h="647700">
                <a:tc>
                  <a:txBody>
                    <a:bodyPr/>
                    <a:lstStyle/>
                    <a:p>
                      <a:pPr algn="ctr" fontAlgn="ctr"/>
                      <a:r>
                        <a:rPr lang="pt-BR" sz="1100" b="0" i="0" u="none" strike="noStrike" dirty="0">
                          <a:solidFill>
                            <a:srgbClr val="000000"/>
                          </a:solidFill>
                          <a:effectLst/>
                          <a:latin typeface="Arial" panose="020B0604020202020204" pitchFamily="34" charset="0"/>
                        </a:rPr>
                        <a:t>21ddl</a:t>
                      </a:r>
                    </a:p>
                  </a:txBody>
                  <a:tcPr marL="9525" marR="9525" marT="9525" marB="0" anchor="ctr">
                    <a:lnL w="6350" cap="flat" cmpd="sng" algn="ctr">
                      <a:solidFill>
                        <a:srgbClr val="000000"/>
                      </a:solidFill>
                      <a:prstDash val="solid"/>
                      <a:round/>
                      <a:headEnd type="none" w="med" len="med"/>
                      <a:tailEnd type="none" w="med" len="med"/>
                    </a:lnL>
                    <a:lnR>
                      <a:noFill/>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100" b="0" i="0" u="none" strike="noStrike" dirty="0">
                          <a:solidFill>
                            <a:srgbClr val="000000"/>
                          </a:solidFill>
                          <a:effectLst/>
                          <a:latin typeface="Arial" panose="020B0604020202020204" pitchFamily="34" charset="0"/>
                        </a:rPr>
                        <a:t>45/60 dias</a:t>
                      </a:r>
                    </a:p>
                  </a:txBody>
                  <a:tcPr marL="9525" marR="9525" marT="9525" marB="0" anchor="ctr">
                    <a:lnL>
                      <a:noFill/>
                    </a:lnL>
                    <a:lnR>
                      <a:noFill/>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100" b="0" i="0" u="none" strike="noStrike" dirty="0">
                          <a:solidFill>
                            <a:srgbClr val="000000"/>
                          </a:solidFill>
                          <a:effectLst/>
                          <a:latin typeface="Arial" panose="020B0604020202020204" pitchFamily="34" charset="0"/>
                        </a:rPr>
                        <a:t>CIF</a:t>
                      </a:r>
                    </a:p>
                  </a:txBody>
                  <a:tcPr marL="9525" marR="9525" marT="9525" marB="0" anchor="ctr">
                    <a:lnL>
                      <a:noFill/>
                    </a:lnL>
                    <a:lnR>
                      <a:noFill/>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100" b="0" i="0" u="none" strike="noStrike" dirty="0">
                          <a:solidFill>
                            <a:srgbClr val="000000"/>
                          </a:solidFill>
                          <a:effectLst/>
                          <a:latin typeface="Arial" panose="020B0604020202020204" pitchFamily="34" charset="0"/>
                        </a:rPr>
                        <a:t>30 dias</a:t>
                      </a:r>
                    </a:p>
                  </a:txBody>
                  <a:tcPr marL="9525" marR="9525" marT="9525" marB="0" anchor="ctr">
                    <a:lnL>
                      <a:noFill/>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66700">
                <a:tc gridSpan="4">
                  <a:txBody>
                    <a:bodyPr/>
                    <a:lstStyle/>
                    <a:p>
                      <a:pPr algn="ctr" fontAlgn="ctr"/>
                      <a:r>
                        <a:rPr lang="pt-BR" sz="1100" b="0" i="0" u="none" strike="noStrike" dirty="0">
                          <a:solidFill>
                            <a:srgbClr val="000000"/>
                          </a:solidFill>
                          <a:effectLst/>
                          <a:latin typeface="Arial" panose="020B0604020202020204" pitchFamily="34" charset="0"/>
                        </a:rPr>
                        <a:t>Faturamento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E7E6E6"/>
                    </a:solidFill>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2"/>
                  </a:ext>
                </a:extLst>
              </a:tr>
              <a:tr h="1562100">
                <a:tc gridSpan="4">
                  <a:txBody>
                    <a:bodyPr/>
                    <a:lstStyle/>
                    <a:p>
                      <a:pPr algn="l" fontAlgn="ctr">
                        <a:lnSpc>
                          <a:spcPct val="150000"/>
                        </a:lnSpc>
                      </a:pPr>
                      <a:r>
                        <a:rPr lang="pt-BR" sz="1100" b="0" i="0" u="none" strike="noStrike" dirty="0">
                          <a:solidFill>
                            <a:srgbClr val="000000"/>
                          </a:solidFill>
                          <a:effectLst/>
                          <a:latin typeface="Arial" panose="020B0604020202020204" pitchFamily="34" charset="0"/>
                        </a:rPr>
                        <a:t>Caso sejamos contemplados com o seu pedido de compra, este deverá ser emitido para:</a:t>
                      </a:r>
                      <a:br>
                        <a:rPr lang="pt-BR" sz="1100" b="0" i="0" u="none" strike="noStrike" dirty="0">
                          <a:solidFill>
                            <a:srgbClr val="000000"/>
                          </a:solidFill>
                          <a:effectLst/>
                          <a:latin typeface="Arial" panose="020B0604020202020204" pitchFamily="34" charset="0"/>
                        </a:rPr>
                      </a:br>
                      <a:r>
                        <a:rPr lang="pt-BR" sz="1100" b="1" i="0" u="none" strike="noStrike" dirty="0">
                          <a:solidFill>
                            <a:srgbClr val="000000"/>
                          </a:solidFill>
                          <a:effectLst/>
                          <a:latin typeface="Arial" panose="020B0604020202020204" pitchFamily="34" charset="0"/>
                        </a:rPr>
                        <a:t>EVOLUÇÃO</a:t>
                      </a:r>
                      <a:r>
                        <a:rPr lang="pt-BR" sz="1100" b="1" i="0" u="none" strike="noStrike" baseline="0" dirty="0">
                          <a:solidFill>
                            <a:srgbClr val="000000"/>
                          </a:solidFill>
                          <a:effectLst/>
                          <a:latin typeface="Arial" panose="020B0604020202020204" pitchFamily="34" charset="0"/>
                        </a:rPr>
                        <a:t> COM. DE COMPRESSORES E EQUIP. </a:t>
                      </a:r>
                      <a:r>
                        <a:rPr lang="pt-BR" sz="1100" b="1" i="0" u="none" strike="noStrike" dirty="0">
                          <a:solidFill>
                            <a:srgbClr val="000000"/>
                          </a:solidFill>
                          <a:effectLst/>
                          <a:latin typeface="Arial" panose="020B0604020202020204" pitchFamily="34" charset="0"/>
                        </a:rPr>
                        <a:t>LTDA</a:t>
                      </a:r>
                      <a:br>
                        <a:rPr lang="pt-BR" sz="1100" b="0" i="0" u="none" strike="noStrike" dirty="0">
                          <a:solidFill>
                            <a:srgbClr val="000000"/>
                          </a:solidFill>
                          <a:effectLst/>
                          <a:latin typeface="Arial" panose="020B0604020202020204" pitchFamily="34" charset="0"/>
                        </a:rPr>
                      </a:br>
                      <a:r>
                        <a:rPr lang="pt-BR" sz="1100" b="0" i="0" u="none" strike="noStrike" dirty="0">
                          <a:solidFill>
                            <a:srgbClr val="000000"/>
                          </a:solidFill>
                          <a:effectLst/>
                          <a:latin typeface="Arial" panose="020B0604020202020204" pitchFamily="34" charset="0"/>
                        </a:rPr>
                        <a:t>CNPJ: 07.382.761/0001-02 | Insc. Estadual: 255.034.520</a:t>
                      </a:r>
                      <a:br>
                        <a:rPr lang="pt-BR" sz="1100" b="0" i="0" u="none" strike="noStrike" dirty="0">
                          <a:solidFill>
                            <a:srgbClr val="000000"/>
                          </a:solidFill>
                          <a:effectLst/>
                          <a:latin typeface="Arial" panose="020B0604020202020204" pitchFamily="34" charset="0"/>
                        </a:rPr>
                      </a:br>
                      <a:r>
                        <a:rPr lang="pt-BR" sz="1100" b="0" i="0" u="none" strike="noStrike" dirty="0">
                          <a:solidFill>
                            <a:srgbClr val="000000"/>
                          </a:solidFill>
                          <a:effectLst/>
                          <a:latin typeface="Arial" panose="020B0604020202020204" pitchFamily="34" charset="0"/>
                        </a:rPr>
                        <a:t>Rua Pedro </a:t>
                      </a:r>
                      <a:r>
                        <a:rPr lang="pt-BR" sz="1100" b="0" i="0" u="none" strike="noStrike" dirty="0" err="1">
                          <a:solidFill>
                            <a:srgbClr val="000000"/>
                          </a:solidFill>
                          <a:effectLst/>
                          <a:latin typeface="Arial" panose="020B0604020202020204" pitchFamily="34" charset="0"/>
                        </a:rPr>
                        <a:t>Robl</a:t>
                      </a:r>
                      <a:r>
                        <a:rPr lang="pt-BR" sz="1100" b="0" i="0" u="none" strike="noStrike" dirty="0">
                          <a:solidFill>
                            <a:srgbClr val="000000"/>
                          </a:solidFill>
                          <a:effectLst/>
                          <a:latin typeface="Arial" panose="020B0604020202020204" pitchFamily="34" charset="0"/>
                        </a:rPr>
                        <a:t>, 13 – São Bento do</a:t>
                      </a:r>
                      <a:r>
                        <a:rPr lang="pt-BR" sz="1100" b="0" i="0" u="none" strike="noStrike" baseline="0" dirty="0">
                          <a:solidFill>
                            <a:srgbClr val="000000"/>
                          </a:solidFill>
                          <a:effectLst/>
                          <a:latin typeface="Arial" panose="020B0604020202020204" pitchFamily="34" charset="0"/>
                        </a:rPr>
                        <a:t> Sul – SC </a:t>
                      </a:r>
                      <a:r>
                        <a:rPr lang="pt-BR" sz="1100" b="0" i="0" u="none" strike="noStrike" dirty="0">
                          <a:solidFill>
                            <a:srgbClr val="000000"/>
                          </a:solidFill>
                          <a:effectLst/>
                          <a:latin typeface="Arial" panose="020B0604020202020204" pitchFamily="34" charset="0"/>
                        </a:rPr>
                        <a:t>| CEP: 89.288-150</a:t>
                      </a:r>
                      <a:br>
                        <a:rPr lang="pt-BR" sz="1100" b="0" i="0" u="none" strike="noStrike" dirty="0">
                          <a:solidFill>
                            <a:srgbClr val="000000"/>
                          </a:solidFill>
                          <a:effectLst/>
                          <a:latin typeface="Arial" panose="020B0604020202020204" pitchFamily="34" charset="0"/>
                        </a:rPr>
                      </a:br>
                      <a:r>
                        <a:rPr lang="pt-BR" sz="1100" b="0" i="0" u="none" strike="noStrike" dirty="0">
                          <a:solidFill>
                            <a:srgbClr val="000000"/>
                          </a:solidFill>
                          <a:effectLst/>
                          <a:latin typeface="Arial" panose="020B0604020202020204" pitchFamily="34" charset="0"/>
                        </a:rPr>
                        <a:t>São Bento do</a:t>
                      </a:r>
                      <a:r>
                        <a:rPr lang="pt-BR" sz="1100" b="0" i="0" u="none" strike="noStrike" baseline="0" dirty="0">
                          <a:solidFill>
                            <a:srgbClr val="000000"/>
                          </a:solidFill>
                          <a:effectLst/>
                          <a:latin typeface="Arial" panose="020B0604020202020204" pitchFamily="34" charset="0"/>
                        </a:rPr>
                        <a:t> Sul – SC </a:t>
                      </a:r>
                      <a:endParaRPr lang="pt-BR" sz="1100" b="0" i="0" u="none" strike="noStrike" dirty="0">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3"/>
          <p:cNvGrpSpPr/>
          <p:nvPr/>
        </p:nvGrpSpPr>
        <p:grpSpPr>
          <a:xfrm>
            <a:off x="460377" y="1072383"/>
            <a:ext cx="467840" cy="233920"/>
            <a:chOff x="0" y="0"/>
            <a:chExt cx="812800" cy="406400"/>
          </a:xfrm>
        </p:grpSpPr>
        <p:sp>
          <p:nvSpPr>
            <p:cNvPr id="14" name="Freeform 14"/>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727275"/>
            </a:solidFill>
          </p:spPr>
        </p:sp>
        <p:sp>
          <p:nvSpPr>
            <p:cNvPr id="15" name="TextBox 15"/>
            <p:cNvSpPr txBox="1"/>
            <p:nvPr/>
          </p:nvSpPr>
          <p:spPr>
            <a:xfrm>
              <a:off x="0" y="-28575"/>
              <a:ext cx="698500" cy="434975"/>
            </a:xfrm>
            <a:prstGeom prst="rect">
              <a:avLst/>
            </a:prstGeom>
          </p:spPr>
          <p:txBody>
            <a:bodyPr lIns="50800" tIns="50800" rIns="50800" bIns="50800" rtlCol="0" anchor="ctr"/>
            <a:lstStyle/>
            <a:p>
              <a:pPr algn="ctr">
                <a:lnSpc>
                  <a:spcPts val="1963"/>
                </a:lnSpc>
              </a:pPr>
              <a:endParaRPr dirty="0"/>
            </a:p>
          </p:txBody>
        </p:sp>
      </p:grpSp>
      <p:sp>
        <p:nvSpPr>
          <p:cNvPr id="16" name="Freeform 16"/>
          <p:cNvSpPr/>
          <p:nvPr/>
        </p:nvSpPr>
        <p:spPr>
          <a:xfrm>
            <a:off x="627503" y="4344490"/>
            <a:ext cx="163664" cy="249392"/>
          </a:xfrm>
          <a:custGeom>
            <a:avLst/>
            <a:gdLst/>
            <a:ahLst/>
            <a:cxnLst/>
            <a:rect l="l" t="t" r="r" b="b"/>
            <a:pathLst>
              <a:path w="163664" h="249392">
                <a:moveTo>
                  <a:pt x="0" y="0"/>
                </a:moveTo>
                <a:lnTo>
                  <a:pt x="163664" y="0"/>
                </a:lnTo>
                <a:lnTo>
                  <a:pt x="163664" y="249392"/>
                </a:lnTo>
                <a:lnTo>
                  <a:pt x="0" y="249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Freeform 17"/>
          <p:cNvSpPr/>
          <p:nvPr/>
        </p:nvSpPr>
        <p:spPr>
          <a:xfrm>
            <a:off x="627505" y="4799170"/>
            <a:ext cx="212583" cy="196462"/>
          </a:xfrm>
          <a:custGeom>
            <a:avLst/>
            <a:gdLst/>
            <a:ahLst/>
            <a:cxnLst/>
            <a:rect l="l" t="t" r="r" b="b"/>
            <a:pathLst>
              <a:path w="212583" h="196462">
                <a:moveTo>
                  <a:pt x="0" y="0"/>
                </a:moveTo>
                <a:lnTo>
                  <a:pt x="212583" y="0"/>
                </a:lnTo>
                <a:lnTo>
                  <a:pt x="212583" y="196462"/>
                </a:lnTo>
                <a:lnTo>
                  <a:pt x="0" y="19646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8" name="Freeform 18"/>
          <p:cNvSpPr/>
          <p:nvPr/>
        </p:nvSpPr>
        <p:spPr>
          <a:xfrm>
            <a:off x="3853719" y="4381761"/>
            <a:ext cx="163664" cy="249392"/>
          </a:xfrm>
          <a:custGeom>
            <a:avLst/>
            <a:gdLst/>
            <a:ahLst/>
            <a:cxnLst/>
            <a:rect l="l" t="t" r="r" b="b"/>
            <a:pathLst>
              <a:path w="163664" h="249392">
                <a:moveTo>
                  <a:pt x="0" y="0"/>
                </a:moveTo>
                <a:lnTo>
                  <a:pt x="163663" y="0"/>
                </a:lnTo>
                <a:lnTo>
                  <a:pt x="163663" y="249393"/>
                </a:lnTo>
                <a:lnTo>
                  <a:pt x="0" y="249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9" name="Freeform 19"/>
          <p:cNvSpPr/>
          <p:nvPr/>
        </p:nvSpPr>
        <p:spPr>
          <a:xfrm>
            <a:off x="3838353" y="4788364"/>
            <a:ext cx="212583" cy="196462"/>
          </a:xfrm>
          <a:custGeom>
            <a:avLst/>
            <a:gdLst/>
            <a:ahLst/>
            <a:cxnLst/>
            <a:rect l="l" t="t" r="r" b="b"/>
            <a:pathLst>
              <a:path w="212583" h="196462">
                <a:moveTo>
                  <a:pt x="0" y="0"/>
                </a:moveTo>
                <a:lnTo>
                  <a:pt x="212583" y="0"/>
                </a:lnTo>
                <a:lnTo>
                  <a:pt x="212583" y="196462"/>
                </a:lnTo>
                <a:lnTo>
                  <a:pt x="0" y="19646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0" name="AutoShape 20"/>
          <p:cNvSpPr/>
          <p:nvPr/>
        </p:nvSpPr>
        <p:spPr>
          <a:xfrm flipH="1" flipV="1">
            <a:off x="3696717" y="3744249"/>
            <a:ext cx="0" cy="1524421"/>
          </a:xfrm>
          <a:prstGeom prst="line">
            <a:avLst/>
          </a:prstGeom>
          <a:ln w="19050" cap="flat">
            <a:solidFill>
              <a:srgbClr val="000000"/>
            </a:solidFill>
            <a:prstDash val="solid"/>
            <a:headEnd type="none" w="sm" len="sm"/>
            <a:tailEnd type="none" w="sm" len="sm"/>
          </a:ln>
        </p:spPr>
      </p:sp>
      <p:sp>
        <p:nvSpPr>
          <p:cNvPr id="21" name="TextBox 21"/>
          <p:cNvSpPr txBox="1"/>
          <p:nvPr/>
        </p:nvSpPr>
        <p:spPr>
          <a:xfrm>
            <a:off x="1034174" y="1034285"/>
            <a:ext cx="4608974" cy="621027"/>
          </a:xfrm>
          <a:prstGeom prst="rect">
            <a:avLst/>
          </a:prstGeom>
        </p:spPr>
        <p:txBody>
          <a:bodyPr lIns="0" tIns="0" rIns="0" bIns="0" rtlCol="0" anchor="t">
            <a:spAutoFit/>
          </a:bodyPr>
          <a:lstStyle/>
          <a:p>
            <a:pPr>
              <a:lnSpc>
                <a:spcPts val="2520"/>
              </a:lnSpc>
            </a:pPr>
            <a:r>
              <a:rPr lang="en-US" b="1" dirty="0">
                <a:solidFill>
                  <a:srgbClr val="6F6F6F"/>
                </a:solidFill>
                <a:latin typeface="Montserrat Bold"/>
                <a:ea typeface="Montserrat Bold"/>
                <a:cs typeface="Montserrat Bold"/>
                <a:sym typeface="Montserrat Bold"/>
              </a:rPr>
              <a:t>À DISPOSIÇÃO</a:t>
            </a:r>
          </a:p>
          <a:p>
            <a:pPr>
              <a:lnSpc>
                <a:spcPts val="2520"/>
              </a:lnSpc>
            </a:pPr>
            <a:endParaRPr lang="en-US" b="1" dirty="0">
              <a:solidFill>
                <a:srgbClr val="6F6F6F"/>
              </a:solidFill>
              <a:latin typeface="Montserrat Bold"/>
              <a:ea typeface="Montserrat Bold"/>
              <a:cs typeface="Montserrat Bold"/>
              <a:sym typeface="Montserrat Bold"/>
            </a:endParaRPr>
          </a:p>
        </p:txBody>
      </p:sp>
      <p:sp>
        <p:nvSpPr>
          <p:cNvPr id="22" name="TextBox 22"/>
          <p:cNvSpPr txBox="1"/>
          <p:nvPr/>
        </p:nvSpPr>
        <p:spPr>
          <a:xfrm>
            <a:off x="509944" y="1636262"/>
            <a:ext cx="6128010" cy="1945597"/>
          </a:xfrm>
          <a:prstGeom prst="rect">
            <a:avLst/>
          </a:prstGeom>
        </p:spPr>
        <p:txBody>
          <a:bodyPr lIns="0" tIns="0" rIns="0" bIns="0" rtlCol="0" anchor="t">
            <a:spAutoFit/>
          </a:bodyPr>
          <a:lstStyle/>
          <a:p>
            <a:pPr algn="just">
              <a:lnSpc>
                <a:spcPts val="1679"/>
              </a:lnSpc>
            </a:pPr>
            <a:r>
              <a:rPr lang="en-US" sz="1200" dirty="0">
                <a:solidFill>
                  <a:srgbClr val="000000"/>
                </a:solidFill>
                <a:latin typeface="Montserrat"/>
                <a:ea typeface="Montserrat"/>
                <a:cs typeface="Montserrat"/>
                <a:sym typeface="Montserrat"/>
              </a:rPr>
              <a:t>A </a:t>
            </a:r>
            <a:r>
              <a:rPr lang="en-US" sz="1200" dirty="0" err="1">
                <a:solidFill>
                  <a:srgbClr val="000000"/>
                </a:solidFill>
                <a:latin typeface="Montserrat"/>
                <a:ea typeface="Montserrat"/>
                <a:cs typeface="Montserrat"/>
                <a:sym typeface="Montserrat"/>
              </a:rPr>
              <a:t>Evolução</a:t>
            </a:r>
            <a:r>
              <a:rPr lang="en-US" sz="1200">
                <a:solidFill>
                  <a:srgbClr val="000000"/>
                </a:solidFill>
                <a:latin typeface="Montserrat"/>
                <a:ea typeface="Montserrat"/>
                <a:cs typeface="Montserrat"/>
                <a:sym typeface="Montserrat"/>
              </a:rPr>
              <a:t> Compressores conta com equipe comercial e técnica altamente qualificada, para fornecimento de produtos, serviços e soluções no consumo de ar comprimido, assim aprimorando o consumo de energia elétrica, a produtividade e as operações dos clientes.</a:t>
            </a:r>
          </a:p>
          <a:p>
            <a:pPr algn="just">
              <a:lnSpc>
                <a:spcPts val="1679"/>
              </a:lnSpc>
            </a:pPr>
            <a:r>
              <a:rPr lang="en-US" sz="1200">
                <a:solidFill>
                  <a:srgbClr val="000000"/>
                </a:solidFill>
                <a:latin typeface="Montserrat"/>
                <a:ea typeface="Montserrat"/>
                <a:cs typeface="Montserrat"/>
                <a:sym typeface="Montserrat"/>
              </a:rPr>
              <a:t> Atualmente a Evolução Compressores conta com duas unidades, sendo uma em São Bento do Sul e outra em Joinville ambas no estado de Santa Catarina.</a:t>
            </a:r>
          </a:p>
          <a:p>
            <a:pPr algn="just">
              <a:lnSpc>
                <a:spcPts val="1679"/>
              </a:lnSpc>
            </a:pPr>
            <a:r>
              <a:rPr lang="en-US" sz="1200">
                <a:solidFill>
                  <a:srgbClr val="000000"/>
                </a:solidFill>
                <a:latin typeface="Montserrat"/>
                <a:ea typeface="Montserrat"/>
                <a:cs typeface="Montserrat"/>
                <a:sym typeface="Montserrat"/>
              </a:rPr>
              <a:t> Estamos no mercado há mais de 40 anos, oferecendo comprometimento, produtividade e inteligência nos negócios dos clientes.</a:t>
            </a:r>
          </a:p>
          <a:p>
            <a:pPr algn="just">
              <a:lnSpc>
                <a:spcPts val="1679"/>
              </a:lnSpc>
            </a:pPr>
            <a:endParaRPr lang="en-US" sz="1200">
              <a:solidFill>
                <a:srgbClr val="000000"/>
              </a:solidFill>
              <a:latin typeface="Montserrat"/>
              <a:ea typeface="Montserrat"/>
              <a:cs typeface="Montserrat"/>
              <a:sym typeface="Montserrat"/>
            </a:endParaRPr>
          </a:p>
        </p:txBody>
      </p:sp>
      <p:sp>
        <p:nvSpPr>
          <p:cNvPr id="23" name="TextBox 23"/>
          <p:cNvSpPr txBox="1"/>
          <p:nvPr/>
        </p:nvSpPr>
        <p:spPr>
          <a:xfrm>
            <a:off x="621417" y="3780412"/>
            <a:ext cx="2108245" cy="226024"/>
          </a:xfrm>
          <a:prstGeom prst="rect">
            <a:avLst/>
          </a:prstGeom>
        </p:spPr>
        <p:txBody>
          <a:bodyPr wrap="square" lIns="0" tIns="0" rIns="0" bIns="0" rtlCol="0" anchor="t">
            <a:spAutoFit/>
          </a:bodyPr>
          <a:lstStyle/>
          <a:p>
            <a:pPr algn="ctr">
              <a:lnSpc>
                <a:spcPts val="1913"/>
              </a:lnSpc>
            </a:pPr>
            <a:r>
              <a:rPr lang="en-US" sz="1367">
                <a:solidFill>
                  <a:srgbClr val="000000"/>
                </a:solidFill>
                <a:latin typeface="Montserrat"/>
                <a:ea typeface="Montserrat"/>
                <a:cs typeface="Montserrat"/>
                <a:sym typeface="Montserrat"/>
              </a:rPr>
              <a:t>Unidade de Joinville-SC</a:t>
            </a:r>
          </a:p>
        </p:txBody>
      </p:sp>
      <p:sp>
        <p:nvSpPr>
          <p:cNvPr id="24" name="TextBox 24"/>
          <p:cNvSpPr txBox="1"/>
          <p:nvPr/>
        </p:nvSpPr>
        <p:spPr>
          <a:xfrm>
            <a:off x="3870851" y="3744247"/>
            <a:ext cx="3042865" cy="226024"/>
          </a:xfrm>
          <a:prstGeom prst="rect">
            <a:avLst/>
          </a:prstGeom>
        </p:spPr>
        <p:txBody>
          <a:bodyPr wrap="square" lIns="0" tIns="0" rIns="0" bIns="0" rtlCol="0" anchor="t">
            <a:spAutoFit/>
          </a:bodyPr>
          <a:lstStyle/>
          <a:p>
            <a:pPr algn="ctr">
              <a:lnSpc>
                <a:spcPts val="1913"/>
              </a:lnSpc>
            </a:pPr>
            <a:r>
              <a:rPr lang="en-US" sz="1367">
                <a:solidFill>
                  <a:srgbClr val="000000"/>
                </a:solidFill>
                <a:latin typeface="Montserrat"/>
                <a:ea typeface="Montserrat"/>
                <a:cs typeface="Montserrat"/>
                <a:sym typeface="Montserrat"/>
              </a:rPr>
              <a:t>Unidade de São Bento do Sul - SC</a:t>
            </a:r>
          </a:p>
        </p:txBody>
      </p:sp>
      <p:sp>
        <p:nvSpPr>
          <p:cNvPr id="25" name="TextBox 25"/>
          <p:cNvSpPr txBox="1"/>
          <p:nvPr/>
        </p:nvSpPr>
        <p:spPr>
          <a:xfrm>
            <a:off x="928217" y="4402868"/>
            <a:ext cx="2704042" cy="191014"/>
          </a:xfrm>
          <a:prstGeom prst="rect">
            <a:avLst/>
          </a:prstGeom>
        </p:spPr>
        <p:txBody>
          <a:bodyPr wrap="square" lIns="0" tIns="0" rIns="0" bIns="0" rtlCol="0" anchor="t">
            <a:spAutoFit/>
          </a:bodyPr>
          <a:lstStyle/>
          <a:p>
            <a:pPr algn="ctr">
              <a:lnSpc>
                <a:spcPts val="1640"/>
              </a:lnSpc>
            </a:pPr>
            <a:r>
              <a:rPr lang="en-US" sz="1171">
                <a:solidFill>
                  <a:srgbClr val="000000"/>
                </a:solidFill>
                <a:latin typeface="Montserrat"/>
                <a:ea typeface="Montserrat"/>
                <a:cs typeface="Montserrat"/>
                <a:sym typeface="Montserrat"/>
              </a:rPr>
              <a:t>Rua dos suíços, 17210 - Costa e Silva</a:t>
            </a:r>
          </a:p>
        </p:txBody>
      </p:sp>
      <p:sp>
        <p:nvSpPr>
          <p:cNvPr id="26" name="TextBox 26"/>
          <p:cNvSpPr txBox="1"/>
          <p:nvPr/>
        </p:nvSpPr>
        <p:spPr>
          <a:xfrm>
            <a:off x="840088" y="4826015"/>
            <a:ext cx="1402232" cy="191014"/>
          </a:xfrm>
          <a:prstGeom prst="rect">
            <a:avLst/>
          </a:prstGeom>
        </p:spPr>
        <p:txBody>
          <a:bodyPr wrap="square" lIns="0" tIns="0" rIns="0" bIns="0" rtlCol="0" anchor="t">
            <a:spAutoFit/>
          </a:bodyPr>
          <a:lstStyle/>
          <a:p>
            <a:pPr algn="ctr">
              <a:lnSpc>
                <a:spcPts val="1640"/>
              </a:lnSpc>
            </a:pPr>
            <a:r>
              <a:rPr lang="en-US" sz="1171">
                <a:solidFill>
                  <a:srgbClr val="000000"/>
                </a:solidFill>
                <a:latin typeface="Montserrat"/>
                <a:ea typeface="Montserrat"/>
                <a:cs typeface="Montserrat"/>
                <a:sym typeface="Montserrat"/>
              </a:rPr>
              <a:t>(47) 3455-0337</a:t>
            </a:r>
          </a:p>
        </p:txBody>
      </p:sp>
      <p:sp>
        <p:nvSpPr>
          <p:cNvPr id="27" name="TextBox 27"/>
          <p:cNvSpPr txBox="1"/>
          <p:nvPr/>
        </p:nvSpPr>
        <p:spPr>
          <a:xfrm>
            <a:off x="4184286" y="4380331"/>
            <a:ext cx="2289067" cy="408035"/>
          </a:xfrm>
          <a:prstGeom prst="rect">
            <a:avLst/>
          </a:prstGeom>
        </p:spPr>
        <p:txBody>
          <a:bodyPr wrap="square" lIns="0" tIns="0" rIns="0" bIns="0" rtlCol="0" anchor="t">
            <a:spAutoFit/>
          </a:bodyPr>
          <a:lstStyle/>
          <a:p>
            <a:pPr algn="ctr">
              <a:lnSpc>
                <a:spcPts val="1640"/>
              </a:lnSpc>
            </a:pPr>
            <a:r>
              <a:rPr lang="en-US" sz="1171">
                <a:solidFill>
                  <a:srgbClr val="000000"/>
                </a:solidFill>
                <a:latin typeface="Montserrat"/>
                <a:ea typeface="Montserrat"/>
                <a:cs typeface="Montserrat"/>
                <a:sym typeface="Montserrat"/>
              </a:rPr>
              <a:t>Rua Pedro Robl, 13 - Colonial</a:t>
            </a:r>
          </a:p>
          <a:p>
            <a:pPr algn="ctr">
              <a:lnSpc>
                <a:spcPts val="1640"/>
              </a:lnSpc>
            </a:pPr>
            <a:endParaRPr lang="en-US" sz="1171">
              <a:solidFill>
                <a:srgbClr val="000000"/>
              </a:solidFill>
              <a:latin typeface="Montserrat"/>
              <a:ea typeface="Montserrat"/>
              <a:cs typeface="Montserrat"/>
              <a:sym typeface="Montserrat"/>
            </a:endParaRPr>
          </a:p>
        </p:txBody>
      </p:sp>
      <p:sp>
        <p:nvSpPr>
          <p:cNvPr id="28" name="TextBox 28"/>
          <p:cNvSpPr txBox="1"/>
          <p:nvPr/>
        </p:nvSpPr>
        <p:spPr>
          <a:xfrm>
            <a:off x="3984226" y="4740416"/>
            <a:ext cx="1590096" cy="396199"/>
          </a:xfrm>
          <a:prstGeom prst="rect">
            <a:avLst/>
          </a:prstGeom>
        </p:spPr>
        <p:txBody>
          <a:bodyPr wrap="square" lIns="0" tIns="0" rIns="0" bIns="0" rtlCol="0" anchor="t">
            <a:spAutoFit/>
          </a:bodyPr>
          <a:lstStyle/>
          <a:p>
            <a:pPr algn="ctr">
              <a:lnSpc>
                <a:spcPts val="1640"/>
              </a:lnSpc>
            </a:pPr>
            <a:r>
              <a:rPr lang="en-US" sz="1171">
                <a:solidFill>
                  <a:srgbClr val="000000"/>
                </a:solidFill>
                <a:latin typeface="Montserrat"/>
                <a:ea typeface="Montserrat"/>
                <a:cs typeface="Montserrat"/>
                <a:sym typeface="Montserrat"/>
              </a:rPr>
              <a:t>(47) 3635-0222</a:t>
            </a:r>
          </a:p>
          <a:p>
            <a:pPr algn="ctr">
              <a:lnSpc>
                <a:spcPts val="1640"/>
              </a:lnSpc>
            </a:pPr>
            <a:endParaRPr lang="en-US" sz="1171">
              <a:solidFill>
                <a:srgbClr val="000000"/>
              </a:solidFill>
              <a:latin typeface="Montserrat"/>
              <a:ea typeface="Montserrat"/>
              <a:cs typeface="Montserrat"/>
              <a:sym typeface="Montserrat"/>
            </a:endParaRPr>
          </a:p>
        </p:txBody>
      </p:sp>
      <p:sp>
        <p:nvSpPr>
          <p:cNvPr id="29" name="TextBox 29"/>
          <p:cNvSpPr txBox="1"/>
          <p:nvPr/>
        </p:nvSpPr>
        <p:spPr>
          <a:xfrm>
            <a:off x="675990" y="5963877"/>
            <a:ext cx="6128010" cy="855555"/>
          </a:xfrm>
          <a:prstGeom prst="rect">
            <a:avLst/>
          </a:prstGeom>
        </p:spPr>
        <p:txBody>
          <a:bodyPr lIns="0" tIns="0" rIns="0" bIns="0" rtlCol="0" anchor="t">
            <a:spAutoFit/>
          </a:bodyPr>
          <a:lstStyle/>
          <a:p>
            <a:pPr algn="just">
              <a:lnSpc>
                <a:spcPts val="1679"/>
              </a:lnSpc>
            </a:pPr>
            <a:r>
              <a:rPr lang="en-US" sz="1200">
                <a:solidFill>
                  <a:srgbClr val="000000"/>
                </a:solidFill>
                <a:latin typeface="Montserrat"/>
                <a:ea typeface="Montserrat"/>
                <a:cs typeface="Montserrat"/>
                <a:sym typeface="Montserrat"/>
              </a:rPr>
              <a:t>Agradecemos a oportunidade e vossa atenção à nossa proposta técnica e comercial referente a fornecimento de equipamentos para geração de ar comprimido.</a:t>
            </a:r>
          </a:p>
          <a:p>
            <a:pPr algn="just">
              <a:lnSpc>
                <a:spcPts val="1679"/>
              </a:lnSpc>
            </a:pPr>
            <a:endParaRPr lang="en-US" sz="1200">
              <a:solidFill>
                <a:srgbClr val="000000"/>
              </a:solidFill>
              <a:latin typeface="Montserrat"/>
              <a:ea typeface="Montserrat"/>
              <a:cs typeface="Montserrat"/>
              <a:sym typeface="Montserrat"/>
            </a:endParaRPr>
          </a:p>
        </p:txBody>
      </p:sp>
      <p:sp>
        <p:nvSpPr>
          <p:cNvPr id="30" name="TextBox 30"/>
          <p:cNvSpPr txBox="1"/>
          <p:nvPr/>
        </p:nvSpPr>
        <p:spPr>
          <a:xfrm>
            <a:off x="675990" y="6923997"/>
            <a:ext cx="6324722" cy="855427"/>
          </a:xfrm>
          <a:prstGeom prst="rect">
            <a:avLst/>
          </a:prstGeom>
        </p:spPr>
        <p:txBody>
          <a:bodyPr lIns="0" tIns="0" rIns="0" bIns="0" rtlCol="0" anchor="t">
            <a:spAutoFit/>
          </a:bodyPr>
          <a:lstStyle/>
          <a:p>
            <a:pPr>
              <a:lnSpc>
                <a:spcPts val="1675"/>
              </a:lnSpc>
            </a:pPr>
            <a:r>
              <a:rPr lang="en-US" sz="1196">
                <a:solidFill>
                  <a:srgbClr val="000000"/>
                </a:solidFill>
                <a:latin typeface="Montserrat Medium"/>
                <a:ea typeface="Montserrat Medium"/>
                <a:cs typeface="Montserrat Medium"/>
                <a:sym typeface="Montserrat Medium"/>
              </a:rPr>
              <a:t>Desde já ficamos à disposição para esclarecimentos de quaisquer dúvidas ou para o fornecimento de informações adicionais que se fizerem necessárias.</a:t>
            </a:r>
          </a:p>
          <a:p>
            <a:pPr>
              <a:lnSpc>
                <a:spcPts val="1675"/>
              </a:lnSpc>
            </a:pPr>
            <a:endParaRPr lang="en-US" sz="1196" b="1">
              <a:solidFill>
                <a:srgbClr val="000000"/>
              </a:solidFill>
              <a:latin typeface="Montserrat Medium"/>
              <a:ea typeface="Montserrat Medium"/>
              <a:cs typeface="Montserrat Medium"/>
              <a:sym typeface="Montserrat Medium"/>
            </a:endParaRPr>
          </a:p>
          <a:p>
            <a:pPr>
              <a:lnSpc>
                <a:spcPts val="1675"/>
              </a:lnSpc>
            </a:pPr>
            <a:endParaRPr lang="en-US" sz="1196" b="1">
              <a:solidFill>
                <a:srgbClr val="000000"/>
              </a:solidFill>
              <a:latin typeface="Montserrat Medium"/>
              <a:ea typeface="Montserrat Medium"/>
              <a:cs typeface="Montserrat Medium"/>
              <a:sym typeface="Montserrat Medium"/>
            </a:endParaRPr>
          </a:p>
        </p:txBody>
      </p:sp>
      <p:sp>
        <p:nvSpPr>
          <p:cNvPr id="31" name="TextBox 31"/>
          <p:cNvSpPr txBox="1"/>
          <p:nvPr/>
        </p:nvSpPr>
        <p:spPr>
          <a:xfrm>
            <a:off x="693027" y="7701685"/>
            <a:ext cx="6324722" cy="1509452"/>
          </a:xfrm>
          <a:prstGeom prst="rect">
            <a:avLst/>
          </a:prstGeom>
        </p:spPr>
        <p:txBody>
          <a:bodyPr lIns="0" tIns="0" rIns="0" bIns="0" rtlCol="0" anchor="t">
            <a:spAutoFit/>
          </a:bodyPr>
          <a:lstStyle/>
          <a:p>
            <a:pPr>
              <a:lnSpc>
                <a:spcPts val="1675"/>
              </a:lnSpc>
            </a:pPr>
            <a:r>
              <a:rPr lang="en-US" sz="1196">
                <a:solidFill>
                  <a:srgbClr val="000000"/>
                </a:solidFill>
                <a:latin typeface="Montserrat Medium"/>
                <a:ea typeface="Montserrat Medium"/>
                <a:cs typeface="Montserrat Medium"/>
                <a:sym typeface="Montserrat Medium"/>
              </a:rPr>
              <a:t>Atenciosamente,</a:t>
            </a:r>
          </a:p>
          <a:p>
            <a:pPr>
              <a:lnSpc>
                <a:spcPts val="1675"/>
              </a:lnSpc>
            </a:pPr>
            <a:endParaRPr lang="en-US" sz="1196">
              <a:solidFill>
                <a:srgbClr val="000000"/>
              </a:solidFill>
              <a:latin typeface="Montserrat Medium"/>
              <a:ea typeface="Montserrat Medium"/>
              <a:cs typeface="Montserrat Medium"/>
              <a:sym typeface="Montserrat Medium"/>
            </a:endParaRPr>
          </a:p>
          <a:p>
            <a:pPr>
              <a:lnSpc>
                <a:spcPts val="1675"/>
              </a:lnSpc>
            </a:pPr>
            <a:r>
              <a:rPr lang="en-US" sz="1196">
                <a:solidFill>
                  <a:srgbClr val="000000"/>
                </a:solidFill>
                <a:latin typeface="Montserrat Medium"/>
                <a:ea typeface="Montserrat Medium"/>
                <a:cs typeface="Montserrat Medium"/>
                <a:sym typeface="Montserrat Medium"/>
              </a:rPr>
              <a:t>Nome Sobrenome</a:t>
            </a:r>
          </a:p>
          <a:p>
            <a:pPr>
              <a:lnSpc>
                <a:spcPts val="1675"/>
              </a:lnSpc>
            </a:pPr>
            <a:r>
              <a:rPr lang="en-US" sz="1196">
                <a:solidFill>
                  <a:srgbClr val="000000"/>
                </a:solidFill>
                <a:latin typeface="Montserrat Medium"/>
                <a:ea typeface="Montserrat Medium"/>
                <a:cs typeface="Montserrat Medium"/>
                <a:sym typeface="Montserrat Medium"/>
              </a:rPr>
              <a:t>Consultor Técnico de Vendas</a:t>
            </a:r>
          </a:p>
          <a:p>
            <a:pPr>
              <a:lnSpc>
                <a:spcPts val="1675"/>
              </a:lnSpc>
            </a:pPr>
            <a:r>
              <a:rPr lang="en-US" sz="1196">
                <a:solidFill>
                  <a:srgbClr val="000000"/>
                </a:solidFill>
                <a:latin typeface="Montserrat Medium"/>
                <a:ea typeface="Montserrat Medium"/>
                <a:cs typeface="Montserrat Medium"/>
                <a:sym typeface="Montserrat Medium"/>
              </a:rPr>
              <a:t>     (47) 00000</a:t>
            </a:r>
          </a:p>
          <a:p>
            <a:pPr>
              <a:lnSpc>
                <a:spcPts val="1675"/>
              </a:lnSpc>
            </a:pPr>
            <a:r>
              <a:rPr lang="en-US" sz="1196" b="1" u="sng">
                <a:solidFill>
                  <a:srgbClr val="000000"/>
                </a:solidFill>
                <a:latin typeface="Montserrat Medium"/>
                <a:ea typeface="Montserrat Medium"/>
                <a:cs typeface="Montserrat Medium"/>
                <a:sym typeface="Montserrat Medium"/>
                <a:hlinkClick r:id="rId6" tooltip="mailto:tavares@evolucaocompressores.com.br"/>
              </a:rPr>
              <a:t>email@evolucaocompressores.com.br</a:t>
            </a:r>
            <a:r>
              <a:rPr lang="en-US" sz="1196" b="1">
                <a:solidFill>
                  <a:srgbClr val="000000"/>
                </a:solidFill>
                <a:latin typeface="Montserrat Medium"/>
                <a:ea typeface="Montserrat Medium"/>
                <a:cs typeface="Montserrat Medium"/>
                <a:sym typeface="Montserrat Medium"/>
              </a:rPr>
              <a:t> </a:t>
            </a:r>
          </a:p>
          <a:p>
            <a:pPr>
              <a:lnSpc>
                <a:spcPts val="1675"/>
              </a:lnSpc>
            </a:pPr>
            <a:endParaRPr lang="en-US" sz="1196" b="1">
              <a:solidFill>
                <a:srgbClr val="000000"/>
              </a:solidFill>
              <a:latin typeface="Montserrat Medium"/>
              <a:ea typeface="Montserrat Medium"/>
              <a:cs typeface="Montserrat Medium"/>
              <a:sym typeface="Montserrat Medium"/>
            </a:endParaRPr>
          </a:p>
        </p:txBody>
      </p:sp>
      <p:pic>
        <p:nvPicPr>
          <p:cNvPr id="36" name="Imagem 35">
            <a:extLst>
              <a:ext uri="{FF2B5EF4-FFF2-40B4-BE49-F238E27FC236}">
                <a16:creationId xmlns:a16="http://schemas.microsoft.com/office/drawing/2014/main" id="{D45A9AA0-0CD1-0BDD-757A-35EB2637447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64590" y="63341"/>
            <a:ext cx="7721090" cy="859247"/>
          </a:xfrm>
          <a:prstGeom prst="rect">
            <a:avLst/>
          </a:prstGeom>
        </p:spPr>
      </p:pic>
      <p:grpSp>
        <p:nvGrpSpPr>
          <p:cNvPr id="37" name="Group 8">
            <a:extLst>
              <a:ext uri="{FF2B5EF4-FFF2-40B4-BE49-F238E27FC236}">
                <a16:creationId xmlns:a16="http://schemas.microsoft.com/office/drawing/2014/main" id="{B759946D-2671-2B1B-C8CC-50F6CBEAA6EB}"/>
              </a:ext>
            </a:extLst>
          </p:cNvPr>
          <p:cNvGrpSpPr/>
          <p:nvPr/>
        </p:nvGrpSpPr>
        <p:grpSpPr>
          <a:xfrm>
            <a:off x="26701" y="10531095"/>
            <a:ext cx="7556500" cy="231978"/>
            <a:chOff x="0" y="0"/>
            <a:chExt cx="3047987" cy="131886"/>
          </a:xfrm>
        </p:grpSpPr>
        <p:sp>
          <p:nvSpPr>
            <p:cNvPr id="38" name="Freeform 9">
              <a:extLst>
                <a:ext uri="{FF2B5EF4-FFF2-40B4-BE49-F238E27FC236}">
                  <a16:creationId xmlns:a16="http://schemas.microsoft.com/office/drawing/2014/main" id="{3F618C73-BA98-2F9D-BA3F-38F966DD3ECA}"/>
                </a:ext>
              </a:extLst>
            </p:cNvPr>
            <p:cNvSpPr/>
            <p:nvPr/>
          </p:nvSpPr>
          <p:spPr>
            <a:xfrm>
              <a:off x="0" y="0"/>
              <a:ext cx="3047987" cy="131886"/>
            </a:xfrm>
            <a:custGeom>
              <a:avLst/>
              <a:gdLst/>
              <a:ahLst/>
              <a:cxnLst/>
              <a:rect l="l" t="t" r="r" b="b"/>
              <a:pathLst>
                <a:path w="3047987" h="131886">
                  <a:moveTo>
                    <a:pt x="0" y="0"/>
                  </a:moveTo>
                  <a:lnTo>
                    <a:pt x="3047987" y="0"/>
                  </a:lnTo>
                  <a:lnTo>
                    <a:pt x="3047987" y="131886"/>
                  </a:lnTo>
                  <a:lnTo>
                    <a:pt x="0" y="131886"/>
                  </a:lnTo>
                  <a:close/>
                </a:path>
              </a:pathLst>
            </a:custGeom>
            <a:solidFill>
              <a:srgbClr val="8B8A88"/>
            </a:solidFill>
          </p:spPr>
        </p:sp>
        <p:sp>
          <p:nvSpPr>
            <p:cNvPr id="39" name="TextBox 10">
              <a:extLst>
                <a:ext uri="{FF2B5EF4-FFF2-40B4-BE49-F238E27FC236}">
                  <a16:creationId xmlns:a16="http://schemas.microsoft.com/office/drawing/2014/main" id="{2D11CBD2-039E-6F1D-9F41-91A7C684FE1A}"/>
                </a:ext>
              </a:extLst>
            </p:cNvPr>
            <p:cNvSpPr txBox="1"/>
            <p:nvPr/>
          </p:nvSpPr>
          <p:spPr>
            <a:xfrm>
              <a:off x="0" y="-38100"/>
              <a:ext cx="3047987" cy="169986"/>
            </a:xfrm>
            <a:prstGeom prst="rect">
              <a:avLst/>
            </a:prstGeom>
          </p:spPr>
          <p:txBody>
            <a:bodyPr lIns="45156" tIns="45156" rIns="45156" bIns="45156" rtlCol="0" anchor="ctr"/>
            <a:lstStyle/>
            <a:p>
              <a:pPr algn="ctr">
                <a:lnSpc>
                  <a:spcPts val="2140"/>
                </a:lnSpc>
              </a:pPr>
              <a:endParaRPr/>
            </a:p>
          </p:txBody>
        </p:sp>
      </p:grpSp>
      <p:pic>
        <p:nvPicPr>
          <p:cNvPr id="7" name="Imagem 6">
            <a:hlinkClick r:id="rId8" tooltip="Visite nosso website"/>
            <a:extLst>
              <a:ext uri="{FF2B5EF4-FFF2-40B4-BE49-F238E27FC236}">
                <a16:creationId xmlns:a16="http://schemas.microsoft.com/office/drawing/2014/main" id="{3D93D68E-F970-3A63-356E-0A543889E4FE}"/>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199687" y="9761546"/>
            <a:ext cx="655158" cy="655158"/>
          </a:xfrm>
          <a:prstGeom prst="rect">
            <a:avLst/>
          </a:prstGeom>
        </p:spPr>
      </p:pic>
      <p:pic>
        <p:nvPicPr>
          <p:cNvPr id="8" name="Imagem 7">
            <a:hlinkClick r:id="rId10" tooltip="Vídeo Institucional"/>
            <a:extLst>
              <a:ext uri="{FF2B5EF4-FFF2-40B4-BE49-F238E27FC236}">
                <a16:creationId xmlns:a16="http://schemas.microsoft.com/office/drawing/2014/main" id="{B545C0BC-B736-AF42-57B1-CB0C4C7F84AE}"/>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973215" y="10060228"/>
            <a:ext cx="369574" cy="335547"/>
          </a:xfrm>
          <a:prstGeom prst="rect">
            <a:avLst/>
          </a:prstGeom>
        </p:spPr>
      </p:pic>
      <p:pic>
        <p:nvPicPr>
          <p:cNvPr id="9" name="Imagem 8">
            <a:hlinkClick r:id="rId12"/>
            <a:extLst>
              <a:ext uri="{FF2B5EF4-FFF2-40B4-BE49-F238E27FC236}">
                <a16:creationId xmlns:a16="http://schemas.microsoft.com/office/drawing/2014/main" id="{9AFDA374-F51B-23A7-3BB7-D2A9736D0F69}"/>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458590" y="10045516"/>
            <a:ext cx="322849" cy="322849"/>
          </a:xfrm>
          <a:prstGeom prst="rect">
            <a:avLst/>
          </a:prstGeom>
        </p:spPr>
      </p:pic>
      <p:pic>
        <p:nvPicPr>
          <p:cNvPr id="10" name="Imagem 9">
            <a:hlinkClick r:id="rId14"/>
            <a:extLst>
              <a:ext uri="{FF2B5EF4-FFF2-40B4-BE49-F238E27FC236}">
                <a16:creationId xmlns:a16="http://schemas.microsoft.com/office/drawing/2014/main" id="{C0F489C3-0DFE-8CA1-6C5E-63B8C333C477}"/>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5865147" y="10038107"/>
            <a:ext cx="322849" cy="322849"/>
          </a:xfrm>
          <a:prstGeom prst="rect">
            <a:avLst/>
          </a:prstGeom>
        </p:spPr>
      </p:pic>
      <p:pic>
        <p:nvPicPr>
          <p:cNvPr id="12" name="Imagem 11">
            <a:hlinkClick r:id="rId16"/>
            <a:extLst>
              <a:ext uri="{FF2B5EF4-FFF2-40B4-BE49-F238E27FC236}">
                <a16:creationId xmlns:a16="http://schemas.microsoft.com/office/drawing/2014/main" id="{EA39E9B4-DCD7-3E8E-9AE1-4191CEDEEB26}"/>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6311250" y="10034002"/>
            <a:ext cx="322849" cy="322849"/>
          </a:xfrm>
          <a:prstGeom prst="rect">
            <a:avLst/>
          </a:prstGeom>
        </p:spPr>
      </p:pic>
      <p:pic>
        <p:nvPicPr>
          <p:cNvPr id="32" name="Imagem 31">
            <a:hlinkClick r:id="rId18"/>
            <a:extLst>
              <a:ext uri="{FF2B5EF4-FFF2-40B4-BE49-F238E27FC236}">
                <a16:creationId xmlns:a16="http://schemas.microsoft.com/office/drawing/2014/main" id="{1B9010D1-8235-DB82-C61C-8E5382E7B5D0}"/>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6691247" y="10051919"/>
            <a:ext cx="341088" cy="341088"/>
          </a:xfrm>
          <a:prstGeom prst="rect">
            <a:avLst/>
          </a:prstGeom>
        </p:spPr>
      </p:pic>
      <p:sp>
        <p:nvSpPr>
          <p:cNvPr id="34" name="CaixaDeTexto 33">
            <a:extLst>
              <a:ext uri="{FF2B5EF4-FFF2-40B4-BE49-F238E27FC236}">
                <a16:creationId xmlns:a16="http://schemas.microsoft.com/office/drawing/2014/main" id="{2DF0720F-3AF5-E59C-4B39-22150649A395}"/>
              </a:ext>
            </a:extLst>
          </p:cNvPr>
          <p:cNvSpPr txBox="1"/>
          <p:nvPr/>
        </p:nvSpPr>
        <p:spPr>
          <a:xfrm>
            <a:off x="4184286" y="9468276"/>
            <a:ext cx="3873500" cy="307777"/>
          </a:xfrm>
          <a:prstGeom prst="rect">
            <a:avLst/>
          </a:prstGeom>
          <a:noFill/>
        </p:spPr>
        <p:txBody>
          <a:bodyPr wrap="square">
            <a:spAutoFit/>
          </a:bodyPr>
          <a:lstStyle/>
          <a:p>
            <a:r>
              <a:rPr lang="pt-BR" sz="1400" b="1">
                <a:latin typeface="Montserrat" panose="00000500000000000000" pitchFamily="2" charset="0"/>
                <a:cs typeface="Aharoni" panose="02010803020104030203" pitchFamily="2" charset="-79"/>
              </a:rPr>
              <a:t>Conecte-se com a gente:</a:t>
            </a:r>
            <a:endParaRPr lang="pt-BR" sz="1400" b="1" dirty="0">
              <a:latin typeface="Montserrat" panose="00000500000000000000" pitchFamily="2" charset="0"/>
              <a:cs typeface="Aharoni" panose="02010803020104030203" pitchFamily="2" charset="-79"/>
            </a:endParaRPr>
          </a:p>
        </p:txBody>
      </p:sp>
      <p:pic>
        <p:nvPicPr>
          <p:cNvPr id="2" name="Imagem 1">
            <a:extLst>
              <a:ext uri="{FF2B5EF4-FFF2-40B4-BE49-F238E27FC236}">
                <a16:creationId xmlns:a16="http://schemas.microsoft.com/office/drawing/2014/main" id="{3D76C49F-4A2D-67F8-E7BC-A1DEDEE423DC}"/>
              </a:ext>
            </a:extLst>
          </p:cNvPr>
          <p:cNvPicPr>
            <a:picLocks noChangeAspect="1"/>
          </p:cNvPicPr>
          <p:nvPr/>
        </p:nvPicPr>
        <p:blipFill>
          <a:blip r:embed="rId20"/>
          <a:stretch>
            <a:fillRect/>
          </a:stretch>
        </p:blipFill>
        <p:spPr>
          <a:xfrm>
            <a:off x="460377" y="9896229"/>
            <a:ext cx="2152650" cy="4476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2797</TotalTime>
  <Words>1225</Words>
  <Application>Microsoft Office PowerPoint</Application>
  <PresentationFormat>Personalizar</PresentationFormat>
  <Paragraphs>205</Paragraphs>
  <Slides>10</Slides>
  <Notes>0</Notes>
  <HiddenSlides>0</HiddenSlides>
  <MMClips>0</MMClips>
  <ScaleCrop>false</ScaleCrop>
  <HeadingPairs>
    <vt:vector size="6" baseType="variant">
      <vt:variant>
        <vt:lpstr>Fontes usadas</vt:lpstr>
      </vt:variant>
      <vt:variant>
        <vt:i4>10</vt:i4>
      </vt:variant>
      <vt:variant>
        <vt:lpstr>Tema</vt:lpstr>
      </vt:variant>
      <vt:variant>
        <vt:i4>1</vt:i4>
      </vt:variant>
      <vt:variant>
        <vt:lpstr>Títulos de slides</vt:lpstr>
      </vt:variant>
      <vt:variant>
        <vt:i4>10</vt:i4>
      </vt:variant>
    </vt:vector>
  </HeadingPairs>
  <TitlesOfParts>
    <vt:vector size="21" baseType="lpstr">
      <vt:lpstr>Montserrat</vt:lpstr>
      <vt:lpstr>Montserrat Bold</vt:lpstr>
      <vt:lpstr>Montserrat Ultra-Bold</vt:lpstr>
      <vt:lpstr>Aptos</vt:lpstr>
      <vt:lpstr>Neue Montreal</vt:lpstr>
      <vt:lpstr>Wingdings</vt:lpstr>
      <vt:lpstr>Calibri</vt:lpstr>
      <vt:lpstr>Open Sans</vt:lpstr>
      <vt:lpstr>Montserrat Medium</vt:lpstr>
      <vt:lpstr>Arial</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Proposta Linha -E</dc:title>
  <dc:creator>EvolucaoCompressores</dc:creator>
  <cp:lastModifiedBy>Kamille Silveira</cp:lastModifiedBy>
  <cp:revision>36</cp:revision>
  <cp:lastPrinted>2025-08-20T12:01:41Z</cp:lastPrinted>
  <dcterms:created xsi:type="dcterms:W3CDTF">2006-08-16T00:00:00Z</dcterms:created>
  <dcterms:modified xsi:type="dcterms:W3CDTF">2025-09-12T12:54:45Z</dcterms:modified>
  <dc:identifier>DAGwijnfSlk</dc:identifier>
</cp:coreProperties>
</file>