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1" r:id="rId3"/>
    <p:sldId id="284" r:id="rId4"/>
    <p:sldId id="282" r:id="rId5"/>
    <p:sldId id="285" r:id="rId6"/>
    <p:sldId id="287" r:id="rId7"/>
    <p:sldId id="286" r:id="rId8"/>
    <p:sldId id="277" r:id="rId9"/>
    <p:sldId id="279" r:id="rId10"/>
  </p:sldIdLst>
  <p:sldSz cx="7556500" cy="10693400"/>
  <p:notesSz cx="6797675" cy="992505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Montserrat Bold" panose="00000800000000000000" charset="0"/>
      <p:regular r:id="rId17"/>
      <p:bold r:id="rId18"/>
    </p:embeddedFont>
    <p:embeddedFont>
      <p:font typeface="Montserrat Medium" panose="00000600000000000000" pitchFamily="2" charset="0"/>
      <p:regular r:id="rId19"/>
      <p:italic r:id="rId20"/>
    </p:embeddedFont>
    <p:embeddedFont>
      <p:font typeface="Montserrat Ultra-Bold" panose="020B0604020202020204" charset="0"/>
      <p:regular r:id="rId21"/>
    </p:embeddedFont>
    <p:embeddedFont>
      <p:font typeface="Noto Sans Symbols" panose="020B0604020202020204" charset="0"/>
      <p:regular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Tahoma" panose="020B0604030504040204" pitchFamily="34" charset="0"/>
      <p:regular r:id="rId27"/>
      <p:bold r:id="rId28"/>
    </p:embeddedFont>
    <p:embeddedFont>
      <p:font typeface="Trebuchet MS" panose="020B0603020202020204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322" autoAdjust="0"/>
  </p:normalViewPr>
  <p:slideViewPr>
    <p:cSldViewPr>
      <p:cViewPr varScale="1">
        <p:scale>
          <a:sx n="50" d="100"/>
          <a:sy n="50" d="100"/>
        </p:scale>
        <p:origin x="2635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53" d="100"/>
          <a:sy n="53" d="100"/>
        </p:scale>
        <p:origin x="25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8AE6E75-3963-358C-A73B-9402468FF9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2F854B-2621-EBBB-CE73-09A4CE0E5B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78E1D-67DD-4E8C-88DC-F4D6FD930920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6E5410-A1BE-B047-3F91-1BA665B980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148F886-C3DA-2757-9543-221935C257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BC10D-DFA5-4BF4-A947-533D8B255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0954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86573-8530-45A5-A38F-2574AED3FDB8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39838"/>
            <a:ext cx="236537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51DBA-812A-4523-B99E-697B9AE51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58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jpg"/><Relationship Id="rId12" Type="http://schemas.openxmlformats.org/officeDocument/2006/relationships/image" Target="../media/image28.jpg"/><Relationship Id="rId17" Type="http://schemas.openxmlformats.org/officeDocument/2006/relationships/image" Target="../media/image13.png"/><Relationship Id="rId2" Type="http://schemas.openxmlformats.org/officeDocument/2006/relationships/image" Target="../media/image18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g"/><Relationship Id="rId11" Type="http://schemas.openxmlformats.org/officeDocument/2006/relationships/image" Target="../media/image27.jp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jp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mailto:comercial@evolucaocompressores.com.br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4.svg"/><Relationship Id="rId7" Type="http://schemas.openxmlformats.org/officeDocument/2006/relationships/image" Target="../media/image17.png"/><Relationship Id="rId12" Type="http://schemas.openxmlformats.org/officeDocument/2006/relationships/image" Target="../media/image39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tavares@evolucaocompressores.com.br" TargetMode="External"/><Relationship Id="rId11" Type="http://schemas.openxmlformats.org/officeDocument/2006/relationships/image" Target="../media/image38.png"/><Relationship Id="rId5" Type="http://schemas.openxmlformats.org/officeDocument/2006/relationships/image" Target="../media/image36.svg"/><Relationship Id="rId10" Type="http://schemas.openxmlformats.org/officeDocument/2006/relationships/hyperlink" Target="https://askmebr.com/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964360" y="6759292"/>
            <a:ext cx="3476738" cy="69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1972" b="1" dirty="0">
                <a:solidFill>
                  <a:srgbClr val="43434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NOME DA EMPRESA</a:t>
            </a:r>
          </a:p>
          <a:p>
            <a:pPr algn="ctr">
              <a:lnSpc>
                <a:spcPts val="2761"/>
              </a:lnSpc>
            </a:pPr>
            <a:r>
              <a:rPr lang="en-US" sz="1972" b="1" dirty="0" err="1">
                <a:solidFill>
                  <a:srgbClr val="43434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Cidade</a:t>
            </a:r>
            <a:r>
              <a:rPr lang="en-US" sz="1972" b="1">
                <a:solidFill>
                  <a:srgbClr val="43434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 - UF</a:t>
            </a:r>
            <a:endParaRPr lang="en-US" sz="1972" b="1" dirty="0">
              <a:solidFill>
                <a:srgbClr val="434343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080934" y="7845522"/>
            <a:ext cx="3049937" cy="11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5"/>
              </a:lnSpc>
            </a:pPr>
            <a:r>
              <a:rPr lang="en-US" sz="1597" dirty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Aos </a:t>
            </a:r>
            <a:r>
              <a:rPr lang="en-US" sz="1597" dirty="0" err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cuidados</a:t>
            </a:r>
            <a:r>
              <a:rPr lang="en-US" sz="1597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</a:p>
          <a:p>
            <a:pPr>
              <a:lnSpc>
                <a:spcPts val="2235"/>
              </a:lnSpc>
            </a:pPr>
            <a:r>
              <a:rPr lang="en-US" sz="1597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Sr. ******</a:t>
            </a:r>
          </a:p>
          <a:p>
            <a:pPr>
              <a:lnSpc>
                <a:spcPts val="2235"/>
              </a:lnSpc>
            </a:pPr>
            <a:r>
              <a:rPr lang="en-US" sz="1597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(47) *******</a:t>
            </a:r>
          </a:p>
          <a:p>
            <a:pPr>
              <a:lnSpc>
                <a:spcPts val="2235"/>
              </a:lnSpc>
            </a:pPr>
            <a:r>
              <a:rPr lang="en-US" sz="1597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E-MAIL@EMAIL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79664" y="9912666"/>
            <a:ext cx="2407677" cy="27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5"/>
              </a:lnSpc>
            </a:pPr>
            <a:r>
              <a:rPr lang="en-US" sz="1597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Jlle, dia ** de *** de ****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4CF80D1-A886-E520-AA6F-9C9C4CD43D0E}"/>
              </a:ext>
            </a:extLst>
          </p:cNvPr>
          <p:cNvSpPr txBox="1"/>
          <p:nvPr/>
        </p:nvSpPr>
        <p:spPr>
          <a:xfrm>
            <a:off x="2697106" y="5936156"/>
            <a:ext cx="2407677" cy="2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5"/>
              </a:lnSpc>
            </a:pPr>
            <a:r>
              <a:rPr lang="en-US" sz="2400" b="1">
                <a:solidFill>
                  <a:schemeClr val="bg1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N°</a:t>
            </a: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5D50490C-1DB4-0134-79A3-3CE6E50BA5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608" y="9844576"/>
            <a:ext cx="940311" cy="940311"/>
          </a:xfrm>
          <a:prstGeom prst="rect">
            <a:avLst/>
          </a:prstGeom>
        </p:spPr>
      </p:pic>
      <p:pic>
        <p:nvPicPr>
          <p:cNvPr id="16" name="Imagem 15" descr="Uma imagem contendo mesa, segurando, azul&#10;&#10;O conteúdo gerado por IA pode estar incorreto.">
            <a:extLst>
              <a:ext uri="{FF2B5EF4-FFF2-40B4-BE49-F238E27FC236}">
                <a16:creationId xmlns:a16="http://schemas.microsoft.com/office/drawing/2014/main" id="{ECA16A16-58FC-1F97-483E-8C009F2BA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" r="49864" b="1520"/>
          <a:stretch>
            <a:fillRect/>
          </a:stretch>
        </p:blipFill>
        <p:spPr>
          <a:xfrm>
            <a:off x="-1270" y="0"/>
            <a:ext cx="3727347" cy="10690759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F7E534DB-8ED4-090F-4071-0F4DAA49B019}"/>
              </a:ext>
            </a:extLst>
          </p:cNvPr>
          <p:cNvSpPr/>
          <p:nvPr/>
        </p:nvSpPr>
        <p:spPr>
          <a:xfrm>
            <a:off x="0" y="4313463"/>
            <a:ext cx="7556500" cy="2034515"/>
          </a:xfrm>
          <a:custGeom>
            <a:avLst/>
            <a:gdLst/>
            <a:ahLst/>
            <a:cxnLst/>
            <a:rect l="l" t="t" r="r" b="b"/>
            <a:pathLst>
              <a:path w="3563809" h="802421">
                <a:moveTo>
                  <a:pt x="0" y="0"/>
                </a:moveTo>
                <a:lnTo>
                  <a:pt x="3563809" y="0"/>
                </a:lnTo>
                <a:lnTo>
                  <a:pt x="3563809" y="802421"/>
                </a:lnTo>
                <a:lnTo>
                  <a:pt x="0" y="802421"/>
                </a:lnTo>
                <a:close/>
              </a:path>
            </a:pathLst>
          </a:custGeom>
          <a:solidFill>
            <a:srgbClr val="434343">
              <a:alpha val="42745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6A66F5C-15CF-4F9F-1AC4-8BA2051D244C}"/>
              </a:ext>
            </a:extLst>
          </p:cNvPr>
          <p:cNvSpPr txBox="1"/>
          <p:nvPr/>
        </p:nvSpPr>
        <p:spPr>
          <a:xfrm>
            <a:off x="-542290" y="4523935"/>
            <a:ext cx="864108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000" b="1">
                <a:solidFill>
                  <a:schemeClr val="bg1"/>
                </a:solidFill>
                <a:latin typeface="Montserrat Ultra-Bold"/>
                <a:ea typeface="Neue Montreal"/>
                <a:cs typeface="Neue Montreal"/>
                <a:sym typeface="Neue Montreal"/>
              </a:rPr>
              <a:t>SEPARADOR DE CONDENSADO</a:t>
            </a:r>
            <a:endParaRPr lang="en-US" sz="6600" b="1">
              <a:solidFill>
                <a:schemeClr val="bg1"/>
              </a:solidFill>
              <a:latin typeface="Montserrat" panose="00000500000000000000" pitchFamily="2" charset="0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F16F4B2-9CDC-2F9B-6DD2-7D87A61CA1E7}"/>
              </a:ext>
            </a:extLst>
          </p:cNvPr>
          <p:cNvSpPr txBox="1"/>
          <p:nvPr/>
        </p:nvSpPr>
        <p:spPr>
          <a:xfrm>
            <a:off x="2522238" y="6046245"/>
            <a:ext cx="2407677" cy="2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5"/>
              </a:lnSpc>
            </a:pPr>
            <a:r>
              <a:rPr lang="en-US" sz="2400" b="1">
                <a:solidFill>
                  <a:schemeClr val="bg1"/>
                </a:solidFill>
                <a:latin typeface="Montserrat" panose="00000500000000000000" pitchFamily="2" charset="0"/>
                <a:ea typeface="Open Sans"/>
                <a:cs typeface="Open Sans"/>
                <a:sym typeface="Open Sans"/>
              </a:rPr>
              <a:t>N°</a:t>
            </a:r>
          </a:p>
        </p:txBody>
      </p:sp>
      <p:pic>
        <p:nvPicPr>
          <p:cNvPr id="3" name="Imagem 2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E8EF50-B8EF-140F-3BDE-5BF1A945A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338" y="241300"/>
            <a:ext cx="1384006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35836" y="1549993"/>
            <a:ext cx="374337" cy="187168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31615" y="1509306"/>
            <a:ext cx="6170737" cy="243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1600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ASK.ME SOLUÇÕES EM AR COMPRIMIDO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C78B351-CD0A-AED9-7AD2-D547705F88E5}"/>
              </a:ext>
            </a:extLst>
          </p:cNvPr>
          <p:cNvSpPr txBox="1"/>
          <p:nvPr/>
        </p:nvSpPr>
        <p:spPr>
          <a:xfrm>
            <a:off x="373790" y="1993544"/>
            <a:ext cx="67684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Criamos soluções conectando usuário, equipamento e especialista.</a:t>
            </a:r>
            <a:endParaRPr lang="pt-BR" sz="1200">
              <a:latin typeface="Montserrat" panose="00000500000000000000" pitchFamily="2" charset="0"/>
            </a:endParaRP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5DF622FB-037B-96E1-B212-1DE05B27D409}"/>
              </a:ext>
            </a:extLst>
          </p:cNvPr>
          <p:cNvCxnSpPr/>
          <p:nvPr/>
        </p:nvCxnSpPr>
        <p:spPr>
          <a:xfrm>
            <a:off x="-3500" y="10299700"/>
            <a:ext cx="538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4ED8CEE-DF15-40BC-9D7F-85EB0916F27E}"/>
              </a:ext>
            </a:extLst>
          </p:cNvPr>
          <p:cNvSpPr txBox="1"/>
          <p:nvPr/>
        </p:nvSpPr>
        <p:spPr>
          <a:xfrm>
            <a:off x="446253" y="2539129"/>
            <a:ext cx="6075197" cy="200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Trabalhamos com soluções diversas para o ramo do ar comprimido, oferecemos:</a:t>
            </a:r>
            <a:endParaRPr lang="pt-BR" sz="1200">
              <a:latin typeface="Montserrat" panose="00000500000000000000" pitchFamily="2" charset="0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Sistema de monitoramento remoto;</a:t>
            </a:r>
            <a:endParaRPr lang="pt-BR" sz="1200">
              <a:latin typeface="Montserrat" panose="00000500000000000000" pitchFamily="2" charset="0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Assistência técnica remota;</a:t>
            </a:r>
            <a:endParaRPr lang="pt-BR" sz="1200">
              <a:latin typeface="Montserrat" panose="00000500000000000000" pitchFamily="2" charset="0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Soluções em tratamentos de condensado;</a:t>
            </a:r>
            <a:endParaRPr lang="pt-BR" sz="1200">
              <a:latin typeface="Montserrat" panose="00000500000000000000" pitchFamily="2" charset="0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Locação de centrais de geração de ar comprimido;</a:t>
            </a:r>
            <a:endParaRPr lang="pt-BR" sz="1200">
              <a:latin typeface="Montserrat" panose="00000500000000000000" pitchFamily="2" charset="0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Aplicativo de arvore de falha e gestão para seu compressor de ar.</a:t>
            </a:r>
            <a:endParaRPr lang="pt-BR" sz="1200" b="0" i="0" u="none" strike="noStrike" cap="none" dirty="0">
              <a:solidFill>
                <a:srgbClr val="000000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113;p15">
            <a:extLst>
              <a:ext uri="{FF2B5EF4-FFF2-40B4-BE49-F238E27FC236}">
                <a16:creationId xmlns:a16="http://schemas.microsoft.com/office/drawing/2014/main" id="{DBD095FD-58AF-2EF6-5463-D44CF443F6B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964" y="5525604"/>
            <a:ext cx="1705439" cy="66460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BB805506-F27F-498D-90E4-58C1C9300F05}"/>
              </a:ext>
            </a:extLst>
          </p:cNvPr>
          <p:cNvSpPr txBox="1"/>
          <p:nvPr/>
        </p:nvSpPr>
        <p:spPr>
          <a:xfrm>
            <a:off x="2567534" y="5525604"/>
            <a:ext cx="4591174" cy="70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Airtouch</a:t>
            </a:r>
            <a:r>
              <a:rPr lang="pt-BR" sz="140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, sistema de monitoramento remoto para sua central de ar comprimido.</a:t>
            </a:r>
            <a:endParaRPr lang="pt-BR" sz="1400">
              <a:latin typeface="Montserrat" panose="00000500000000000000" pitchFamily="2" charset="0"/>
            </a:endParaRPr>
          </a:p>
        </p:txBody>
      </p:sp>
      <p:pic>
        <p:nvPicPr>
          <p:cNvPr id="27" name="Google Shape;114;p15">
            <a:extLst>
              <a:ext uri="{FF2B5EF4-FFF2-40B4-BE49-F238E27FC236}">
                <a16:creationId xmlns:a16="http://schemas.microsoft.com/office/drawing/2014/main" id="{EA0DEF07-2A2F-817F-50AA-D66B1D3820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253" y="6977014"/>
            <a:ext cx="1884198" cy="65568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D9D42437-53CF-C8CE-EFA8-E6B11DDC4EFB}"/>
              </a:ext>
            </a:extLst>
          </p:cNvPr>
          <p:cNvSpPr txBox="1"/>
          <p:nvPr/>
        </p:nvSpPr>
        <p:spPr>
          <a:xfrm>
            <a:off x="2581504" y="6930451"/>
            <a:ext cx="4591174" cy="70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Central Controller, </a:t>
            </a:r>
            <a:r>
              <a:rPr lang="pt-BR" sz="140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técnico especialista em compressor de ar de forma remota.</a:t>
            </a:r>
            <a:endParaRPr lang="pt-BR" sz="1400">
              <a:latin typeface="Montserrat" panose="00000500000000000000" pitchFamily="2" charset="0"/>
            </a:endParaRPr>
          </a:p>
        </p:txBody>
      </p:sp>
      <p:pic>
        <p:nvPicPr>
          <p:cNvPr id="37" name="Google Shape;115;p15">
            <a:extLst>
              <a:ext uri="{FF2B5EF4-FFF2-40B4-BE49-F238E27FC236}">
                <a16:creationId xmlns:a16="http://schemas.microsoft.com/office/drawing/2014/main" id="{A1579B61-01DD-2762-8639-D9E4D1C653C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9914" y="8166077"/>
            <a:ext cx="1412489" cy="103070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CaixaDeTexto 38">
            <a:extLst>
              <a:ext uri="{FF2B5EF4-FFF2-40B4-BE49-F238E27FC236}">
                <a16:creationId xmlns:a16="http://schemas.microsoft.com/office/drawing/2014/main" id="{F6B476F1-E3C1-723B-7E23-1A159F11E707}"/>
              </a:ext>
            </a:extLst>
          </p:cNvPr>
          <p:cNvSpPr txBox="1"/>
          <p:nvPr/>
        </p:nvSpPr>
        <p:spPr>
          <a:xfrm>
            <a:off x="2608087" y="8400189"/>
            <a:ext cx="4591174" cy="70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Pocket Air, </a:t>
            </a:r>
            <a:r>
              <a:rPr lang="pt-BR" sz="140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aplicativo de arvore de falhas e gestão para sua geração de ar comprimido.</a:t>
            </a:r>
            <a:endParaRPr lang="pt-BR" sz="1400">
              <a:latin typeface="Montserrat" panose="00000500000000000000" pitchFamily="2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DFDC294A-64D1-319B-69B9-392C140D04BF}"/>
              </a:ext>
            </a:extLst>
          </p:cNvPr>
          <p:cNvCxnSpPr/>
          <p:nvPr/>
        </p:nvCxnSpPr>
        <p:spPr>
          <a:xfrm>
            <a:off x="2174550" y="393699"/>
            <a:ext cx="538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41ABA59F-17D4-61EC-0F20-EF6E88281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33" y="115262"/>
            <a:ext cx="996402" cy="600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42B75-1A78-6EAC-7C06-A6FF5A1F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6AF57D31-7427-2988-79B5-F1C81A10CA36}"/>
              </a:ext>
            </a:extLst>
          </p:cNvPr>
          <p:cNvGrpSpPr/>
          <p:nvPr/>
        </p:nvGrpSpPr>
        <p:grpSpPr>
          <a:xfrm>
            <a:off x="476097" y="1326076"/>
            <a:ext cx="374337" cy="187168"/>
            <a:chOff x="0" y="0"/>
            <a:chExt cx="812800" cy="4064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4D7C9EF-34E2-2BDB-6448-BB219F5DA7C2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059F8C3-4D88-16F6-E853-F5451648A18F}"/>
                </a:ext>
              </a:extLst>
            </p:cNvPr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00D7310B-8CEF-196E-9EDE-D3D6BE81CEB8}"/>
              </a:ext>
            </a:extLst>
          </p:cNvPr>
          <p:cNvSpPr txBox="1"/>
          <p:nvPr/>
        </p:nvSpPr>
        <p:spPr>
          <a:xfrm>
            <a:off x="963236" y="1301294"/>
            <a:ext cx="6170737" cy="243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1600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SEPARADOR DE ÁGUA E ÓLEO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5ABA3795-E772-E588-D90A-2B186F1BF91B}"/>
              </a:ext>
            </a:extLst>
          </p:cNvPr>
          <p:cNvSpPr txBox="1"/>
          <p:nvPr/>
        </p:nvSpPr>
        <p:spPr>
          <a:xfrm>
            <a:off x="459587" y="1804249"/>
            <a:ext cx="6461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Clr>
                <a:srgbClr val="000000"/>
              </a:buClr>
              <a:buSzPts val="1200"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Separador de água e óleo para o condensado gerado no seu compressor de ar, trate o condensado e permita o descarte da água limpa diretamente na rede de esgoto.</a:t>
            </a:r>
            <a:endParaRPr lang="pt-BR" sz="1400">
              <a:solidFill>
                <a:srgbClr val="000000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D43CA3DE-5C13-10BC-020C-5E19909D8393}"/>
              </a:ext>
            </a:extLst>
          </p:cNvPr>
          <p:cNvCxnSpPr/>
          <p:nvPr/>
        </p:nvCxnSpPr>
        <p:spPr>
          <a:xfrm>
            <a:off x="-88577" y="10375900"/>
            <a:ext cx="538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oogle Shape;136;p16">
            <a:extLst>
              <a:ext uri="{FF2B5EF4-FFF2-40B4-BE49-F238E27FC236}">
                <a16:creationId xmlns:a16="http://schemas.microsoft.com/office/drawing/2014/main" id="{B6A5C76D-A86E-3F26-A5B9-A0D0E350D10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0245" y="2584328"/>
            <a:ext cx="2727945" cy="288172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p16">
            <a:extLst>
              <a:ext uri="{FF2B5EF4-FFF2-40B4-BE49-F238E27FC236}">
                <a16:creationId xmlns:a16="http://schemas.microsoft.com/office/drawing/2014/main" id="{335567A4-485D-ADDB-BBC5-A41A6E02E8BF}"/>
              </a:ext>
            </a:extLst>
          </p:cNvPr>
          <p:cNvSpPr txBox="1"/>
          <p:nvPr/>
        </p:nvSpPr>
        <p:spPr>
          <a:xfrm>
            <a:off x="3140900" y="2766396"/>
            <a:ext cx="3591978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pt-BR" sz="1200" b="0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Instalação simplificada;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endParaRPr sz="1200">
              <a:latin typeface="Montserrat" panose="00000500000000000000" pitchFamily="2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pt-BR" sz="1200" b="0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Recomendado para aplicação em centrais de geração de ar comprimido;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endParaRPr sz="1200">
              <a:latin typeface="Montserrat" panose="00000500000000000000" pitchFamily="2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pt-BR" sz="1200" b="0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A água tratada pode ser descartada diretamente na rede de esgoto;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endParaRPr sz="1200">
              <a:latin typeface="Montserrat" panose="00000500000000000000" pitchFamily="2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pt-BR" sz="1200" b="0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Atende a Conama 430/2011.</a:t>
            </a:r>
            <a:endParaRPr sz="1200" b="0" i="0" u="none" strike="noStrike" cap="none">
              <a:solidFill>
                <a:schemeClr val="dk1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29;p16">
            <a:extLst>
              <a:ext uri="{FF2B5EF4-FFF2-40B4-BE49-F238E27FC236}">
                <a16:creationId xmlns:a16="http://schemas.microsoft.com/office/drawing/2014/main" id="{F116269C-37E9-006F-1A92-114E5438DD82}"/>
              </a:ext>
            </a:extLst>
          </p:cNvPr>
          <p:cNvSpPr txBox="1"/>
          <p:nvPr/>
        </p:nvSpPr>
        <p:spPr>
          <a:xfrm>
            <a:off x="2552137" y="5010959"/>
            <a:ext cx="300437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595959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Placas coalescentes </a:t>
            </a:r>
            <a:endParaRPr sz="1400">
              <a:latin typeface="Montserrat" panose="00000500000000000000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595959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595959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Aceleram o processo de separação de água e óleo.</a:t>
            </a:r>
            <a:endParaRPr sz="1400" b="0" i="0" u="none" strike="noStrike" cap="none">
              <a:solidFill>
                <a:srgbClr val="595959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28;p16">
            <a:extLst>
              <a:ext uri="{FF2B5EF4-FFF2-40B4-BE49-F238E27FC236}">
                <a16:creationId xmlns:a16="http://schemas.microsoft.com/office/drawing/2014/main" id="{20118310-D319-06BF-342B-9943890C52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5577" y="5171158"/>
            <a:ext cx="3490934" cy="448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0;p16">
            <a:extLst>
              <a:ext uri="{FF2B5EF4-FFF2-40B4-BE49-F238E27FC236}">
                <a16:creationId xmlns:a16="http://schemas.microsoft.com/office/drawing/2014/main" id="{B98AA8C5-C676-9295-DC7E-AB3BA50201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2295" y="4936954"/>
            <a:ext cx="2003960" cy="1317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31;p16" descr="Manta Absorvente de Óleo 38 Cm x 48 Cm 113 Litros">
            <a:extLst>
              <a:ext uri="{FF2B5EF4-FFF2-40B4-BE49-F238E27FC236}">
                <a16:creationId xmlns:a16="http://schemas.microsoft.com/office/drawing/2014/main" id="{73E613F8-8F48-843F-7D09-6B29A343D2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4080" y="7034502"/>
            <a:ext cx="1906392" cy="1772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35;p16">
            <a:extLst>
              <a:ext uri="{FF2B5EF4-FFF2-40B4-BE49-F238E27FC236}">
                <a16:creationId xmlns:a16="http://schemas.microsoft.com/office/drawing/2014/main" id="{EEDA54E8-495F-0EFB-19EA-AA3D9854A56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11977" y="6508805"/>
            <a:ext cx="2916597" cy="390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3;p16">
            <a:extLst>
              <a:ext uri="{FF2B5EF4-FFF2-40B4-BE49-F238E27FC236}">
                <a16:creationId xmlns:a16="http://schemas.microsoft.com/office/drawing/2014/main" id="{4B1DB320-7199-7681-B5D3-FC7EA82FB1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042381" y="8156499"/>
            <a:ext cx="3759199" cy="44810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34;p16">
            <a:extLst>
              <a:ext uri="{FF2B5EF4-FFF2-40B4-BE49-F238E27FC236}">
                <a16:creationId xmlns:a16="http://schemas.microsoft.com/office/drawing/2014/main" id="{0C30961A-3ABB-4915-B442-6928F09E96CE}"/>
              </a:ext>
            </a:extLst>
          </p:cNvPr>
          <p:cNvSpPr txBox="1"/>
          <p:nvPr/>
        </p:nvSpPr>
        <p:spPr>
          <a:xfrm>
            <a:off x="2143989" y="8008649"/>
            <a:ext cx="265759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595959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Mantas de filtragem</a:t>
            </a:r>
            <a:endParaRPr sz="1400">
              <a:latin typeface="Montserrat" panose="00000500000000000000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595959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595959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Para uma água de descarte ainda mais limpa.</a:t>
            </a:r>
            <a:endParaRPr sz="1400" b="0" i="0" u="none" strike="noStrike" cap="none">
              <a:solidFill>
                <a:srgbClr val="595959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BB30908-A5BB-E9BE-0885-CFD9AC7163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433" y="115262"/>
            <a:ext cx="996402" cy="60057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436921F5-605C-EED2-3D0D-627C4C4977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3989" y="406120"/>
            <a:ext cx="5400675" cy="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77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16EE1-755E-DA9F-F099-7363C5C17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8C670E73-0DD9-D56F-1FC5-97351CD4B9C4}"/>
              </a:ext>
            </a:extLst>
          </p:cNvPr>
          <p:cNvGrpSpPr/>
          <p:nvPr/>
        </p:nvGrpSpPr>
        <p:grpSpPr>
          <a:xfrm>
            <a:off x="425450" y="1384300"/>
            <a:ext cx="374337" cy="187168"/>
            <a:chOff x="0" y="0"/>
            <a:chExt cx="812800" cy="4064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980B40F-2B8C-A243-659C-827C1FC0F5C9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F1BD0DE-F1F9-4E62-FF3F-BB2E869EE772}"/>
                </a:ext>
              </a:extLst>
            </p:cNvPr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71A9A064-C007-F4D4-A67E-089174E72ACE}"/>
              </a:ext>
            </a:extLst>
          </p:cNvPr>
          <p:cNvSpPr txBox="1"/>
          <p:nvPr/>
        </p:nvSpPr>
        <p:spPr>
          <a:xfrm>
            <a:off x="1011778" y="1353360"/>
            <a:ext cx="6119272" cy="236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1400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PARTES</a:t>
            </a:r>
          </a:p>
        </p:txBody>
      </p: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FDE6AA1B-4567-C29A-37D4-AF2E5D340764}"/>
              </a:ext>
            </a:extLst>
          </p:cNvPr>
          <p:cNvCxnSpPr/>
          <p:nvPr/>
        </p:nvCxnSpPr>
        <p:spPr>
          <a:xfrm>
            <a:off x="-3500" y="10299700"/>
            <a:ext cx="538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06AF41BA-C75D-4BE8-03A8-C3954651F2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1F1F1"/>
              </a:clrFrom>
              <a:clrTo>
                <a:srgbClr val="F1F1F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7682" y="2098144"/>
            <a:ext cx="4605968" cy="4588183"/>
          </a:xfrm>
          <a:prstGeom prst="rect">
            <a:avLst/>
          </a:prstGeom>
        </p:spPr>
      </p:pic>
      <p:pic>
        <p:nvPicPr>
          <p:cNvPr id="11" name="Google Shape;147;p17" descr="Mantas Absorventes de Óleo - MAS Ambiental">
            <a:extLst>
              <a:ext uri="{FF2B5EF4-FFF2-40B4-BE49-F238E27FC236}">
                <a16:creationId xmlns:a16="http://schemas.microsoft.com/office/drawing/2014/main" id="{4705ED76-7E1C-4578-C4FB-5092A83A0D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3126" y="3102420"/>
            <a:ext cx="1947516" cy="129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48;p17">
            <a:extLst>
              <a:ext uri="{FF2B5EF4-FFF2-40B4-BE49-F238E27FC236}">
                <a16:creationId xmlns:a16="http://schemas.microsoft.com/office/drawing/2014/main" id="{9244D92D-59A9-C1BE-F381-E65AF7240A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5105348" y="4624553"/>
            <a:ext cx="2591536" cy="144289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3FA61140-3202-485F-A8EE-931580A6DDDC}"/>
              </a:ext>
            </a:extLst>
          </p:cNvPr>
          <p:cNvSpPr txBox="1"/>
          <p:nvPr/>
        </p:nvSpPr>
        <p:spPr>
          <a:xfrm>
            <a:off x="747146" y="7182993"/>
            <a:ext cx="49926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>
                <a:latin typeface="Montserrat" panose="00000500000000000000" pitchFamily="2" charset="0"/>
              </a:rPr>
              <a:t>01 Tampa.</a:t>
            </a:r>
          </a:p>
          <a:p>
            <a:r>
              <a:rPr lang="pt-BR" sz="1400">
                <a:latin typeface="Montserrat" panose="00000500000000000000" pitchFamily="2" charset="0"/>
              </a:rPr>
              <a:t>02 Entrada.</a:t>
            </a:r>
          </a:p>
          <a:p>
            <a:r>
              <a:rPr lang="pt-BR" sz="1400">
                <a:latin typeface="Montserrat" panose="00000500000000000000" pitchFamily="2" charset="0"/>
              </a:rPr>
              <a:t>03 Coletor de óleo (Skimmer).</a:t>
            </a:r>
          </a:p>
          <a:p>
            <a:r>
              <a:rPr lang="pt-BR" sz="1400">
                <a:latin typeface="Montserrat" panose="00000500000000000000" pitchFamily="2" charset="0"/>
              </a:rPr>
              <a:t>04 Caixa de armazenagem de óleo.</a:t>
            </a:r>
          </a:p>
          <a:p>
            <a:r>
              <a:rPr lang="pt-BR" sz="1400">
                <a:latin typeface="Montserrat" panose="00000500000000000000" pitchFamily="2" charset="0"/>
              </a:rPr>
              <a:t>05 Coleta de amostragem de água para análise.</a:t>
            </a:r>
          </a:p>
          <a:p>
            <a:r>
              <a:rPr lang="pt-BR" sz="1400">
                <a:latin typeface="Montserrat" panose="00000500000000000000" pitchFamily="2" charset="0"/>
              </a:rPr>
              <a:t>06 Saída para rede.</a:t>
            </a:r>
          </a:p>
          <a:p>
            <a:r>
              <a:rPr lang="pt-BR" sz="1400">
                <a:latin typeface="Montserrat" panose="00000500000000000000" pitchFamily="2" charset="0"/>
              </a:rPr>
              <a:t>07 Placa coalescente.</a:t>
            </a:r>
          </a:p>
          <a:p>
            <a:r>
              <a:rPr lang="pt-BR" sz="1400">
                <a:latin typeface="Montserrat" panose="00000500000000000000" pitchFamily="2" charset="0"/>
              </a:rPr>
              <a:t>08 Cartucho de saída.	</a:t>
            </a:r>
          </a:p>
          <a:p>
            <a:r>
              <a:rPr lang="pt-BR" sz="1400">
                <a:latin typeface="Montserrat" panose="00000500000000000000" pitchFamily="2" charset="0"/>
              </a:rPr>
              <a:t>09 Manta interna.</a:t>
            </a:r>
            <a:endParaRPr lang="pt-BR" sz="1400" dirty="0">
              <a:latin typeface="Montserrat" panose="00000500000000000000" pitchFamily="2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7280C1E-2588-394E-C9F2-210AE6FDDB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4630" y="397950"/>
            <a:ext cx="5400675" cy="952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D702B0E-E2F7-F3DD-5CB1-A1E2EC8EF8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23" y="199221"/>
            <a:ext cx="9906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794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3507-EED9-6209-9183-8FC75A10B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3FBEF4C5-ADD6-7432-FC66-EF7FC2DD3E31}"/>
              </a:ext>
            </a:extLst>
          </p:cNvPr>
          <p:cNvGrpSpPr/>
          <p:nvPr/>
        </p:nvGrpSpPr>
        <p:grpSpPr>
          <a:xfrm>
            <a:off x="439677" y="1845975"/>
            <a:ext cx="374337" cy="187168"/>
            <a:chOff x="0" y="0"/>
            <a:chExt cx="812800" cy="4064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206953E-3ED4-95EE-758F-7AB04D462A71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215057C3-99FB-E040-556F-7ECA33C6D1BB}"/>
                </a:ext>
              </a:extLst>
            </p:cNvPr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96B44B76-EC48-4B3F-BB66-AE93437E970D}"/>
              </a:ext>
            </a:extLst>
          </p:cNvPr>
          <p:cNvSpPr txBox="1"/>
          <p:nvPr/>
        </p:nvSpPr>
        <p:spPr>
          <a:xfrm>
            <a:off x="439677" y="1155645"/>
            <a:ext cx="6119272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2000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MANUTENÇÃO PREVENTIVA</a:t>
            </a:r>
          </a:p>
        </p:txBody>
      </p: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AA8CAD16-85B4-294F-C06D-38E457B2CD16}"/>
              </a:ext>
            </a:extLst>
          </p:cNvPr>
          <p:cNvCxnSpPr/>
          <p:nvPr/>
        </p:nvCxnSpPr>
        <p:spPr>
          <a:xfrm>
            <a:off x="-3500" y="10299700"/>
            <a:ext cx="538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38F1411-9B99-A110-5401-D1D2BA2FC85D}"/>
              </a:ext>
            </a:extLst>
          </p:cNvPr>
          <p:cNvSpPr txBox="1"/>
          <p:nvPr/>
        </p:nvSpPr>
        <p:spPr>
          <a:xfrm>
            <a:off x="283596" y="1785670"/>
            <a:ext cx="4730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SISTEMA DE SEPARAÇÃO DE ÓLEO</a:t>
            </a:r>
            <a:endParaRPr lang="pt-BR" sz="1400" b="0" i="0" u="none" strike="noStrike" cap="none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C0CA40C-3FD5-280C-3FCD-E732D720A193}"/>
              </a:ext>
            </a:extLst>
          </p:cNvPr>
          <p:cNvSpPr txBox="1"/>
          <p:nvPr/>
        </p:nvSpPr>
        <p:spPr>
          <a:xfrm>
            <a:off x="439676" y="2346404"/>
            <a:ext cx="66151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76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✔"/>
            </a:pPr>
            <a:r>
              <a:rPr lang="pt-BR"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A linha de separador de condensados ASK foi desenvolvida devido a uma necessidade de mercado com o objetivo de contribuir com a sustentabilidade do planeta, para garantir que a retenção dos condensados da geração de ar comprimido </a:t>
            </a:r>
            <a:r>
              <a:rPr lang="pt-BR" sz="1200">
                <a:latin typeface="Montserrat" panose="00000500000000000000" pitchFamily="2" charset="0"/>
              </a:rPr>
              <a:t>permanecem</a:t>
            </a:r>
            <a:r>
              <a:rPr lang="pt-BR"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armazenados dentro na nossa caixa separadora são necessários alguns procedimentos rotineiros conforme abaixo:</a:t>
            </a:r>
          </a:p>
        </p:txBody>
      </p:sp>
      <p:sp>
        <p:nvSpPr>
          <p:cNvPr id="18" name="Google Shape;185;p18">
            <a:extLst>
              <a:ext uri="{FF2B5EF4-FFF2-40B4-BE49-F238E27FC236}">
                <a16:creationId xmlns:a16="http://schemas.microsoft.com/office/drawing/2014/main" id="{9672495D-28EE-9ADE-4699-67B3D17339AD}"/>
              </a:ext>
            </a:extLst>
          </p:cNvPr>
          <p:cNvSpPr txBox="1"/>
          <p:nvPr/>
        </p:nvSpPr>
        <p:spPr>
          <a:xfrm>
            <a:off x="975315" y="3633854"/>
            <a:ext cx="630159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1. Coletar a película de óleo gerada na parte superior da caixa quinzenalmente;</a:t>
            </a:r>
            <a:endParaRPr sz="1200" b="0" i="0" u="none" strike="noStrike" cap="none">
              <a:solidFill>
                <a:srgbClr val="000000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86;p18">
            <a:extLst>
              <a:ext uri="{FF2B5EF4-FFF2-40B4-BE49-F238E27FC236}">
                <a16:creationId xmlns:a16="http://schemas.microsoft.com/office/drawing/2014/main" id="{0D180A2C-7B7E-0947-ADE8-3F48DB6D35A0}"/>
              </a:ext>
            </a:extLst>
          </p:cNvPr>
          <p:cNvSpPr txBox="1"/>
          <p:nvPr/>
        </p:nvSpPr>
        <p:spPr>
          <a:xfrm>
            <a:off x="975315" y="4195340"/>
            <a:ext cx="630159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2. Troca da manta e cartucho filtrante a cada dois meses;</a:t>
            </a:r>
            <a:endParaRPr sz="1200" b="0" i="0" u="none" strike="noStrike" cap="none">
              <a:solidFill>
                <a:srgbClr val="000000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3" name="Google Shape;187;p18">
            <a:extLst>
              <a:ext uri="{FF2B5EF4-FFF2-40B4-BE49-F238E27FC236}">
                <a16:creationId xmlns:a16="http://schemas.microsoft.com/office/drawing/2014/main" id="{F712DA4A-191D-7590-AA23-6958F705A62C}"/>
              </a:ext>
            </a:extLst>
          </p:cNvPr>
          <p:cNvSpPr txBox="1"/>
          <p:nvPr/>
        </p:nvSpPr>
        <p:spPr>
          <a:xfrm>
            <a:off x="988244" y="4649273"/>
            <a:ext cx="60666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3. Quando realizada a troca da manta e cartucho realizar uma limpeza na parte interna da caixa.</a:t>
            </a:r>
            <a:endParaRPr sz="1200" b="0" i="0" u="none" strike="noStrike" cap="none">
              <a:solidFill>
                <a:srgbClr val="000000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184;p18">
            <a:extLst>
              <a:ext uri="{FF2B5EF4-FFF2-40B4-BE49-F238E27FC236}">
                <a16:creationId xmlns:a16="http://schemas.microsoft.com/office/drawing/2014/main" id="{EC6B624F-105D-2B39-50E0-979C70A0E51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2890" y="3598346"/>
            <a:ext cx="397182" cy="35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84;p18">
            <a:extLst>
              <a:ext uri="{FF2B5EF4-FFF2-40B4-BE49-F238E27FC236}">
                <a16:creationId xmlns:a16="http://schemas.microsoft.com/office/drawing/2014/main" id="{58511F0C-65A1-DDFA-C0C7-BBCFE947A8C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9090" y="4131762"/>
            <a:ext cx="397182" cy="35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84;p18">
            <a:extLst>
              <a:ext uri="{FF2B5EF4-FFF2-40B4-BE49-F238E27FC236}">
                <a16:creationId xmlns:a16="http://schemas.microsoft.com/office/drawing/2014/main" id="{A3B8BE6B-D274-F69E-80AE-C489A858880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8133" y="4695674"/>
            <a:ext cx="397182" cy="3584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188;p18">
            <a:extLst>
              <a:ext uri="{FF2B5EF4-FFF2-40B4-BE49-F238E27FC236}">
                <a16:creationId xmlns:a16="http://schemas.microsoft.com/office/drawing/2014/main" id="{8A230684-091D-F205-5979-57617692D5D3}"/>
              </a:ext>
            </a:extLst>
          </p:cNvPr>
          <p:cNvGrpSpPr/>
          <p:nvPr/>
        </p:nvGrpSpPr>
        <p:grpSpPr>
          <a:xfrm>
            <a:off x="380913" y="5823843"/>
            <a:ext cx="2169795" cy="2875915"/>
            <a:chOff x="4535" y="251"/>
            <a:chExt cx="3417" cy="4529"/>
          </a:xfrm>
        </p:grpSpPr>
        <p:sp>
          <p:nvSpPr>
            <p:cNvPr id="29" name="Google Shape;189;p18">
              <a:extLst>
                <a:ext uri="{FF2B5EF4-FFF2-40B4-BE49-F238E27FC236}">
                  <a16:creationId xmlns:a16="http://schemas.microsoft.com/office/drawing/2014/main" id="{656CB824-0F45-4285-D3CB-A3D4C253F34C}"/>
                </a:ext>
              </a:extLst>
            </p:cNvPr>
            <p:cNvSpPr/>
            <p:nvPr/>
          </p:nvSpPr>
          <p:spPr>
            <a:xfrm>
              <a:off x="4535" y="2838"/>
              <a:ext cx="3329" cy="1767"/>
            </a:xfrm>
            <a:custGeom>
              <a:avLst/>
              <a:gdLst/>
              <a:ahLst/>
              <a:cxnLst/>
              <a:rect l="l" t="t" r="r" b="b"/>
              <a:pathLst>
                <a:path w="3329" h="1767" extrusionOk="0">
                  <a:moveTo>
                    <a:pt x="3329" y="0"/>
                  </a:moveTo>
                  <a:lnTo>
                    <a:pt x="3319" y="0"/>
                  </a:lnTo>
                  <a:lnTo>
                    <a:pt x="3319" y="1"/>
                  </a:lnTo>
                  <a:lnTo>
                    <a:pt x="0" y="1"/>
                  </a:lnTo>
                  <a:lnTo>
                    <a:pt x="0" y="9"/>
                  </a:lnTo>
                  <a:lnTo>
                    <a:pt x="0" y="1757"/>
                  </a:lnTo>
                  <a:lnTo>
                    <a:pt x="0" y="1767"/>
                  </a:lnTo>
                  <a:lnTo>
                    <a:pt x="3329" y="1767"/>
                  </a:lnTo>
                  <a:lnTo>
                    <a:pt x="3329" y="1757"/>
                  </a:lnTo>
                  <a:lnTo>
                    <a:pt x="10" y="1757"/>
                  </a:lnTo>
                  <a:lnTo>
                    <a:pt x="10" y="9"/>
                  </a:lnTo>
                  <a:lnTo>
                    <a:pt x="3319" y="9"/>
                  </a:lnTo>
                  <a:lnTo>
                    <a:pt x="3319" y="1756"/>
                  </a:lnTo>
                  <a:lnTo>
                    <a:pt x="3329" y="1756"/>
                  </a:lnTo>
                  <a:lnTo>
                    <a:pt x="3329" y="0"/>
                  </a:lnTo>
                  <a:close/>
                </a:path>
              </a:pathLst>
            </a:custGeom>
            <a:solidFill>
              <a:srgbClr val="221F1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" name="Google Shape;190;p18">
              <a:extLst>
                <a:ext uri="{FF2B5EF4-FFF2-40B4-BE49-F238E27FC236}">
                  <a16:creationId xmlns:a16="http://schemas.microsoft.com/office/drawing/2014/main" id="{140C2D2A-83AE-CEA5-D1DF-7B276D616FC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40" y="251"/>
              <a:ext cx="3319" cy="25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91;p18">
              <a:extLst>
                <a:ext uri="{FF2B5EF4-FFF2-40B4-BE49-F238E27FC236}">
                  <a16:creationId xmlns:a16="http://schemas.microsoft.com/office/drawing/2014/main" id="{38E6B6C4-C22F-D037-DC5D-E158F903549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85" y="735"/>
              <a:ext cx="1059" cy="1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192;p18">
              <a:extLst>
                <a:ext uri="{FF2B5EF4-FFF2-40B4-BE49-F238E27FC236}">
                  <a16:creationId xmlns:a16="http://schemas.microsoft.com/office/drawing/2014/main" id="{CEA719AE-8788-942A-6297-457CB325880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680" y="935"/>
              <a:ext cx="1300" cy="1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93;p18">
              <a:extLst>
                <a:ext uri="{FF2B5EF4-FFF2-40B4-BE49-F238E27FC236}">
                  <a16:creationId xmlns:a16="http://schemas.microsoft.com/office/drawing/2014/main" id="{C76D31D5-2699-2366-AED4-FFCA152AAFCF}"/>
                </a:ext>
              </a:extLst>
            </p:cNvPr>
            <p:cNvSpPr/>
            <p:nvPr/>
          </p:nvSpPr>
          <p:spPr>
            <a:xfrm>
              <a:off x="4540" y="251"/>
              <a:ext cx="3319" cy="2592"/>
            </a:xfrm>
            <a:prstGeom prst="rect">
              <a:avLst/>
            </a:prstGeom>
            <a:noFill/>
            <a:ln w="9525" cap="flat" cmpd="sng">
              <a:solidFill>
                <a:srgbClr val="221F1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194;p18">
              <a:extLst>
                <a:ext uri="{FF2B5EF4-FFF2-40B4-BE49-F238E27FC236}">
                  <a16:creationId xmlns:a16="http://schemas.microsoft.com/office/drawing/2014/main" id="{F38B69DB-62D6-D0A2-350D-A54A63709BE8}"/>
                </a:ext>
              </a:extLst>
            </p:cNvPr>
            <p:cNvSpPr/>
            <p:nvPr/>
          </p:nvSpPr>
          <p:spPr>
            <a:xfrm>
              <a:off x="5006" y="1169"/>
              <a:ext cx="1023" cy="625"/>
            </a:xfrm>
            <a:custGeom>
              <a:avLst/>
              <a:gdLst/>
              <a:ahLst/>
              <a:cxnLst/>
              <a:rect l="l" t="t" r="r" b="b"/>
              <a:pathLst>
                <a:path w="1023" h="625" extrusionOk="0">
                  <a:moveTo>
                    <a:pt x="0" y="0"/>
                  </a:moveTo>
                  <a:lnTo>
                    <a:pt x="0" y="576"/>
                  </a:lnTo>
                  <a:moveTo>
                    <a:pt x="68" y="625"/>
                  </a:moveTo>
                  <a:lnTo>
                    <a:pt x="1023" y="625"/>
                  </a:lnTo>
                </a:path>
              </a:pathLst>
            </a:custGeom>
            <a:noFill/>
            <a:ln w="12700" cap="flat" cmpd="sng">
              <a:solidFill>
                <a:srgbClr val="221F1F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195;p18">
              <a:extLst>
                <a:ext uri="{FF2B5EF4-FFF2-40B4-BE49-F238E27FC236}">
                  <a16:creationId xmlns:a16="http://schemas.microsoft.com/office/drawing/2014/main" id="{E4B01425-524C-5DCA-44EA-814E31DC322E}"/>
                </a:ext>
              </a:extLst>
            </p:cNvPr>
            <p:cNvCxnSpPr/>
            <p:nvPr/>
          </p:nvCxnSpPr>
          <p:spPr>
            <a:xfrm>
              <a:off x="4996" y="1115"/>
              <a:ext cx="20" cy="0"/>
            </a:xfrm>
            <a:prstGeom prst="straightConnector1">
              <a:avLst/>
            </a:prstGeom>
            <a:noFill/>
            <a:ln w="18900" cap="flat" cmpd="sng">
              <a:solidFill>
                <a:srgbClr val="221F1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" name="Google Shape;196;p18">
              <a:extLst>
                <a:ext uri="{FF2B5EF4-FFF2-40B4-BE49-F238E27FC236}">
                  <a16:creationId xmlns:a16="http://schemas.microsoft.com/office/drawing/2014/main" id="{EE128C07-BD1A-19EE-594D-A5E964CED681}"/>
                </a:ext>
              </a:extLst>
            </p:cNvPr>
            <p:cNvSpPr/>
            <p:nvPr/>
          </p:nvSpPr>
          <p:spPr>
            <a:xfrm>
              <a:off x="5005" y="1764"/>
              <a:ext cx="1071" cy="29"/>
            </a:xfrm>
            <a:custGeom>
              <a:avLst/>
              <a:gdLst/>
              <a:ahLst/>
              <a:cxnLst/>
              <a:rect l="l" t="t" r="r" b="b"/>
              <a:pathLst>
                <a:path w="1071" h="29" extrusionOk="0">
                  <a:moveTo>
                    <a:pt x="0" y="0"/>
                  </a:moveTo>
                  <a:lnTo>
                    <a:pt x="0" y="29"/>
                  </a:lnTo>
                  <a:lnTo>
                    <a:pt x="29" y="29"/>
                  </a:lnTo>
                  <a:moveTo>
                    <a:pt x="1042" y="29"/>
                  </a:moveTo>
                  <a:lnTo>
                    <a:pt x="1071" y="29"/>
                  </a:lnTo>
                </a:path>
              </a:pathLst>
            </a:custGeom>
            <a:noFill/>
            <a:ln w="12700" cap="flat" cmpd="sng">
              <a:solidFill>
                <a:srgbClr val="221F1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197;p18">
              <a:extLst>
                <a:ext uri="{FF2B5EF4-FFF2-40B4-BE49-F238E27FC236}">
                  <a16:creationId xmlns:a16="http://schemas.microsoft.com/office/drawing/2014/main" id="{077306D9-B27C-4D52-6F3D-F4D8066C4E28}"/>
                </a:ext>
              </a:extLst>
            </p:cNvPr>
            <p:cNvSpPr/>
            <p:nvPr/>
          </p:nvSpPr>
          <p:spPr>
            <a:xfrm>
              <a:off x="4540" y="251"/>
              <a:ext cx="3319" cy="2592"/>
            </a:xfrm>
            <a:prstGeom prst="rect">
              <a:avLst/>
            </a:prstGeom>
            <a:noFill/>
            <a:ln w="9525" cap="flat" cmpd="sng">
              <a:solidFill>
                <a:srgbClr val="221F1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198;p18">
              <a:extLst>
                <a:ext uri="{FF2B5EF4-FFF2-40B4-BE49-F238E27FC236}">
                  <a16:creationId xmlns:a16="http://schemas.microsoft.com/office/drawing/2014/main" id="{A2028B77-8C98-4EAF-5838-2216B89036A9}"/>
                </a:ext>
              </a:extLst>
            </p:cNvPr>
            <p:cNvSpPr txBox="1"/>
            <p:nvPr/>
          </p:nvSpPr>
          <p:spPr>
            <a:xfrm>
              <a:off x="4540" y="251"/>
              <a:ext cx="3319" cy="2592"/>
            </a:xfrm>
            <a:prstGeom prst="rect">
              <a:avLst/>
            </a:prstGeom>
            <a:noFill/>
            <a:ln w="9525" cap="flat" cmpd="sng">
              <a:solidFill>
                <a:srgbClr val="221F1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6669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1" i="0" u="none" strike="noStrike" cap="none">
                  <a:solidFill>
                    <a:srgbClr val="221F1F"/>
                  </a:solidFill>
                  <a:latin typeface="Tahoma"/>
                  <a:ea typeface="Tahoma"/>
                  <a:cs typeface="Tahoma"/>
                  <a:sym typeface="Tahoma"/>
                </a:rPr>
                <a:t>  1  </a:t>
              </a:r>
              <a:endParaRPr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marL="83185" marR="1202055" lvl="0" indent="0" algn="l" rtl="0">
                <a:lnSpc>
                  <a:spcPct val="92000"/>
                </a:lnSpc>
                <a:spcBef>
                  <a:spcPts val="760"/>
                </a:spcBef>
                <a:spcAft>
                  <a:spcPts val="0"/>
                </a:spcAft>
                <a:buNone/>
              </a:pPr>
              <a:r>
                <a:rPr lang="pt-BR" sz="900" b="0" i="1" u="none" strike="noStrike" cap="none">
                  <a:solidFill>
                    <a:srgbClr val="221F1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Coletor abaixo da lâmina de óleo</a:t>
              </a:r>
              <a:endParaRPr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" name="Google Shape;199;p18">
              <a:extLst>
                <a:ext uri="{FF2B5EF4-FFF2-40B4-BE49-F238E27FC236}">
                  <a16:creationId xmlns:a16="http://schemas.microsoft.com/office/drawing/2014/main" id="{7290A26C-1616-5071-7E5E-DDBFE4B6E8C1}"/>
                </a:ext>
              </a:extLst>
            </p:cNvPr>
            <p:cNvSpPr txBox="1"/>
            <p:nvPr/>
          </p:nvSpPr>
          <p:spPr>
            <a:xfrm>
              <a:off x="4639" y="2964"/>
              <a:ext cx="3313" cy="1816"/>
            </a:xfrm>
            <a:prstGeom prst="rect">
              <a:avLst/>
            </a:prstGeom>
            <a:solidFill>
              <a:srgbClr val="C6C7C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61595" marR="56514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0" i="0" u="none" strike="noStrike" cap="none">
                  <a:solidFill>
                    <a:srgbClr val="221F1F"/>
                  </a:solidFill>
                  <a:latin typeface="Montserrat" panose="00000500000000000000" pitchFamily="2" charset="0"/>
                  <a:ea typeface="Tahoma"/>
                  <a:cs typeface="Tahoma"/>
                  <a:sym typeface="Tahoma"/>
                </a:rPr>
                <a:t>Retire a tampa, regule o coletor de óleo abaixo da lâmina de óleo e deixe retirar todo óleo contido na CAIXA SEPARADORA.</a:t>
              </a:r>
              <a:endParaRPr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0" name="Google Shape;225;p18">
            <a:extLst>
              <a:ext uri="{FF2B5EF4-FFF2-40B4-BE49-F238E27FC236}">
                <a16:creationId xmlns:a16="http://schemas.microsoft.com/office/drawing/2014/main" id="{611E3957-A08D-C2D6-BE41-010D1BD418BC}"/>
              </a:ext>
            </a:extLst>
          </p:cNvPr>
          <p:cNvGrpSpPr/>
          <p:nvPr/>
        </p:nvGrpSpPr>
        <p:grpSpPr>
          <a:xfrm>
            <a:off x="2605953" y="5823843"/>
            <a:ext cx="2144395" cy="2916986"/>
            <a:chOff x="8358" y="181"/>
            <a:chExt cx="3377" cy="4389"/>
          </a:xfrm>
        </p:grpSpPr>
        <p:sp>
          <p:nvSpPr>
            <p:cNvPr id="41" name="Google Shape;226;p18">
              <a:extLst>
                <a:ext uri="{FF2B5EF4-FFF2-40B4-BE49-F238E27FC236}">
                  <a16:creationId xmlns:a16="http://schemas.microsoft.com/office/drawing/2014/main" id="{8525297F-E502-E949-27E9-973050B20165}"/>
                </a:ext>
              </a:extLst>
            </p:cNvPr>
            <p:cNvSpPr/>
            <p:nvPr/>
          </p:nvSpPr>
          <p:spPr>
            <a:xfrm>
              <a:off x="8358" y="2768"/>
              <a:ext cx="3329" cy="1568"/>
            </a:xfrm>
            <a:custGeom>
              <a:avLst/>
              <a:gdLst/>
              <a:ahLst/>
              <a:cxnLst/>
              <a:rect l="l" t="t" r="r" b="b"/>
              <a:pathLst>
                <a:path w="3329" h="1568" extrusionOk="0">
                  <a:moveTo>
                    <a:pt x="3329" y="0"/>
                  </a:moveTo>
                  <a:lnTo>
                    <a:pt x="3319" y="0"/>
                  </a:lnTo>
                  <a:lnTo>
                    <a:pt x="3319" y="8"/>
                  </a:lnTo>
                  <a:lnTo>
                    <a:pt x="3319" y="1558"/>
                  </a:lnTo>
                  <a:lnTo>
                    <a:pt x="10" y="1558"/>
                  </a:lnTo>
                  <a:lnTo>
                    <a:pt x="10" y="8"/>
                  </a:lnTo>
                  <a:lnTo>
                    <a:pt x="3319" y="8"/>
                  </a:lnTo>
                  <a:lnTo>
                    <a:pt x="3319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1558"/>
                  </a:lnTo>
                  <a:lnTo>
                    <a:pt x="0" y="1568"/>
                  </a:lnTo>
                  <a:lnTo>
                    <a:pt x="3329" y="1568"/>
                  </a:lnTo>
                  <a:lnTo>
                    <a:pt x="3329" y="1558"/>
                  </a:lnTo>
                  <a:lnTo>
                    <a:pt x="3329" y="0"/>
                  </a:lnTo>
                  <a:close/>
                </a:path>
              </a:pathLst>
            </a:custGeom>
            <a:solidFill>
              <a:srgbClr val="221F1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" name="Google Shape;227;p18">
              <a:extLst>
                <a:ext uri="{FF2B5EF4-FFF2-40B4-BE49-F238E27FC236}">
                  <a16:creationId xmlns:a16="http://schemas.microsoft.com/office/drawing/2014/main" id="{73850CF2-8EE2-C49D-CA96-CE7A0248638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50" y="372"/>
              <a:ext cx="1606" cy="1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228;p18">
              <a:extLst>
                <a:ext uri="{FF2B5EF4-FFF2-40B4-BE49-F238E27FC236}">
                  <a16:creationId xmlns:a16="http://schemas.microsoft.com/office/drawing/2014/main" id="{DF7B02DE-70E3-5D65-DFAA-E257CF33B28A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353" y="372"/>
              <a:ext cx="998" cy="1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Google Shape;229;p18">
              <a:extLst>
                <a:ext uri="{FF2B5EF4-FFF2-40B4-BE49-F238E27FC236}">
                  <a16:creationId xmlns:a16="http://schemas.microsoft.com/office/drawing/2014/main" id="{8088D92D-D830-61A3-3FC1-FC29FFAC990C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822" y="1473"/>
              <a:ext cx="1535" cy="12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230;p18">
              <a:extLst>
                <a:ext uri="{FF2B5EF4-FFF2-40B4-BE49-F238E27FC236}">
                  <a16:creationId xmlns:a16="http://schemas.microsoft.com/office/drawing/2014/main" id="{4365DDD3-9C74-FCF3-4C1C-6F554B8A6A05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363" y="2119"/>
              <a:ext cx="3319" cy="6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231;p18">
              <a:extLst>
                <a:ext uri="{FF2B5EF4-FFF2-40B4-BE49-F238E27FC236}">
                  <a16:creationId xmlns:a16="http://schemas.microsoft.com/office/drawing/2014/main" id="{CB112830-5A36-98D2-835F-C93CBA80CF01}"/>
                </a:ext>
              </a:extLst>
            </p:cNvPr>
            <p:cNvSpPr/>
            <p:nvPr/>
          </p:nvSpPr>
          <p:spPr>
            <a:xfrm>
              <a:off x="8363" y="181"/>
              <a:ext cx="3319" cy="2592"/>
            </a:xfrm>
            <a:prstGeom prst="rect">
              <a:avLst/>
            </a:prstGeom>
            <a:noFill/>
            <a:ln w="9525" cap="flat" cmpd="sng">
              <a:solidFill>
                <a:srgbClr val="221F1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" name="Google Shape;232;p18">
              <a:extLst>
                <a:ext uri="{FF2B5EF4-FFF2-40B4-BE49-F238E27FC236}">
                  <a16:creationId xmlns:a16="http://schemas.microsoft.com/office/drawing/2014/main" id="{214A0EEF-F134-F282-5637-8D097211691E}"/>
                </a:ext>
              </a:extLst>
            </p:cNvPr>
            <p:cNvCxnSpPr/>
            <p:nvPr/>
          </p:nvCxnSpPr>
          <p:spPr>
            <a:xfrm>
              <a:off x="9618" y="1172"/>
              <a:ext cx="0" cy="0"/>
            </a:xfrm>
            <a:prstGeom prst="straightConnector1">
              <a:avLst/>
            </a:prstGeom>
            <a:noFill/>
            <a:ln w="12700" cap="flat" cmpd="sng">
              <a:solidFill>
                <a:srgbClr val="221F1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8" name="Google Shape;233;p18">
              <a:extLst>
                <a:ext uri="{FF2B5EF4-FFF2-40B4-BE49-F238E27FC236}">
                  <a16:creationId xmlns:a16="http://schemas.microsoft.com/office/drawing/2014/main" id="{27FE0601-21AA-BB2A-0E60-15B635BC402A}"/>
                </a:ext>
              </a:extLst>
            </p:cNvPr>
            <p:cNvSpPr/>
            <p:nvPr/>
          </p:nvSpPr>
          <p:spPr>
            <a:xfrm>
              <a:off x="9566" y="223"/>
              <a:ext cx="102" cy="141"/>
            </a:xfrm>
            <a:custGeom>
              <a:avLst/>
              <a:gdLst/>
              <a:ahLst/>
              <a:cxnLst/>
              <a:rect l="l" t="t" r="r" b="b"/>
              <a:pathLst>
                <a:path w="102" h="141" extrusionOk="0">
                  <a:moveTo>
                    <a:pt x="51" y="0"/>
                  </a:moveTo>
                  <a:lnTo>
                    <a:pt x="0" y="141"/>
                  </a:lnTo>
                  <a:lnTo>
                    <a:pt x="102" y="14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221F1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" name="Google Shape;234;p18">
              <a:extLst>
                <a:ext uri="{FF2B5EF4-FFF2-40B4-BE49-F238E27FC236}">
                  <a16:creationId xmlns:a16="http://schemas.microsoft.com/office/drawing/2014/main" id="{589C3D68-24B9-1F97-1E0E-A39D4EF956A2}"/>
                </a:ext>
              </a:extLst>
            </p:cNvPr>
            <p:cNvCxnSpPr/>
            <p:nvPr/>
          </p:nvCxnSpPr>
          <p:spPr>
            <a:xfrm>
              <a:off x="10378" y="1172"/>
              <a:ext cx="0" cy="0"/>
            </a:xfrm>
            <a:prstGeom prst="straightConnector1">
              <a:avLst/>
            </a:prstGeom>
            <a:noFill/>
            <a:ln w="12700" cap="flat" cmpd="sng">
              <a:solidFill>
                <a:srgbClr val="221F1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Google Shape;235;p18">
              <a:extLst>
                <a:ext uri="{FF2B5EF4-FFF2-40B4-BE49-F238E27FC236}">
                  <a16:creationId xmlns:a16="http://schemas.microsoft.com/office/drawing/2014/main" id="{C2A41FFE-B08D-D45B-A3D7-9B723978AFBD}"/>
                </a:ext>
              </a:extLst>
            </p:cNvPr>
            <p:cNvSpPr/>
            <p:nvPr/>
          </p:nvSpPr>
          <p:spPr>
            <a:xfrm>
              <a:off x="10327" y="223"/>
              <a:ext cx="102" cy="141"/>
            </a:xfrm>
            <a:custGeom>
              <a:avLst/>
              <a:gdLst/>
              <a:ahLst/>
              <a:cxnLst/>
              <a:rect l="l" t="t" r="r" b="b"/>
              <a:pathLst>
                <a:path w="102" h="141" extrusionOk="0">
                  <a:moveTo>
                    <a:pt x="51" y="0"/>
                  </a:moveTo>
                  <a:lnTo>
                    <a:pt x="0" y="141"/>
                  </a:lnTo>
                  <a:lnTo>
                    <a:pt x="102" y="14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221F1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236;p18">
              <a:extLst>
                <a:ext uri="{FF2B5EF4-FFF2-40B4-BE49-F238E27FC236}">
                  <a16:creationId xmlns:a16="http://schemas.microsoft.com/office/drawing/2014/main" id="{17B6E1A1-E813-3164-F255-CDA7F2BC8AB1}"/>
                </a:ext>
              </a:extLst>
            </p:cNvPr>
            <p:cNvSpPr txBox="1"/>
            <p:nvPr/>
          </p:nvSpPr>
          <p:spPr>
            <a:xfrm>
              <a:off x="8411" y="244"/>
              <a:ext cx="357" cy="2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1" i="0" u="none" strike="noStrike" cap="none">
                  <a:solidFill>
                    <a:srgbClr val="221F1F"/>
                  </a:solidFill>
                  <a:latin typeface="Tahoma"/>
                  <a:ea typeface="Tahoma"/>
                  <a:cs typeface="Tahoma"/>
                  <a:sym typeface="Tahoma"/>
                </a:rPr>
                <a:t>  2</a:t>
              </a:r>
              <a:endParaRPr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" name="Google Shape;237;p18">
              <a:extLst>
                <a:ext uri="{FF2B5EF4-FFF2-40B4-BE49-F238E27FC236}">
                  <a16:creationId xmlns:a16="http://schemas.microsoft.com/office/drawing/2014/main" id="{9D11B7C1-C20C-DBBB-BAA2-628AD7EC7B0F}"/>
                </a:ext>
              </a:extLst>
            </p:cNvPr>
            <p:cNvSpPr txBox="1"/>
            <p:nvPr/>
          </p:nvSpPr>
          <p:spPr>
            <a:xfrm>
              <a:off x="8422" y="2835"/>
              <a:ext cx="3313" cy="1735"/>
            </a:xfrm>
            <a:prstGeom prst="rect">
              <a:avLst/>
            </a:prstGeom>
            <a:solidFill>
              <a:srgbClr val="C6C7C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9530" marR="4699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0" i="0" u="none" strike="noStrike" cap="none">
                  <a:solidFill>
                    <a:srgbClr val="221F1F"/>
                  </a:solidFill>
                  <a:latin typeface="Montserrat" panose="00000500000000000000" pitchFamily="2" charset="0"/>
                  <a:ea typeface="Tahoma"/>
                  <a:cs typeface="Tahoma"/>
                  <a:sym typeface="Tahoma"/>
                </a:rPr>
                <a:t>Retire a manta presente entre os coalescentes, e o cartucho do tu</a:t>
              </a:r>
              <a:r>
                <a:rPr lang="pt-BR" sz="1200">
                  <a:solidFill>
                    <a:srgbClr val="221F1F"/>
                  </a:solidFill>
                  <a:latin typeface="Montserrat" panose="00000500000000000000" pitchFamily="2" charset="0"/>
                  <a:ea typeface="Tahoma"/>
                  <a:cs typeface="Tahoma"/>
                  <a:sym typeface="Tahoma"/>
                </a:rPr>
                <a:t>b</a:t>
              </a:r>
              <a:r>
                <a:rPr lang="pt-BR" sz="1200" b="0" i="0" u="none" strike="noStrike" cap="none">
                  <a:solidFill>
                    <a:srgbClr val="221F1F"/>
                  </a:solidFill>
                  <a:latin typeface="Montserrat" panose="00000500000000000000" pitchFamily="2" charset="0"/>
                  <a:ea typeface="Tahoma"/>
                  <a:cs typeface="Tahoma"/>
                  <a:sym typeface="Tahoma"/>
                </a:rPr>
                <a:t>o de saída.</a:t>
              </a:r>
              <a:endParaRPr sz="1200" b="0" i="0" u="none" strike="noStrike" cap="none">
                <a:solidFill>
                  <a:srgbClr val="221F1F"/>
                </a:solidFill>
                <a:latin typeface="Montserrat" panose="00000500000000000000" pitchFamily="2" charset="0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3" name="Google Shape;200;p18">
            <a:extLst>
              <a:ext uri="{FF2B5EF4-FFF2-40B4-BE49-F238E27FC236}">
                <a16:creationId xmlns:a16="http://schemas.microsoft.com/office/drawing/2014/main" id="{472173D7-AAD3-2327-6C67-A024B703DAC5}"/>
              </a:ext>
            </a:extLst>
          </p:cNvPr>
          <p:cNvGrpSpPr/>
          <p:nvPr/>
        </p:nvGrpSpPr>
        <p:grpSpPr>
          <a:xfrm>
            <a:off x="4851537" y="5829816"/>
            <a:ext cx="2308225" cy="3304611"/>
            <a:chOff x="4571" y="369"/>
            <a:chExt cx="3635" cy="4790"/>
          </a:xfrm>
        </p:grpSpPr>
        <p:sp>
          <p:nvSpPr>
            <p:cNvPr id="54" name="Google Shape;201;p18">
              <a:extLst>
                <a:ext uri="{FF2B5EF4-FFF2-40B4-BE49-F238E27FC236}">
                  <a16:creationId xmlns:a16="http://schemas.microsoft.com/office/drawing/2014/main" id="{22637C1E-3E2E-3AD6-8D1B-11FD083EC838}"/>
                </a:ext>
              </a:extLst>
            </p:cNvPr>
            <p:cNvSpPr/>
            <p:nvPr/>
          </p:nvSpPr>
          <p:spPr>
            <a:xfrm>
              <a:off x="4571" y="2955"/>
              <a:ext cx="3329" cy="1568"/>
            </a:xfrm>
            <a:custGeom>
              <a:avLst/>
              <a:gdLst/>
              <a:ahLst/>
              <a:cxnLst/>
              <a:rect l="l" t="t" r="r" b="b"/>
              <a:pathLst>
                <a:path w="3329" h="1568" extrusionOk="0">
                  <a:moveTo>
                    <a:pt x="3329" y="1"/>
                  </a:moveTo>
                  <a:lnTo>
                    <a:pt x="3319" y="1"/>
                  </a:lnTo>
                  <a:lnTo>
                    <a:pt x="3319" y="8"/>
                  </a:lnTo>
                  <a:lnTo>
                    <a:pt x="3319" y="1558"/>
                  </a:lnTo>
                  <a:lnTo>
                    <a:pt x="10" y="1558"/>
                  </a:lnTo>
                  <a:lnTo>
                    <a:pt x="10" y="8"/>
                  </a:lnTo>
                  <a:lnTo>
                    <a:pt x="3319" y="8"/>
                  </a:lnTo>
                  <a:lnTo>
                    <a:pt x="3319" y="1"/>
                  </a:lnTo>
                  <a:lnTo>
                    <a:pt x="3319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1558"/>
                  </a:lnTo>
                  <a:lnTo>
                    <a:pt x="0" y="1568"/>
                  </a:lnTo>
                  <a:lnTo>
                    <a:pt x="3329" y="1568"/>
                  </a:lnTo>
                  <a:lnTo>
                    <a:pt x="3329" y="1559"/>
                  </a:lnTo>
                  <a:lnTo>
                    <a:pt x="3329" y="1558"/>
                  </a:lnTo>
                  <a:lnTo>
                    <a:pt x="3329" y="1"/>
                  </a:lnTo>
                  <a:close/>
                </a:path>
              </a:pathLst>
            </a:custGeom>
            <a:solidFill>
              <a:srgbClr val="221F1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" name="Google Shape;202;p18">
              <a:extLst>
                <a:ext uri="{FF2B5EF4-FFF2-40B4-BE49-F238E27FC236}">
                  <a16:creationId xmlns:a16="http://schemas.microsoft.com/office/drawing/2014/main" id="{FF9F8A61-072C-4FE4-4FD6-0201D809B01C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074" y="560"/>
              <a:ext cx="1495" cy="1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203;p18">
              <a:extLst>
                <a:ext uri="{FF2B5EF4-FFF2-40B4-BE49-F238E27FC236}">
                  <a16:creationId xmlns:a16="http://schemas.microsoft.com/office/drawing/2014/main" id="{4A7F4A06-8E6B-DAD2-334B-00CB572A7198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565" y="560"/>
              <a:ext cx="1114" cy="1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204;p18">
              <a:extLst>
                <a:ext uri="{FF2B5EF4-FFF2-40B4-BE49-F238E27FC236}">
                  <a16:creationId xmlns:a16="http://schemas.microsoft.com/office/drawing/2014/main" id="{1391AFF4-2D88-1233-9C03-0F29DE1D8E75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51" y="1659"/>
              <a:ext cx="1418" cy="12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205;p18">
              <a:extLst>
                <a:ext uri="{FF2B5EF4-FFF2-40B4-BE49-F238E27FC236}">
                  <a16:creationId xmlns:a16="http://schemas.microsoft.com/office/drawing/2014/main" id="{A9F210F6-A421-498D-B676-98BF6BDC8AA0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576" y="2307"/>
              <a:ext cx="3319" cy="6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206;p18">
              <a:extLst>
                <a:ext uri="{FF2B5EF4-FFF2-40B4-BE49-F238E27FC236}">
                  <a16:creationId xmlns:a16="http://schemas.microsoft.com/office/drawing/2014/main" id="{9605C0A0-ABD5-2814-B28A-C2FF2B2D1332}"/>
                </a:ext>
              </a:extLst>
            </p:cNvPr>
            <p:cNvSpPr/>
            <p:nvPr/>
          </p:nvSpPr>
          <p:spPr>
            <a:xfrm>
              <a:off x="4576" y="369"/>
              <a:ext cx="3319" cy="2592"/>
            </a:xfrm>
            <a:prstGeom prst="rect">
              <a:avLst/>
            </a:prstGeom>
            <a:noFill/>
            <a:ln w="9525" cap="flat" cmpd="sng">
              <a:solidFill>
                <a:srgbClr val="221F1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207;p18">
              <a:extLst>
                <a:ext uri="{FF2B5EF4-FFF2-40B4-BE49-F238E27FC236}">
                  <a16:creationId xmlns:a16="http://schemas.microsoft.com/office/drawing/2014/main" id="{1197D9D2-C03B-249F-3833-09073816E8FE}"/>
                </a:ext>
              </a:extLst>
            </p:cNvPr>
            <p:cNvSpPr/>
            <p:nvPr/>
          </p:nvSpPr>
          <p:spPr>
            <a:xfrm>
              <a:off x="5463" y="922"/>
              <a:ext cx="168" cy="164"/>
            </a:xfrm>
            <a:custGeom>
              <a:avLst/>
              <a:gdLst/>
              <a:ahLst/>
              <a:cxnLst/>
              <a:rect l="l" t="t" r="r" b="b"/>
              <a:pathLst>
                <a:path w="168" h="164" extrusionOk="0">
                  <a:moveTo>
                    <a:pt x="73" y="0"/>
                  </a:moveTo>
                  <a:lnTo>
                    <a:pt x="41" y="10"/>
                  </a:lnTo>
                  <a:lnTo>
                    <a:pt x="17" y="32"/>
                  </a:lnTo>
                  <a:lnTo>
                    <a:pt x="2" y="60"/>
                  </a:lnTo>
                  <a:lnTo>
                    <a:pt x="0" y="93"/>
                  </a:lnTo>
                  <a:lnTo>
                    <a:pt x="11" y="124"/>
                  </a:lnTo>
                  <a:lnTo>
                    <a:pt x="32" y="148"/>
                  </a:lnTo>
                  <a:lnTo>
                    <a:pt x="61" y="162"/>
                  </a:lnTo>
                  <a:lnTo>
                    <a:pt x="95" y="164"/>
                  </a:lnTo>
                  <a:lnTo>
                    <a:pt x="127" y="153"/>
                  </a:lnTo>
                  <a:lnTo>
                    <a:pt x="151" y="132"/>
                  </a:lnTo>
                  <a:lnTo>
                    <a:pt x="166" y="104"/>
                  </a:lnTo>
                  <a:lnTo>
                    <a:pt x="168" y="71"/>
                  </a:lnTo>
                  <a:lnTo>
                    <a:pt x="157" y="40"/>
                  </a:lnTo>
                  <a:lnTo>
                    <a:pt x="136" y="16"/>
                  </a:lnTo>
                  <a:lnTo>
                    <a:pt x="107" y="2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C5C7C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208;p18">
              <a:extLst>
                <a:ext uri="{FF2B5EF4-FFF2-40B4-BE49-F238E27FC236}">
                  <a16:creationId xmlns:a16="http://schemas.microsoft.com/office/drawing/2014/main" id="{2612B4AC-47A3-FACC-D5DF-4CB145150B28}"/>
                </a:ext>
              </a:extLst>
            </p:cNvPr>
            <p:cNvSpPr/>
            <p:nvPr/>
          </p:nvSpPr>
          <p:spPr>
            <a:xfrm>
              <a:off x="5550" y="987"/>
              <a:ext cx="72" cy="70"/>
            </a:xfrm>
            <a:custGeom>
              <a:avLst/>
              <a:gdLst/>
              <a:ahLst/>
              <a:cxnLst/>
              <a:rect l="l" t="t" r="r" b="b"/>
              <a:pathLst>
                <a:path w="72" h="70" extrusionOk="0">
                  <a:moveTo>
                    <a:pt x="31" y="0"/>
                  </a:moveTo>
                  <a:lnTo>
                    <a:pt x="18" y="4"/>
                  </a:lnTo>
                  <a:lnTo>
                    <a:pt x="7" y="14"/>
                  </a:lnTo>
                  <a:lnTo>
                    <a:pt x="1" y="26"/>
                  </a:lnTo>
                  <a:lnTo>
                    <a:pt x="0" y="40"/>
                  </a:lnTo>
                  <a:lnTo>
                    <a:pt x="5" y="53"/>
                  </a:lnTo>
                  <a:lnTo>
                    <a:pt x="14" y="63"/>
                  </a:lnTo>
                  <a:lnTo>
                    <a:pt x="26" y="70"/>
                  </a:lnTo>
                  <a:lnTo>
                    <a:pt x="41" y="70"/>
                  </a:lnTo>
                  <a:lnTo>
                    <a:pt x="54" y="66"/>
                  </a:lnTo>
                  <a:lnTo>
                    <a:pt x="65" y="57"/>
                  </a:lnTo>
                  <a:lnTo>
                    <a:pt x="71" y="44"/>
                  </a:lnTo>
                  <a:lnTo>
                    <a:pt x="72" y="30"/>
                  </a:lnTo>
                  <a:lnTo>
                    <a:pt x="68" y="17"/>
                  </a:lnTo>
                  <a:lnTo>
                    <a:pt x="58" y="7"/>
                  </a:lnTo>
                  <a:lnTo>
                    <a:pt x="46" y="1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FD1D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4" name="Google Shape;209;p18">
              <a:extLst>
                <a:ext uri="{FF2B5EF4-FFF2-40B4-BE49-F238E27FC236}">
                  <a16:creationId xmlns:a16="http://schemas.microsoft.com/office/drawing/2014/main" id="{F71C9E5F-7F63-98DA-F32A-2814B08FD4DA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969" y="1236"/>
              <a:ext cx="199" cy="1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210;p18">
              <a:extLst>
                <a:ext uri="{FF2B5EF4-FFF2-40B4-BE49-F238E27FC236}">
                  <a16:creationId xmlns:a16="http://schemas.microsoft.com/office/drawing/2014/main" id="{8CDC8936-EE58-B6D0-9FA9-BF67C2C0295B}"/>
                </a:ext>
              </a:extLst>
            </p:cNvPr>
            <p:cNvSpPr/>
            <p:nvPr/>
          </p:nvSpPr>
          <p:spPr>
            <a:xfrm>
              <a:off x="5707" y="1259"/>
              <a:ext cx="123" cy="120"/>
            </a:xfrm>
            <a:custGeom>
              <a:avLst/>
              <a:gdLst/>
              <a:ahLst/>
              <a:cxnLst/>
              <a:rect l="l" t="t" r="r" b="b"/>
              <a:pathLst>
                <a:path w="123" h="120" extrusionOk="0">
                  <a:moveTo>
                    <a:pt x="53" y="0"/>
                  </a:moveTo>
                  <a:lnTo>
                    <a:pt x="30" y="7"/>
                  </a:lnTo>
                  <a:lnTo>
                    <a:pt x="12" y="23"/>
                  </a:lnTo>
                  <a:lnTo>
                    <a:pt x="1" y="44"/>
                  </a:lnTo>
                  <a:lnTo>
                    <a:pt x="0" y="68"/>
                  </a:lnTo>
                  <a:lnTo>
                    <a:pt x="8" y="90"/>
                  </a:lnTo>
                  <a:lnTo>
                    <a:pt x="23" y="108"/>
                  </a:lnTo>
                  <a:lnTo>
                    <a:pt x="44" y="118"/>
                  </a:lnTo>
                  <a:lnTo>
                    <a:pt x="69" y="120"/>
                  </a:lnTo>
                  <a:lnTo>
                    <a:pt x="92" y="112"/>
                  </a:lnTo>
                  <a:lnTo>
                    <a:pt x="110" y="96"/>
                  </a:lnTo>
                  <a:lnTo>
                    <a:pt x="121" y="76"/>
                  </a:lnTo>
                  <a:lnTo>
                    <a:pt x="123" y="52"/>
                  </a:lnTo>
                  <a:lnTo>
                    <a:pt x="115" y="29"/>
                  </a:lnTo>
                  <a:lnTo>
                    <a:pt x="99" y="11"/>
                  </a:lnTo>
                  <a:lnTo>
                    <a:pt x="78" y="1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C5C7C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211;p18">
              <a:extLst>
                <a:ext uri="{FF2B5EF4-FFF2-40B4-BE49-F238E27FC236}">
                  <a16:creationId xmlns:a16="http://schemas.microsoft.com/office/drawing/2014/main" id="{226083B3-4D8A-9013-12F3-DF42B5713426}"/>
                </a:ext>
              </a:extLst>
            </p:cNvPr>
            <p:cNvSpPr/>
            <p:nvPr/>
          </p:nvSpPr>
          <p:spPr>
            <a:xfrm>
              <a:off x="5769" y="1305"/>
              <a:ext cx="57" cy="56"/>
            </a:xfrm>
            <a:custGeom>
              <a:avLst/>
              <a:gdLst/>
              <a:ahLst/>
              <a:cxnLst/>
              <a:rect l="l" t="t" r="r" b="b"/>
              <a:pathLst>
                <a:path w="57" h="56" extrusionOk="0">
                  <a:moveTo>
                    <a:pt x="40" y="0"/>
                  </a:moveTo>
                  <a:lnTo>
                    <a:pt x="11" y="4"/>
                  </a:lnTo>
                  <a:lnTo>
                    <a:pt x="0" y="17"/>
                  </a:lnTo>
                  <a:lnTo>
                    <a:pt x="4" y="46"/>
                  </a:lnTo>
                  <a:lnTo>
                    <a:pt x="18" y="56"/>
                  </a:lnTo>
                  <a:lnTo>
                    <a:pt x="47" y="52"/>
                  </a:lnTo>
                  <a:lnTo>
                    <a:pt x="57" y="39"/>
                  </a:lnTo>
                  <a:lnTo>
                    <a:pt x="55" y="25"/>
                  </a:lnTo>
                  <a:lnTo>
                    <a:pt x="53" y="1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CFD1D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212;p18">
              <a:extLst>
                <a:ext uri="{FF2B5EF4-FFF2-40B4-BE49-F238E27FC236}">
                  <a16:creationId xmlns:a16="http://schemas.microsoft.com/office/drawing/2014/main" id="{B75767CC-EDBC-6627-2798-41702E7D809C}"/>
                </a:ext>
              </a:extLst>
            </p:cNvPr>
            <p:cNvSpPr/>
            <p:nvPr/>
          </p:nvSpPr>
          <p:spPr>
            <a:xfrm>
              <a:off x="5586" y="1054"/>
              <a:ext cx="78" cy="76"/>
            </a:xfrm>
            <a:custGeom>
              <a:avLst/>
              <a:gdLst/>
              <a:ahLst/>
              <a:cxnLst/>
              <a:rect l="l" t="t" r="r" b="b"/>
              <a:pathLst>
                <a:path w="78" h="76" extrusionOk="0">
                  <a:moveTo>
                    <a:pt x="34" y="0"/>
                  </a:moveTo>
                  <a:lnTo>
                    <a:pt x="19" y="5"/>
                  </a:lnTo>
                  <a:lnTo>
                    <a:pt x="8" y="14"/>
                  </a:lnTo>
                  <a:lnTo>
                    <a:pt x="1" y="28"/>
                  </a:lnTo>
                  <a:lnTo>
                    <a:pt x="0" y="43"/>
                  </a:lnTo>
                  <a:lnTo>
                    <a:pt x="5" y="58"/>
                  </a:lnTo>
                  <a:lnTo>
                    <a:pt x="15" y="69"/>
                  </a:lnTo>
                  <a:lnTo>
                    <a:pt x="28" y="75"/>
                  </a:lnTo>
                  <a:lnTo>
                    <a:pt x="44" y="76"/>
                  </a:lnTo>
                  <a:lnTo>
                    <a:pt x="59" y="71"/>
                  </a:lnTo>
                  <a:lnTo>
                    <a:pt x="70" y="61"/>
                  </a:lnTo>
                  <a:lnTo>
                    <a:pt x="77" y="48"/>
                  </a:lnTo>
                  <a:lnTo>
                    <a:pt x="78" y="33"/>
                  </a:lnTo>
                  <a:lnTo>
                    <a:pt x="73" y="18"/>
                  </a:lnTo>
                  <a:lnTo>
                    <a:pt x="63" y="7"/>
                  </a:lnTo>
                  <a:lnTo>
                    <a:pt x="49" y="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C5C7C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213;p18">
              <a:extLst>
                <a:ext uri="{FF2B5EF4-FFF2-40B4-BE49-F238E27FC236}">
                  <a16:creationId xmlns:a16="http://schemas.microsoft.com/office/drawing/2014/main" id="{EC5200E6-57D5-4A6D-9229-018322E239B5}"/>
                </a:ext>
              </a:extLst>
            </p:cNvPr>
            <p:cNvSpPr/>
            <p:nvPr/>
          </p:nvSpPr>
          <p:spPr>
            <a:xfrm>
              <a:off x="5626" y="1083"/>
              <a:ext cx="36" cy="35"/>
            </a:xfrm>
            <a:custGeom>
              <a:avLst/>
              <a:gdLst/>
              <a:ahLst/>
              <a:cxnLst/>
              <a:rect l="l" t="t" r="r" b="b"/>
              <a:pathLst>
                <a:path w="36" h="35" extrusionOk="0">
                  <a:moveTo>
                    <a:pt x="25" y="0"/>
                  </a:moveTo>
                  <a:lnTo>
                    <a:pt x="7" y="2"/>
                  </a:lnTo>
                  <a:lnTo>
                    <a:pt x="0" y="11"/>
                  </a:lnTo>
                  <a:lnTo>
                    <a:pt x="2" y="29"/>
                  </a:lnTo>
                  <a:lnTo>
                    <a:pt x="11" y="35"/>
                  </a:lnTo>
                  <a:lnTo>
                    <a:pt x="30" y="33"/>
                  </a:lnTo>
                  <a:lnTo>
                    <a:pt x="36" y="24"/>
                  </a:lnTo>
                  <a:lnTo>
                    <a:pt x="34" y="6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FD1D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214;p18">
              <a:extLst>
                <a:ext uri="{FF2B5EF4-FFF2-40B4-BE49-F238E27FC236}">
                  <a16:creationId xmlns:a16="http://schemas.microsoft.com/office/drawing/2014/main" id="{1EF073D8-6A95-84CF-653A-348F9FEAF11B}"/>
                </a:ext>
              </a:extLst>
            </p:cNvPr>
            <p:cNvSpPr/>
            <p:nvPr/>
          </p:nvSpPr>
          <p:spPr>
            <a:xfrm>
              <a:off x="5774" y="1389"/>
              <a:ext cx="79" cy="77"/>
            </a:xfrm>
            <a:custGeom>
              <a:avLst/>
              <a:gdLst/>
              <a:ahLst/>
              <a:cxnLst/>
              <a:rect l="l" t="t" r="r" b="b"/>
              <a:pathLst>
                <a:path w="79" h="77" extrusionOk="0">
                  <a:moveTo>
                    <a:pt x="34" y="0"/>
                  </a:moveTo>
                  <a:lnTo>
                    <a:pt x="20" y="5"/>
                  </a:lnTo>
                  <a:lnTo>
                    <a:pt x="8" y="15"/>
                  </a:lnTo>
                  <a:lnTo>
                    <a:pt x="1" y="28"/>
                  </a:lnTo>
                  <a:lnTo>
                    <a:pt x="0" y="44"/>
                  </a:lnTo>
                  <a:lnTo>
                    <a:pt x="5" y="58"/>
                  </a:lnTo>
                  <a:lnTo>
                    <a:pt x="15" y="69"/>
                  </a:lnTo>
                  <a:lnTo>
                    <a:pt x="29" y="76"/>
                  </a:lnTo>
                  <a:lnTo>
                    <a:pt x="45" y="77"/>
                  </a:lnTo>
                  <a:lnTo>
                    <a:pt x="59" y="72"/>
                  </a:lnTo>
                  <a:lnTo>
                    <a:pt x="71" y="62"/>
                  </a:lnTo>
                  <a:lnTo>
                    <a:pt x="78" y="48"/>
                  </a:lnTo>
                  <a:lnTo>
                    <a:pt x="79" y="33"/>
                  </a:lnTo>
                  <a:lnTo>
                    <a:pt x="74" y="19"/>
                  </a:lnTo>
                  <a:lnTo>
                    <a:pt x="64" y="8"/>
                  </a:lnTo>
                  <a:lnTo>
                    <a:pt x="50" y="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C5C7C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215;p18">
              <a:extLst>
                <a:ext uri="{FF2B5EF4-FFF2-40B4-BE49-F238E27FC236}">
                  <a16:creationId xmlns:a16="http://schemas.microsoft.com/office/drawing/2014/main" id="{A72FB50D-09F5-4AA1-2D1C-82C31626CF7A}"/>
                </a:ext>
              </a:extLst>
            </p:cNvPr>
            <p:cNvSpPr/>
            <p:nvPr/>
          </p:nvSpPr>
          <p:spPr>
            <a:xfrm>
              <a:off x="5813" y="1418"/>
              <a:ext cx="36" cy="36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25" y="0"/>
                  </a:moveTo>
                  <a:lnTo>
                    <a:pt x="6" y="3"/>
                  </a:lnTo>
                  <a:lnTo>
                    <a:pt x="0" y="11"/>
                  </a:lnTo>
                  <a:lnTo>
                    <a:pt x="2" y="29"/>
                  </a:lnTo>
                  <a:lnTo>
                    <a:pt x="11" y="36"/>
                  </a:lnTo>
                  <a:lnTo>
                    <a:pt x="29" y="33"/>
                  </a:lnTo>
                  <a:lnTo>
                    <a:pt x="36" y="25"/>
                  </a:lnTo>
                  <a:lnTo>
                    <a:pt x="35" y="16"/>
                  </a:lnTo>
                  <a:lnTo>
                    <a:pt x="33" y="7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FD1D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216;p18">
              <a:extLst>
                <a:ext uri="{FF2B5EF4-FFF2-40B4-BE49-F238E27FC236}">
                  <a16:creationId xmlns:a16="http://schemas.microsoft.com/office/drawing/2014/main" id="{6D2DE0DD-72CB-8DEB-73A7-03B47B7373F9}"/>
                </a:ext>
              </a:extLst>
            </p:cNvPr>
            <p:cNvSpPr/>
            <p:nvPr/>
          </p:nvSpPr>
          <p:spPr>
            <a:xfrm>
              <a:off x="5656" y="715"/>
              <a:ext cx="412" cy="563"/>
            </a:xfrm>
            <a:custGeom>
              <a:avLst/>
              <a:gdLst/>
              <a:ahLst/>
              <a:cxnLst/>
              <a:rect l="l" t="t" r="r" b="b"/>
              <a:pathLst>
                <a:path w="412" h="563" extrusionOk="0">
                  <a:moveTo>
                    <a:pt x="139" y="0"/>
                  </a:moveTo>
                  <a:lnTo>
                    <a:pt x="0" y="467"/>
                  </a:lnTo>
                  <a:lnTo>
                    <a:pt x="24" y="518"/>
                  </a:lnTo>
                  <a:lnTo>
                    <a:pt x="319" y="563"/>
                  </a:lnTo>
                  <a:lnTo>
                    <a:pt x="412" y="237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217;p18">
              <a:extLst>
                <a:ext uri="{FF2B5EF4-FFF2-40B4-BE49-F238E27FC236}">
                  <a16:creationId xmlns:a16="http://schemas.microsoft.com/office/drawing/2014/main" id="{36722966-A207-C251-51A4-CEE1A07EFC86}"/>
                </a:ext>
              </a:extLst>
            </p:cNvPr>
            <p:cNvSpPr/>
            <p:nvPr/>
          </p:nvSpPr>
          <p:spPr>
            <a:xfrm>
              <a:off x="5656" y="715"/>
              <a:ext cx="412" cy="563"/>
            </a:xfrm>
            <a:custGeom>
              <a:avLst/>
              <a:gdLst/>
              <a:ahLst/>
              <a:cxnLst/>
              <a:rect l="l" t="t" r="r" b="b"/>
              <a:pathLst>
                <a:path w="412" h="563" extrusionOk="0">
                  <a:moveTo>
                    <a:pt x="0" y="467"/>
                  </a:moveTo>
                  <a:lnTo>
                    <a:pt x="24" y="518"/>
                  </a:lnTo>
                  <a:lnTo>
                    <a:pt x="319" y="563"/>
                  </a:lnTo>
                  <a:lnTo>
                    <a:pt x="412" y="237"/>
                  </a:lnTo>
                  <a:lnTo>
                    <a:pt x="139" y="0"/>
                  </a:lnTo>
                  <a:lnTo>
                    <a:pt x="0" y="467"/>
                  </a:lnTo>
                  <a:close/>
                </a:path>
              </a:pathLst>
            </a:custGeom>
            <a:noFill/>
            <a:ln w="9525" cap="flat" cmpd="sng">
              <a:solidFill>
                <a:srgbClr val="3538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218;p18">
              <a:extLst>
                <a:ext uri="{FF2B5EF4-FFF2-40B4-BE49-F238E27FC236}">
                  <a16:creationId xmlns:a16="http://schemas.microsoft.com/office/drawing/2014/main" id="{8C666EB5-0BD4-9BD8-3240-7C8BD4CA6A82}"/>
                </a:ext>
              </a:extLst>
            </p:cNvPr>
            <p:cNvSpPr/>
            <p:nvPr/>
          </p:nvSpPr>
          <p:spPr>
            <a:xfrm>
              <a:off x="5656" y="715"/>
              <a:ext cx="436" cy="511"/>
            </a:xfrm>
            <a:custGeom>
              <a:avLst/>
              <a:gdLst/>
              <a:ahLst/>
              <a:cxnLst/>
              <a:rect l="l" t="t" r="r" b="b"/>
              <a:pathLst>
                <a:path w="436" h="511" extrusionOk="0">
                  <a:moveTo>
                    <a:pt x="139" y="0"/>
                  </a:moveTo>
                  <a:lnTo>
                    <a:pt x="0" y="467"/>
                  </a:lnTo>
                  <a:lnTo>
                    <a:pt x="284" y="511"/>
                  </a:lnTo>
                  <a:lnTo>
                    <a:pt x="436" y="59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9FA4A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219;p18">
              <a:extLst>
                <a:ext uri="{FF2B5EF4-FFF2-40B4-BE49-F238E27FC236}">
                  <a16:creationId xmlns:a16="http://schemas.microsoft.com/office/drawing/2014/main" id="{F24C7E74-CCCD-AA09-F166-040A3975ADCF}"/>
                </a:ext>
              </a:extLst>
            </p:cNvPr>
            <p:cNvSpPr/>
            <p:nvPr/>
          </p:nvSpPr>
          <p:spPr>
            <a:xfrm>
              <a:off x="5656" y="715"/>
              <a:ext cx="436" cy="511"/>
            </a:xfrm>
            <a:custGeom>
              <a:avLst/>
              <a:gdLst/>
              <a:ahLst/>
              <a:cxnLst/>
              <a:rect l="l" t="t" r="r" b="b"/>
              <a:pathLst>
                <a:path w="436" h="511" extrusionOk="0">
                  <a:moveTo>
                    <a:pt x="436" y="59"/>
                  </a:moveTo>
                  <a:lnTo>
                    <a:pt x="139" y="0"/>
                  </a:lnTo>
                  <a:lnTo>
                    <a:pt x="0" y="467"/>
                  </a:lnTo>
                  <a:lnTo>
                    <a:pt x="284" y="511"/>
                  </a:lnTo>
                  <a:lnTo>
                    <a:pt x="436" y="59"/>
                  </a:lnTo>
                  <a:close/>
                </a:path>
              </a:pathLst>
            </a:custGeom>
            <a:noFill/>
            <a:ln w="9525" cap="flat" cmpd="sng">
              <a:solidFill>
                <a:srgbClr val="3538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220;p18">
              <a:extLst>
                <a:ext uri="{FF2B5EF4-FFF2-40B4-BE49-F238E27FC236}">
                  <a16:creationId xmlns:a16="http://schemas.microsoft.com/office/drawing/2014/main" id="{693E5486-8CFF-A1B7-B060-396AC07ED799}"/>
                </a:ext>
              </a:extLst>
            </p:cNvPr>
            <p:cNvSpPr/>
            <p:nvPr/>
          </p:nvSpPr>
          <p:spPr>
            <a:xfrm>
              <a:off x="5669" y="374"/>
              <a:ext cx="992" cy="814"/>
            </a:xfrm>
            <a:custGeom>
              <a:avLst/>
              <a:gdLst/>
              <a:ahLst/>
              <a:cxnLst/>
              <a:rect l="l" t="t" r="r" b="b"/>
              <a:pathLst>
                <a:path w="992" h="814" extrusionOk="0">
                  <a:moveTo>
                    <a:pt x="992" y="0"/>
                  </a:moveTo>
                  <a:lnTo>
                    <a:pt x="663" y="0"/>
                  </a:lnTo>
                  <a:lnTo>
                    <a:pt x="391" y="361"/>
                  </a:lnTo>
                  <a:lnTo>
                    <a:pt x="235" y="383"/>
                  </a:lnTo>
                  <a:lnTo>
                    <a:pt x="155" y="395"/>
                  </a:lnTo>
                  <a:lnTo>
                    <a:pt x="99" y="424"/>
                  </a:lnTo>
                  <a:lnTo>
                    <a:pt x="70" y="490"/>
                  </a:lnTo>
                  <a:lnTo>
                    <a:pt x="46" y="522"/>
                  </a:lnTo>
                  <a:lnTo>
                    <a:pt x="35" y="542"/>
                  </a:lnTo>
                  <a:lnTo>
                    <a:pt x="38" y="556"/>
                  </a:lnTo>
                  <a:lnTo>
                    <a:pt x="51" y="573"/>
                  </a:lnTo>
                  <a:lnTo>
                    <a:pt x="6" y="624"/>
                  </a:lnTo>
                  <a:lnTo>
                    <a:pt x="3" y="631"/>
                  </a:lnTo>
                  <a:lnTo>
                    <a:pt x="0" y="647"/>
                  </a:lnTo>
                  <a:lnTo>
                    <a:pt x="1" y="659"/>
                  </a:lnTo>
                  <a:lnTo>
                    <a:pt x="11" y="667"/>
                  </a:lnTo>
                  <a:lnTo>
                    <a:pt x="21" y="672"/>
                  </a:lnTo>
                  <a:lnTo>
                    <a:pt x="32" y="672"/>
                  </a:lnTo>
                  <a:lnTo>
                    <a:pt x="43" y="669"/>
                  </a:lnTo>
                  <a:lnTo>
                    <a:pt x="56" y="663"/>
                  </a:lnTo>
                  <a:lnTo>
                    <a:pt x="73" y="647"/>
                  </a:lnTo>
                  <a:lnTo>
                    <a:pt x="88" y="634"/>
                  </a:lnTo>
                  <a:lnTo>
                    <a:pt x="106" y="622"/>
                  </a:lnTo>
                  <a:lnTo>
                    <a:pt x="126" y="613"/>
                  </a:lnTo>
                  <a:lnTo>
                    <a:pt x="156" y="608"/>
                  </a:lnTo>
                  <a:lnTo>
                    <a:pt x="187" y="608"/>
                  </a:lnTo>
                  <a:lnTo>
                    <a:pt x="208" y="613"/>
                  </a:lnTo>
                  <a:lnTo>
                    <a:pt x="210" y="622"/>
                  </a:lnTo>
                  <a:lnTo>
                    <a:pt x="81" y="753"/>
                  </a:lnTo>
                  <a:lnTo>
                    <a:pt x="65" y="771"/>
                  </a:lnTo>
                  <a:lnTo>
                    <a:pt x="60" y="782"/>
                  </a:lnTo>
                  <a:lnTo>
                    <a:pt x="66" y="791"/>
                  </a:lnTo>
                  <a:lnTo>
                    <a:pt x="83" y="803"/>
                  </a:lnTo>
                  <a:lnTo>
                    <a:pt x="102" y="809"/>
                  </a:lnTo>
                  <a:lnTo>
                    <a:pt x="120" y="805"/>
                  </a:lnTo>
                  <a:lnTo>
                    <a:pt x="132" y="799"/>
                  </a:lnTo>
                  <a:lnTo>
                    <a:pt x="137" y="796"/>
                  </a:lnTo>
                  <a:lnTo>
                    <a:pt x="316" y="638"/>
                  </a:lnTo>
                  <a:lnTo>
                    <a:pt x="331" y="632"/>
                  </a:lnTo>
                  <a:lnTo>
                    <a:pt x="346" y="629"/>
                  </a:lnTo>
                  <a:lnTo>
                    <a:pt x="360" y="631"/>
                  </a:lnTo>
                  <a:lnTo>
                    <a:pt x="371" y="642"/>
                  </a:lnTo>
                  <a:lnTo>
                    <a:pt x="371" y="679"/>
                  </a:lnTo>
                  <a:lnTo>
                    <a:pt x="357" y="737"/>
                  </a:lnTo>
                  <a:lnTo>
                    <a:pt x="341" y="789"/>
                  </a:lnTo>
                  <a:lnTo>
                    <a:pt x="333" y="812"/>
                  </a:lnTo>
                  <a:lnTo>
                    <a:pt x="351" y="814"/>
                  </a:lnTo>
                  <a:lnTo>
                    <a:pt x="404" y="778"/>
                  </a:lnTo>
                  <a:lnTo>
                    <a:pt x="443" y="714"/>
                  </a:lnTo>
                  <a:lnTo>
                    <a:pt x="480" y="623"/>
                  </a:lnTo>
                  <a:lnTo>
                    <a:pt x="498" y="516"/>
                  </a:lnTo>
                  <a:lnTo>
                    <a:pt x="797" y="195"/>
                  </a:lnTo>
                  <a:lnTo>
                    <a:pt x="966" y="22"/>
                  </a:lnTo>
                  <a:lnTo>
                    <a:pt x="992" y="0"/>
                  </a:lnTo>
                  <a:close/>
                </a:path>
              </a:pathLst>
            </a:custGeom>
            <a:solidFill>
              <a:srgbClr val="C5C7C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221;p18">
              <a:extLst>
                <a:ext uri="{FF2B5EF4-FFF2-40B4-BE49-F238E27FC236}">
                  <a16:creationId xmlns:a16="http://schemas.microsoft.com/office/drawing/2014/main" id="{08CF7A99-7F2A-34E8-7ACB-8345D1E6967C}"/>
                </a:ext>
              </a:extLst>
            </p:cNvPr>
            <p:cNvSpPr/>
            <p:nvPr/>
          </p:nvSpPr>
          <p:spPr>
            <a:xfrm>
              <a:off x="5669" y="374"/>
              <a:ext cx="992" cy="814"/>
            </a:xfrm>
            <a:custGeom>
              <a:avLst/>
              <a:gdLst/>
              <a:ahLst/>
              <a:cxnLst/>
              <a:rect l="l" t="t" r="r" b="b"/>
              <a:pathLst>
                <a:path w="992" h="814" extrusionOk="0">
                  <a:moveTo>
                    <a:pt x="663" y="0"/>
                  </a:moveTo>
                  <a:lnTo>
                    <a:pt x="391" y="361"/>
                  </a:lnTo>
                  <a:lnTo>
                    <a:pt x="235" y="383"/>
                  </a:lnTo>
                  <a:lnTo>
                    <a:pt x="155" y="395"/>
                  </a:lnTo>
                  <a:lnTo>
                    <a:pt x="99" y="424"/>
                  </a:lnTo>
                  <a:lnTo>
                    <a:pt x="70" y="490"/>
                  </a:lnTo>
                  <a:lnTo>
                    <a:pt x="46" y="522"/>
                  </a:lnTo>
                  <a:lnTo>
                    <a:pt x="35" y="542"/>
                  </a:lnTo>
                  <a:lnTo>
                    <a:pt x="38" y="556"/>
                  </a:lnTo>
                  <a:lnTo>
                    <a:pt x="51" y="573"/>
                  </a:lnTo>
                  <a:lnTo>
                    <a:pt x="11" y="619"/>
                  </a:lnTo>
                  <a:lnTo>
                    <a:pt x="6" y="624"/>
                  </a:lnTo>
                  <a:lnTo>
                    <a:pt x="3" y="631"/>
                  </a:lnTo>
                  <a:lnTo>
                    <a:pt x="2" y="638"/>
                  </a:lnTo>
                  <a:lnTo>
                    <a:pt x="0" y="647"/>
                  </a:lnTo>
                  <a:lnTo>
                    <a:pt x="1" y="659"/>
                  </a:lnTo>
                  <a:lnTo>
                    <a:pt x="11" y="667"/>
                  </a:lnTo>
                  <a:lnTo>
                    <a:pt x="21" y="672"/>
                  </a:lnTo>
                  <a:lnTo>
                    <a:pt x="32" y="672"/>
                  </a:lnTo>
                  <a:lnTo>
                    <a:pt x="43" y="669"/>
                  </a:lnTo>
                  <a:lnTo>
                    <a:pt x="51" y="665"/>
                  </a:lnTo>
                  <a:lnTo>
                    <a:pt x="56" y="663"/>
                  </a:lnTo>
                  <a:lnTo>
                    <a:pt x="59" y="660"/>
                  </a:lnTo>
                  <a:lnTo>
                    <a:pt x="63" y="657"/>
                  </a:lnTo>
                  <a:lnTo>
                    <a:pt x="73" y="647"/>
                  </a:lnTo>
                  <a:lnTo>
                    <a:pt x="88" y="634"/>
                  </a:lnTo>
                  <a:lnTo>
                    <a:pt x="106" y="622"/>
                  </a:lnTo>
                  <a:lnTo>
                    <a:pt x="126" y="613"/>
                  </a:lnTo>
                  <a:lnTo>
                    <a:pt x="156" y="608"/>
                  </a:lnTo>
                  <a:lnTo>
                    <a:pt x="187" y="608"/>
                  </a:lnTo>
                  <a:lnTo>
                    <a:pt x="208" y="613"/>
                  </a:lnTo>
                  <a:lnTo>
                    <a:pt x="210" y="622"/>
                  </a:lnTo>
                  <a:lnTo>
                    <a:pt x="184" y="649"/>
                  </a:lnTo>
                  <a:lnTo>
                    <a:pt x="140" y="693"/>
                  </a:lnTo>
                  <a:lnTo>
                    <a:pt x="99" y="735"/>
                  </a:lnTo>
                  <a:lnTo>
                    <a:pt x="81" y="753"/>
                  </a:lnTo>
                  <a:lnTo>
                    <a:pt x="65" y="771"/>
                  </a:lnTo>
                  <a:lnTo>
                    <a:pt x="60" y="782"/>
                  </a:lnTo>
                  <a:lnTo>
                    <a:pt x="66" y="791"/>
                  </a:lnTo>
                  <a:lnTo>
                    <a:pt x="83" y="803"/>
                  </a:lnTo>
                  <a:lnTo>
                    <a:pt x="102" y="809"/>
                  </a:lnTo>
                  <a:lnTo>
                    <a:pt x="120" y="805"/>
                  </a:lnTo>
                  <a:lnTo>
                    <a:pt x="132" y="799"/>
                  </a:lnTo>
                  <a:lnTo>
                    <a:pt x="137" y="796"/>
                  </a:lnTo>
                  <a:lnTo>
                    <a:pt x="311" y="642"/>
                  </a:lnTo>
                  <a:lnTo>
                    <a:pt x="314" y="640"/>
                  </a:lnTo>
                  <a:lnTo>
                    <a:pt x="316" y="638"/>
                  </a:lnTo>
                  <a:lnTo>
                    <a:pt x="319" y="637"/>
                  </a:lnTo>
                  <a:lnTo>
                    <a:pt x="331" y="632"/>
                  </a:lnTo>
                  <a:lnTo>
                    <a:pt x="346" y="629"/>
                  </a:lnTo>
                  <a:lnTo>
                    <a:pt x="360" y="631"/>
                  </a:lnTo>
                  <a:lnTo>
                    <a:pt x="371" y="642"/>
                  </a:lnTo>
                  <a:lnTo>
                    <a:pt x="371" y="679"/>
                  </a:lnTo>
                  <a:lnTo>
                    <a:pt x="357" y="737"/>
                  </a:lnTo>
                  <a:lnTo>
                    <a:pt x="341" y="789"/>
                  </a:lnTo>
                  <a:lnTo>
                    <a:pt x="333" y="812"/>
                  </a:lnTo>
                  <a:lnTo>
                    <a:pt x="351" y="814"/>
                  </a:lnTo>
                  <a:lnTo>
                    <a:pt x="404" y="778"/>
                  </a:lnTo>
                  <a:lnTo>
                    <a:pt x="443" y="714"/>
                  </a:lnTo>
                  <a:lnTo>
                    <a:pt x="480" y="623"/>
                  </a:lnTo>
                  <a:lnTo>
                    <a:pt x="498" y="516"/>
                  </a:lnTo>
                  <a:lnTo>
                    <a:pt x="797" y="195"/>
                  </a:lnTo>
                  <a:lnTo>
                    <a:pt x="966" y="22"/>
                  </a:lnTo>
                  <a:lnTo>
                    <a:pt x="992" y="0"/>
                  </a:lnTo>
                </a:path>
              </a:pathLst>
            </a:custGeom>
            <a:noFill/>
            <a:ln w="9525" cap="flat" cmpd="sng">
              <a:solidFill>
                <a:srgbClr val="353837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7" name="Google Shape;222;p18">
              <a:extLst>
                <a:ext uri="{FF2B5EF4-FFF2-40B4-BE49-F238E27FC236}">
                  <a16:creationId xmlns:a16="http://schemas.microsoft.com/office/drawing/2014/main" id="{CB78ECAB-3DFB-730D-A8F6-B4245A6C5FA4}"/>
                </a:ext>
              </a:extLst>
            </p:cNvPr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5718" y="824"/>
              <a:ext cx="176" cy="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223;p18">
              <a:extLst>
                <a:ext uri="{FF2B5EF4-FFF2-40B4-BE49-F238E27FC236}">
                  <a16:creationId xmlns:a16="http://schemas.microsoft.com/office/drawing/2014/main" id="{8A67DC45-84A8-2D0D-1ACA-461510918BD6}"/>
                </a:ext>
              </a:extLst>
            </p:cNvPr>
            <p:cNvSpPr txBox="1"/>
            <p:nvPr/>
          </p:nvSpPr>
          <p:spPr>
            <a:xfrm>
              <a:off x="4623" y="432"/>
              <a:ext cx="356" cy="2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1" i="0" u="none" strike="noStrike" cap="none">
                  <a:solidFill>
                    <a:srgbClr val="221F1F"/>
                  </a:solidFill>
                  <a:latin typeface="Tahoma"/>
                  <a:ea typeface="Tahoma"/>
                  <a:cs typeface="Tahoma"/>
                  <a:sym typeface="Tahoma"/>
                </a:rPr>
                <a:t>  3  </a:t>
              </a:r>
              <a:endParaRPr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9" name="Google Shape;224;p18">
              <a:extLst>
                <a:ext uri="{FF2B5EF4-FFF2-40B4-BE49-F238E27FC236}">
                  <a16:creationId xmlns:a16="http://schemas.microsoft.com/office/drawing/2014/main" id="{E68F15BA-E864-D765-B891-C1C38B4B9A9D}"/>
                </a:ext>
              </a:extLst>
            </p:cNvPr>
            <p:cNvSpPr txBox="1"/>
            <p:nvPr/>
          </p:nvSpPr>
          <p:spPr>
            <a:xfrm>
              <a:off x="4636" y="3022"/>
              <a:ext cx="3570" cy="2137"/>
            </a:xfrm>
            <a:prstGeom prst="rect">
              <a:avLst/>
            </a:prstGeom>
            <a:solidFill>
              <a:srgbClr val="C6C7C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61595" marR="3048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0" i="0" u="none" strike="noStrike" cap="none">
                  <a:solidFill>
                    <a:srgbClr val="221F1F"/>
                  </a:solidFill>
                  <a:latin typeface="Montserrat" panose="00000500000000000000" pitchFamily="2" charset="0"/>
                  <a:ea typeface="Tahoma"/>
                  <a:cs typeface="Tahoma"/>
                  <a:sym typeface="Tahoma"/>
                </a:rPr>
                <a:t>Sem alguns componentes, limpe bem o interior da CAIXA SEPARADORA, utilizando água e detergente. Lembre-se, não deixe resquício de detergente.</a:t>
              </a:r>
              <a:endParaRPr sz="1200" b="0" i="0" u="none" strike="noStrike" cap="none">
                <a:solidFill>
                  <a:srgbClr val="000000"/>
                </a:solidFill>
                <a:latin typeface="Montserrat" panose="00000500000000000000" pitchFamily="2" charset="0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40373EF4-0E84-6D6D-803A-ED61528588A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1048" y="90329"/>
            <a:ext cx="990600" cy="60007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57465CA-3682-A1C9-75BD-6CFA440C10C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49726" y="326958"/>
            <a:ext cx="5400675" cy="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6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DE46E-2642-00E7-5220-94A5AD65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8A9229B2-7C21-7C06-C706-890D535D64D7}"/>
              </a:ext>
            </a:extLst>
          </p:cNvPr>
          <p:cNvGrpSpPr/>
          <p:nvPr/>
        </p:nvGrpSpPr>
        <p:grpSpPr>
          <a:xfrm>
            <a:off x="439677" y="1845975"/>
            <a:ext cx="374337" cy="187168"/>
            <a:chOff x="0" y="0"/>
            <a:chExt cx="812800" cy="4064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393E40C-2933-9630-334A-3090D1B1B491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56F5993-4393-A550-5A6F-D2B7B9E599FB}"/>
                </a:ext>
              </a:extLst>
            </p:cNvPr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DDA1EEF7-0D32-B132-21E6-4902387A9A07}"/>
              </a:ext>
            </a:extLst>
          </p:cNvPr>
          <p:cNvSpPr txBox="1"/>
          <p:nvPr/>
        </p:nvSpPr>
        <p:spPr>
          <a:xfrm>
            <a:off x="439677" y="1155645"/>
            <a:ext cx="6119272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2000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DIFERENCIAIS</a:t>
            </a:r>
          </a:p>
        </p:txBody>
      </p: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44E4656D-2D2D-65BD-E940-85BA511554B4}"/>
              </a:ext>
            </a:extLst>
          </p:cNvPr>
          <p:cNvCxnSpPr/>
          <p:nvPr/>
        </p:nvCxnSpPr>
        <p:spPr>
          <a:xfrm>
            <a:off x="-3500" y="10299700"/>
            <a:ext cx="538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B57E0F3-9EA4-D57F-CBB1-E94CB28132CA}"/>
              </a:ext>
            </a:extLst>
          </p:cNvPr>
          <p:cNvSpPr txBox="1"/>
          <p:nvPr/>
        </p:nvSpPr>
        <p:spPr>
          <a:xfrm>
            <a:off x="670514" y="1799795"/>
            <a:ext cx="4730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CAIXA SEPARADORA PARA COMPRESSORES</a:t>
            </a:r>
            <a:endParaRPr lang="pt-BR" sz="1400" b="0" i="0" u="none" strike="noStrike" cap="none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83E9082-0F93-63D6-61F8-9221E972E77F}"/>
              </a:ext>
            </a:extLst>
          </p:cNvPr>
          <p:cNvSpPr txBox="1"/>
          <p:nvPr/>
        </p:nvSpPr>
        <p:spPr>
          <a:xfrm>
            <a:off x="407926" y="2282432"/>
            <a:ext cx="65707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>
                <a:latin typeface="Montserrat" panose="00000500000000000000" pitchFamily="2" charset="0"/>
              </a:rPr>
              <a:t>A </a:t>
            </a:r>
            <a:r>
              <a:rPr lang="pt-BR" sz="1200" b="1">
                <a:latin typeface="Montserrat" panose="00000500000000000000" pitchFamily="2" charset="0"/>
              </a:rPr>
              <a:t>Caixa Separadora </a:t>
            </a:r>
            <a:r>
              <a:rPr lang="pt-BR" sz="1200">
                <a:latin typeface="Montserrat" panose="00000500000000000000" pitchFamily="2" charset="0"/>
              </a:rPr>
              <a:t> foi projetada exclusivamente para tratar os condensados gerados em sistemas de ar comprimido. Diferente de soluções genéricas, seu design técnico garante </a:t>
            </a:r>
            <a:r>
              <a:rPr lang="pt-BR" sz="1200" b="1">
                <a:latin typeface="Montserrat" panose="00000500000000000000" pitchFamily="2" charset="0"/>
              </a:rPr>
              <a:t>maior eficiência, durabilidade e facilidade de operação</a:t>
            </a:r>
            <a:r>
              <a:rPr lang="pt-BR" sz="1200">
                <a:latin typeface="Montserrat" panose="00000500000000000000" pitchFamily="2" charset="0"/>
              </a:rPr>
              <a:t>, atendendo às necessidades específicas de ambientes industriais.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2E7F508-D662-6CB5-10F0-604EA052ABA9}"/>
              </a:ext>
            </a:extLst>
          </p:cNvPr>
          <p:cNvSpPr txBox="1"/>
          <p:nvPr/>
        </p:nvSpPr>
        <p:spPr>
          <a:xfrm>
            <a:off x="559038" y="3415589"/>
            <a:ext cx="655548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>
                <a:latin typeface="Montserrat" panose="00000500000000000000" pitchFamily="2" charset="0"/>
              </a:rPr>
              <a:t>Projeto Específico para Condensado de Compressores:</a:t>
            </a:r>
          </a:p>
          <a:p>
            <a:endParaRPr lang="pt-BR" sz="1200" b="1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O condensado de compressores </a:t>
            </a:r>
            <a:r>
              <a:rPr lang="pt-BR" sz="1200" b="1">
                <a:latin typeface="Montserrat" panose="00000500000000000000" pitchFamily="2" charset="0"/>
              </a:rPr>
              <a:t>não é apenas água e óleo</a:t>
            </a:r>
            <a:r>
              <a:rPr lang="pt-BR" sz="1200">
                <a:latin typeface="Montserrat" panose="00000500000000000000" pitchFamily="2" charset="0"/>
              </a:rPr>
              <a:t>; trata-se de uma mistura comprimida sob pressão, mais complexa e difícil de separar.</a:t>
            </a:r>
          </a:p>
          <a:p>
            <a:endParaRPr lang="pt-BR" sz="120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A tecnologia da caixa garante uma </a:t>
            </a:r>
            <a:r>
              <a:rPr lang="pt-BR" sz="1200" b="1">
                <a:latin typeface="Montserrat" panose="00000500000000000000" pitchFamily="2" charset="0"/>
              </a:rPr>
              <a:t>eficiência superior na separação</a:t>
            </a:r>
            <a:r>
              <a:rPr lang="pt-BR" sz="1200">
                <a:latin typeface="Montserrat" panose="00000500000000000000" pitchFamily="2" charset="0"/>
              </a:rPr>
              <a:t>, mesmo em processos industriais contínuos.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B5E09C2-2094-14E0-D120-7B3DB90C7288}"/>
              </a:ext>
            </a:extLst>
          </p:cNvPr>
          <p:cNvSpPr txBox="1"/>
          <p:nvPr/>
        </p:nvSpPr>
        <p:spPr>
          <a:xfrm>
            <a:off x="524746" y="5066108"/>
            <a:ext cx="6570723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1">
                <a:latin typeface="Montserrat" panose="00000500000000000000" pitchFamily="2" charset="0"/>
              </a:rPr>
              <a:t> Estrutura Robusta e Prática:</a:t>
            </a:r>
          </a:p>
          <a:p>
            <a:pPr>
              <a:buNone/>
            </a:pPr>
            <a:endParaRPr lang="pt-BR" sz="1200" b="1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200" b="1">
                <a:latin typeface="Montserrat" panose="00000500000000000000" pitchFamily="2" charset="0"/>
              </a:rPr>
              <a:t>Não há necessidade de enterrar a caixa</a:t>
            </a:r>
            <a:r>
              <a:rPr lang="pt-BR" sz="1200">
                <a:latin typeface="Montserrat" panose="00000500000000000000" pitchFamily="2" charset="0"/>
              </a:rPr>
              <a:t>, pois ela já possui reforço externo para instalação em superfície.</a:t>
            </a:r>
          </a:p>
          <a:p>
            <a:endParaRPr lang="pt-BR" sz="120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Estrutura resistente, desenvolvida para </a:t>
            </a:r>
            <a:r>
              <a:rPr lang="pt-BR" sz="1200" b="1">
                <a:latin typeface="Montserrat" panose="00000500000000000000" pitchFamily="2" charset="0"/>
              </a:rPr>
              <a:t>uso industrial intenso</a:t>
            </a:r>
            <a:r>
              <a:rPr lang="pt-BR" sz="1200">
                <a:latin typeface="Montserrat" panose="00000500000000000000" pitchFamily="2" charset="0"/>
              </a:rPr>
              <a:t> com longa vida útil</a:t>
            </a:r>
            <a:r>
              <a:rPr lang="pt-BR"/>
              <a:t>.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87015289-D681-A057-5267-AB79481AE2D0}"/>
              </a:ext>
            </a:extLst>
          </p:cNvPr>
          <p:cNvSpPr txBox="1"/>
          <p:nvPr/>
        </p:nvSpPr>
        <p:spPr>
          <a:xfrm>
            <a:off x="550042" y="6754575"/>
            <a:ext cx="658107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1">
                <a:latin typeface="Montserrat" panose="00000500000000000000" pitchFamily="2" charset="0"/>
              </a:rPr>
              <a:t> Tecnologia de Separação Avançada:</a:t>
            </a:r>
          </a:p>
          <a:p>
            <a:pPr>
              <a:buNone/>
            </a:pPr>
            <a:endParaRPr lang="pt-BR" sz="1200" b="1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200" b="1">
                <a:latin typeface="Montserrat" panose="00000500000000000000" pitchFamily="2" charset="0"/>
              </a:rPr>
              <a:t>Placas coalescentes</a:t>
            </a:r>
            <a:r>
              <a:rPr lang="pt-BR" sz="1200">
                <a:latin typeface="Montserrat" panose="00000500000000000000" pitchFamily="2" charset="0"/>
              </a:rPr>
              <a:t> que facilitam a aglutinação das microgotas de óleo, tornando a separação mais eficiente.</a:t>
            </a:r>
          </a:p>
          <a:p>
            <a:endParaRPr lang="pt-BR" sz="120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Sistema de </a:t>
            </a:r>
            <a:r>
              <a:rPr lang="pt-BR" sz="1200" b="1">
                <a:latin typeface="Montserrat" panose="00000500000000000000" pitchFamily="2" charset="0"/>
              </a:rPr>
              <a:t>filtros com manta e cartuchos</a:t>
            </a:r>
            <a:r>
              <a:rPr lang="pt-BR" sz="1200">
                <a:latin typeface="Montserrat" panose="00000500000000000000" pitchFamily="2" charset="0"/>
              </a:rPr>
              <a:t>, que aceleram o processo de decantação e aumentam a pureza da água descartada.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FA1909FB-2AC8-14D1-F6C7-68C61B0DEE7F}"/>
              </a:ext>
            </a:extLst>
          </p:cNvPr>
          <p:cNvSpPr txBox="1"/>
          <p:nvPr/>
        </p:nvSpPr>
        <p:spPr>
          <a:xfrm>
            <a:off x="617125" y="8495495"/>
            <a:ext cx="653897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1">
                <a:latin typeface="Montserrat" panose="00000500000000000000" pitchFamily="2" charset="0"/>
              </a:rPr>
              <a:t>Conformidade Ambiental Garantida:</a:t>
            </a:r>
          </a:p>
          <a:p>
            <a:pPr>
              <a:buNone/>
            </a:pPr>
            <a:endParaRPr lang="pt-BR" sz="1200" b="1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Atende plenamente às </a:t>
            </a:r>
            <a:r>
              <a:rPr lang="pt-BR" sz="1200" b="1">
                <a:latin typeface="Montserrat" panose="00000500000000000000" pitchFamily="2" charset="0"/>
              </a:rPr>
              <a:t>normas ambientais brasileiras</a:t>
            </a:r>
            <a:r>
              <a:rPr lang="pt-BR" sz="1200">
                <a:latin typeface="Montserrat" panose="00000500000000000000" pitchFamily="2" charset="0"/>
              </a:rPr>
              <a:t> para descarte de efluentes oleosos.</a:t>
            </a:r>
          </a:p>
          <a:p>
            <a:endParaRPr lang="pt-BR" sz="120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Contribui para operações mais seguras, sustentáveis e livres de passivos ambientais.</a:t>
            </a:r>
          </a:p>
        </p:txBody>
      </p:sp>
      <p:pic>
        <p:nvPicPr>
          <p:cNvPr id="83" name="Google Shape;184;p18">
            <a:extLst>
              <a:ext uri="{FF2B5EF4-FFF2-40B4-BE49-F238E27FC236}">
                <a16:creationId xmlns:a16="http://schemas.microsoft.com/office/drawing/2014/main" id="{56BCBC1E-57F7-FA57-A02B-6B1B9890743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486" y="3467416"/>
            <a:ext cx="397182" cy="35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184;p18">
            <a:extLst>
              <a:ext uri="{FF2B5EF4-FFF2-40B4-BE49-F238E27FC236}">
                <a16:creationId xmlns:a16="http://schemas.microsoft.com/office/drawing/2014/main" id="{6B548074-B867-B72D-D36C-C344AFA49C6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486" y="5129607"/>
            <a:ext cx="397182" cy="35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184;p18">
            <a:extLst>
              <a:ext uri="{FF2B5EF4-FFF2-40B4-BE49-F238E27FC236}">
                <a16:creationId xmlns:a16="http://schemas.microsoft.com/office/drawing/2014/main" id="{DDA21D70-106B-9676-41AE-DC78F34E9F3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0900" y="6754575"/>
            <a:ext cx="397182" cy="35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184;p18">
            <a:extLst>
              <a:ext uri="{FF2B5EF4-FFF2-40B4-BE49-F238E27FC236}">
                <a16:creationId xmlns:a16="http://schemas.microsoft.com/office/drawing/2014/main" id="{DEA5E751-D8D4-852D-CC94-13BFA9E6E0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1856" y="8495495"/>
            <a:ext cx="397182" cy="35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2501B2B-46F3-7D18-246C-ACD38EEB2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096" y="389996"/>
            <a:ext cx="5400675" cy="952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536995F-A990-3ED7-72EF-E49A8D725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73" y="132742"/>
            <a:ext cx="9906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693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F757-BC74-9160-66B1-4C2F22B5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6A2C3A47-7061-DE29-494D-C4DAB9376BD8}"/>
              </a:ext>
            </a:extLst>
          </p:cNvPr>
          <p:cNvGrpSpPr/>
          <p:nvPr/>
        </p:nvGrpSpPr>
        <p:grpSpPr>
          <a:xfrm>
            <a:off x="504171" y="1465136"/>
            <a:ext cx="374337" cy="187168"/>
            <a:chOff x="0" y="0"/>
            <a:chExt cx="812800" cy="4064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B54610C-36BB-7D07-1F67-65DBE421FBF3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F9F1D88-9E9B-CAE0-9720-44E5671DE41C}"/>
                </a:ext>
              </a:extLst>
            </p:cNvPr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6CEABA29-3A12-8B1B-2905-5120072FBADF}"/>
              </a:ext>
            </a:extLst>
          </p:cNvPr>
          <p:cNvCxnSpPr/>
          <p:nvPr/>
        </p:nvCxnSpPr>
        <p:spPr>
          <a:xfrm>
            <a:off x="-3500" y="10299700"/>
            <a:ext cx="538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AAEC8B1-907C-3482-0804-6E7538B827E4}"/>
              </a:ext>
            </a:extLst>
          </p:cNvPr>
          <p:cNvSpPr txBox="1"/>
          <p:nvPr/>
        </p:nvSpPr>
        <p:spPr>
          <a:xfrm>
            <a:off x="907552" y="1358665"/>
            <a:ext cx="4730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ITEM 01:</a:t>
            </a:r>
            <a:endParaRPr lang="pt-BR" sz="2000" b="0" i="0" u="none" strike="noStrike" cap="none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BE4219C-B3E3-5781-99ED-32CB5E02C27A}"/>
              </a:ext>
            </a:extLst>
          </p:cNvPr>
          <p:cNvSpPr txBox="1"/>
          <p:nvPr/>
        </p:nvSpPr>
        <p:spPr>
          <a:xfrm>
            <a:off x="468785" y="2109929"/>
            <a:ext cx="44373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600" b="0" i="0" u="none" strike="noStrike">
                <a:solidFill>
                  <a:srgbClr val="595959"/>
                </a:solidFill>
                <a:effectLst/>
                <a:latin typeface="Montserrat" panose="00000500000000000000" pitchFamily="2" charset="0"/>
              </a:rPr>
              <a:t>Caixa Separadora de água óleo para compressores de ar comprimido.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pt-BR" sz="1600" b="0" i="0" u="none" strike="noStrike">
              <a:solidFill>
                <a:srgbClr val="595959"/>
              </a:solidFill>
              <a:effectLst/>
              <a:latin typeface="Montserrat" panose="00000500000000000000" pitchFamily="2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600" b="0" i="0" u="none" strike="noStrike">
                <a:solidFill>
                  <a:srgbClr val="595959"/>
                </a:solidFill>
                <a:effectLst/>
                <a:latin typeface="Montserrat" panose="00000500000000000000" pitchFamily="2" charset="0"/>
              </a:rPr>
              <a:t>Modelo: ASK300</a:t>
            </a:r>
            <a:endParaRPr lang="pt-BR" sz="1600" b="0" dirty="0">
              <a:effectLst/>
              <a:latin typeface="Montserrat" panose="00000500000000000000" pitchFamily="2" charset="0"/>
            </a:endParaRPr>
          </a:p>
        </p:txBody>
      </p:sp>
      <p:pic>
        <p:nvPicPr>
          <p:cNvPr id="11" name="Google Shape;249;p19">
            <a:extLst>
              <a:ext uri="{FF2B5EF4-FFF2-40B4-BE49-F238E27FC236}">
                <a16:creationId xmlns:a16="http://schemas.microsoft.com/office/drawing/2014/main" id="{1D5A1C1C-9DD6-28B9-6653-14BFC912DC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3042" r="14782" b="9187"/>
          <a:stretch/>
        </p:blipFill>
        <p:spPr>
          <a:xfrm>
            <a:off x="4630585" y="1317531"/>
            <a:ext cx="2113006" cy="26586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Google Shape;248;p19">
            <a:extLst>
              <a:ext uri="{FF2B5EF4-FFF2-40B4-BE49-F238E27FC236}">
                <a16:creationId xmlns:a16="http://schemas.microsoft.com/office/drawing/2014/main" id="{4AD156F1-E42E-28FE-8F34-CE85B27451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1922570"/>
              </p:ext>
            </p:extLst>
          </p:nvPr>
        </p:nvGraphicFramePr>
        <p:xfrm>
          <a:off x="600386" y="4399747"/>
          <a:ext cx="5918225" cy="24765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7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/>
                        <a:t>CARACTERÍSTICAS</a:t>
                      </a:r>
                      <a:r>
                        <a:rPr lang="pt-BR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TÉCNICAS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ASK300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Performance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Vazão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Até 300 PCM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Até </a:t>
                      </a:r>
                      <a:r>
                        <a:rPr lang="pt-BR" sz="11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8,49 m³/min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Pressão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 13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Bar(g)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a 188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Psig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Aplicação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Conexão 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3x12mm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Conector 12mm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Comprimento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/>
                        <a:t>920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/>
                        <a:t>Milímetros</a:t>
                      </a: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(mm)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Largura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/>
                        <a:t>540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/>
                        <a:t>Milímetros</a:t>
                      </a: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(mm)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Altura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/>
                        <a:t>740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/>
                        <a:t>Milímetros</a:t>
                      </a: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(mm)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Peso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/>
                        <a:t>15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Quilos (Kg)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Volume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Litros (l)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B2B80505-B2E6-E463-0223-71887512E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58" y="243395"/>
            <a:ext cx="990600" cy="60007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6CA86B64-E3A8-BBA1-B10D-3C6E2F4B4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825" y="442938"/>
            <a:ext cx="5400675" cy="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72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60377" y="1072383"/>
            <a:ext cx="467840" cy="233920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34174" y="1034283"/>
            <a:ext cx="4608974" cy="306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CONDIÇÕES COMERCIAIS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718EA84-99D9-0C81-F771-871E1CFFDFF8}"/>
              </a:ext>
            </a:extLst>
          </p:cNvPr>
          <p:cNvCxnSpPr/>
          <p:nvPr/>
        </p:nvCxnSpPr>
        <p:spPr>
          <a:xfrm>
            <a:off x="-3500" y="10299700"/>
            <a:ext cx="538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Google Shape;261;p20">
            <a:extLst>
              <a:ext uri="{FF2B5EF4-FFF2-40B4-BE49-F238E27FC236}">
                <a16:creationId xmlns:a16="http://schemas.microsoft.com/office/drawing/2014/main" id="{6E3E16C3-E2CC-43D9-3491-218E4582E9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2444854"/>
              </p:ext>
            </p:extLst>
          </p:nvPr>
        </p:nvGraphicFramePr>
        <p:xfrm>
          <a:off x="460377" y="2146300"/>
          <a:ext cx="5836389" cy="85519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1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34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Item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Qtde</a:t>
                      </a:r>
                      <a:endParaRPr sz="1400" u="none" strike="noStrike" cap="none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Descrição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 Total (R$)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6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Kit de Manutenção Preventiva                             </a:t>
                      </a:r>
                      <a:endParaRPr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R$ 1.624,00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Google Shape;250;p11">
            <a:extLst>
              <a:ext uri="{FF2B5EF4-FFF2-40B4-BE49-F238E27FC236}">
                <a16:creationId xmlns:a16="http://schemas.microsoft.com/office/drawing/2014/main" id="{B88F46F9-A350-FB3C-51E3-232E3A48D4CF}"/>
              </a:ext>
            </a:extLst>
          </p:cNvPr>
          <p:cNvSpPr txBox="1"/>
          <p:nvPr/>
        </p:nvSpPr>
        <p:spPr>
          <a:xfrm>
            <a:off x="460376" y="7908484"/>
            <a:ext cx="4079874" cy="1554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Atenciosamente,</a:t>
            </a:r>
            <a:endParaRPr sz="1400" dirty="0">
              <a:latin typeface="Montserrat" panose="00000500000000000000" pitchFamily="2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chemeClr val="dk1"/>
                </a:solidFill>
                <a:latin typeface="Montserrat" panose="00000500000000000000" pitchFamily="2" charset="0"/>
              </a:rPr>
              <a:t> Nome vendedor</a:t>
            </a:r>
            <a:endParaRPr sz="1400" dirty="0">
              <a:latin typeface="Montserrat" panose="00000500000000000000" pitchFamily="2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Montserrat" panose="00000500000000000000" pitchFamily="2" charset="0"/>
              </a:rPr>
              <a:t> Assistente Comercial de vendas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(</a:t>
            </a:r>
            <a:r>
              <a:rPr lang="pt-BR" sz="1400" dirty="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47) 9 88990693</a:t>
            </a:r>
            <a:endParaRPr sz="1400" dirty="0">
              <a:latin typeface="Montserrat" panose="00000500000000000000" pitchFamily="2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u="sng" dirty="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  <a:hlinkClick r:id="rId2"/>
              </a:rPr>
              <a:t>comercial@evolucaocompressores.com.br</a:t>
            </a:r>
            <a:r>
              <a:rPr lang="pt-BR" sz="1400" dirty="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</a:t>
            </a:r>
            <a:endParaRPr sz="1400" dirty="0">
              <a:latin typeface="Montserrat" panose="00000500000000000000" pitchFamily="2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" name="Google Shape;262;p20">
            <a:extLst>
              <a:ext uri="{FF2B5EF4-FFF2-40B4-BE49-F238E27FC236}">
                <a16:creationId xmlns:a16="http://schemas.microsoft.com/office/drawing/2014/main" id="{9E2CD151-AB03-A50E-1B2F-AA95E3A0A2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5781830"/>
              </p:ext>
            </p:extLst>
          </p:nvPr>
        </p:nvGraphicFramePr>
        <p:xfrm>
          <a:off x="460376" y="3773788"/>
          <a:ext cx="5836389" cy="3798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9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30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Condições de pagamento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Previsão de entrega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Frete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Validade da Proposta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Garantia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 dirty="0"/>
                        <a:t>Opção 01</a:t>
                      </a:r>
                      <a:r>
                        <a:rPr lang="pt-BR" sz="1100" b="1" u="none" strike="noStrike" cap="none" baseline="0" dirty="0"/>
                        <a:t> </a:t>
                      </a:r>
                      <a:br>
                        <a:rPr lang="pt-BR" sz="1100" u="none" strike="noStrike" cap="none" baseline="0" dirty="0"/>
                      </a:br>
                      <a:r>
                        <a:rPr lang="pt-BR" sz="1100" u="none" strike="noStrike" cap="none" baseline="0" dirty="0"/>
                        <a:t>R$ </a:t>
                      </a:r>
                      <a:r>
                        <a:rPr lang="pt-BR" sz="1100" u="none" strike="noStrike" cap="none" dirty="0"/>
                        <a:t>12.054,78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 dirty="0"/>
                        <a:t>Com</a:t>
                      </a:r>
                      <a:r>
                        <a:rPr lang="pt-BR" sz="1100" u="none" strike="noStrike" cap="none" baseline="0" dirty="0"/>
                        <a:t> entrada 30% + 3x</a:t>
                      </a:r>
                      <a:br>
                        <a:rPr lang="pt-BR" sz="1100" u="none" strike="noStrike" cap="none" baseline="0" dirty="0"/>
                      </a:br>
                      <a:endParaRPr lang="pt-BR" sz="1100" u="none" strike="noStrike" cap="none" baseline="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 dirty="0"/>
                        <a:t>Opção 02</a:t>
                      </a:r>
                      <a:r>
                        <a:rPr lang="pt-BR" sz="1100" b="1" u="none" strike="noStrike" cap="none" baseline="0" dirty="0"/>
                        <a:t>. </a:t>
                      </a:r>
                      <a:br>
                        <a:rPr lang="pt-BR" sz="1100" b="1" u="none" strike="noStrike" cap="none" baseline="0" dirty="0"/>
                      </a:br>
                      <a:r>
                        <a:rPr lang="pt-BR" sz="1100" u="none" strike="noStrike" cap="none" baseline="0" dirty="0"/>
                        <a:t>R$ </a:t>
                      </a:r>
                      <a:r>
                        <a:rPr lang="pt-BR" sz="1100" u="none" strike="noStrike" cap="none" dirty="0"/>
                        <a:t>10.000,00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strike="noStrike" cap="none" baseline="0" dirty="0"/>
                        <a:t> </a:t>
                      </a:r>
                      <a:endParaRPr sz="11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</a:t>
                      </a: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dias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pt-BR"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CIF</a:t>
                      </a:r>
                      <a:r>
                        <a:rPr lang="pt-BR" sz="11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pt-B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 SC</a:t>
                      </a:r>
                      <a:br>
                        <a:rPr lang="pt-B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d</a:t>
                      </a:r>
                      <a:r>
                        <a:rPr lang="pt-B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ia</a:t>
                      </a: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meses</a:t>
                      </a:r>
                      <a:endParaRPr sz="11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Faturamento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0"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Caso sejamos contemplados com o seu pedido de compra, este deverá ser emitido para:</a:t>
                      </a:r>
                      <a:endParaRPr lang="pt-BR" sz="1100" dirty="0"/>
                    </a:p>
                    <a:p>
                      <a:r>
                        <a:rPr lang="pt-BR" sz="11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pt-BR" sz="1200" b="0" i="0" u="none" strike="noStrike" cap="none" baseline="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pt-BR" sz="1400" b="0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pt-BR" sz="1100" b="1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MENDES &amp; BARCELOS LTDA</a:t>
                      </a:r>
                      <a:r>
                        <a:rPr lang="pt-BR" sz="9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lang="pt-BR" sz="1100" b="1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7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Regime</a:t>
                      </a:r>
                      <a:r>
                        <a:rPr lang="pt-BR" sz="1100" b="0" u="none" strike="noStrike" cap="none" baseline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Tributário</a:t>
                      </a:r>
                      <a:r>
                        <a:rPr lang="pt-BR" sz="11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: Simples</a:t>
                      </a:r>
                      <a:r>
                        <a:rPr lang="pt-BR" sz="1100" b="0" u="none" strike="noStrike" cap="none" baseline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Nacional</a:t>
                      </a:r>
                      <a:r>
                        <a:rPr lang="pt-BR" sz="11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710"/>
                        </a:spcBef>
                        <a:spcAft>
                          <a:spcPts val="0"/>
                        </a:spcAft>
                        <a:buNone/>
                      </a:pPr>
                      <a:endParaRPr lang="pt-BR" sz="11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pt-BR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CNPJ: 80.737.695/0001-28 </a:t>
                      </a:r>
                      <a:r>
                        <a:rPr lang="pt-BR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| Insc. Estadual: </a:t>
                      </a:r>
                      <a:r>
                        <a:rPr lang="pt-BR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251.733.327</a:t>
                      </a:r>
                      <a:r>
                        <a:rPr lang="pt-BR" sz="1100" dirty="0"/>
                        <a:t> | Insc. Municipal: 4659</a:t>
                      </a:r>
                    </a:p>
                    <a:p>
                      <a:r>
                        <a:rPr lang="pt-B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Rua dos Suíços, 17210 – Costa e Silva</a:t>
                      </a:r>
                      <a:r>
                        <a:rPr lang="pt-BR" sz="1100" b="0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pt-B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 89220-801 	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Joinville – SC</a:t>
                      </a:r>
                      <a:endParaRPr lang="pt-BR"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6CA4A87B-8562-EE41-63BE-9D09F50AD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693" y="512378"/>
            <a:ext cx="5400675" cy="952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9E16A01E-7FF4-A005-6470-3813F568F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17" y="221866"/>
            <a:ext cx="990600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60377" y="1072383"/>
            <a:ext cx="467840" cy="233920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 dirty="0"/>
            </a:p>
          </p:txBody>
        </p:sp>
      </p:grpSp>
      <p:sp>
        <p:nvSpPr>
          <p:cNvPr id="16" name="Freeform 16"/>
          <p:cNvSpPr/>
          <p:nvPr/>
        </p:nvSpPr>
        <p:spPr>
          <a:xfrm>
            <a:off x="627503" y="4344490"/>
            <a:ext cx="163664" cy="249392"/>
          </a:xfrm>
          <a:custGeom>
            <a:avLst/>
            <a:gdLst/>
            <a:ahLst/>
            <a:cxnLst/>
            <a:rect l="l" t="t" r="r" b="b"/>
            <a:pathLst>
              <a:path w="163664" h="249392">
                <a:moveTo>
                  <a:pt x="0" y="0"/>
                </a:moveTo>
                <a:lnTo>
                  <a:pt x="163664" y="0"/>
                </a:lnTo>
                <a:lnTo>
                  <a:pt x="163664" y="249392"/>
                </a:lnTo>
                <a:lnTo>
                  <a:pt x="0" y="249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27505" y="4799170"/>
            <a:ext cx="212583" cy="196462"/>
          </a:xfrm>
          <a:custGeom>
            <a:avLst/>
            <a:gdLst/>
            <a:ahLst/>
            <a:cxnLst/>
            <a:rect l="l" t="t" r="r" b="b"/>
            <a:pathLst>
              <a:path w="212583" h="196462">
                <a:moveTo>
                  <a:pt x="0" y="0"/>
                </a:moveTo>
                <a:lnTo>
                  <a:pt x="212583" y="0"/>
                </a:lnTo>
                <a:lnTo>
                  <a:pt x="212583" y="196462"/>
                </a:lnTo>
                <a:lnTo>
                  <a:pt x="0" y="196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853719" y="4381761"/>
            <a:ext cx="163664" cy="249392"/>
          </a:xfrm>
          <a:custGeom>
            <a:avLst/>
            <a:gdLst/>
            <a:ahLst/>
            <a:cxnLst/>
            <a:rect l="l" t="t" r="r" b="b"/>
            <a:pathLst>
              <a:path w="163664" h="249392">
                <a:moveTo>
                  <a:pt x="0" y="0"/>
                </a:moveTo>
                <a:lnTo>
                  <a:pt x="163663" y="0"/>
                </a:lnTo>
                <a:lnTo>
                  <a:pt x="163663" y="249393"/>
                </a:lnTo>
                <a:lnTo>
                  <a:pt x="0" y="249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838353" y="4788364"/>
            <a:ext cx="212583" cy="196462"/>
          </a:xfrm>
          <a:custGeom>
            <a:avLst/>
            <a:gdLst/>
            <a:ahLst/>
            <a:cxnLst/>
            <a:rect l="l" t="t" r="r" b="b"/>
            <a:pathLst>
              <a:path w="212583" h="196462">
                <a:moveTo>
                  <a:pt x="0" y="0"/>
                </a:moveTo>
                <a:lnTo>
                  <a:pt x="212583" y="0"/>
                </a:lnTo>
                <a:lnTo>
                  <a:pt x="212583" y="196462"/>
                </a:lnTo>
                <a:lnTo>
                  <a:pt x="0" y="196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 flipH="1" flipV="1">
            <a:off x="3696717" y="3744249"/>
            <a:ext cx="0" cy="15244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1034174" y="1034285"/>
            <a:ext cx="4608974" cy="621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b="1" dirty="0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À DISPOSIÇÃO</a:t>
            </a:r>
          </a:p>
          <a:p>
            <a:pPr>
              <a:lnSpc>
                <a:spcPts val="2520"/>
              </a:lnSpc>
            </a:pPr>
            <a:endParaRPr lang="en-US" b="1" dirty="0">
              <a:solidFill>
                <a:srgbClr val="6F6F6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09944" y="1636262"/>
            <a:ext cx="6128010" cy="1945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Evolução</a:t>
            </a: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Compressores conta com equipe comercial e técnica altamente qualificada, para fornecimento de produtos, serviços e soluções no consumo de ar comprimido, assim aprimorando o consumo de energia elétrica, a produtividade e as operações dos clientes.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Atualmente a Evolução Compressores conta com duas unidades, sendo uma em São Bento do Sul e outra em Joinville ambas no estado de Santa Catarina.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Estamos no mercado há mais de 40 anos, oferecendo comprometimento, produtividade e inteligência nos negócios dos clientes.</a:t>
            </a:r>
          </a:p>
          <a:p>
            <a:pPr algn="just">
              <a:lnSpc>
                <a:spcPts val="1679"/>
              </a:lnSpc>
            </a:pPr>
            <a:endParaRPr lang="en-US"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90677" y="3763302"/>
            <a:ext cx="2108245" cy="226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3"/>
              </a:lnSpc>
            </a:pPr>
            <a:r>
              <a:rPr lang="en-US" sz="13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Unidade de Joinville-SC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70851" y="3744247"/>
            <a:ext cx="3042865" cy="226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3"/>
              </a:lnSpc>
            </a:pPr>
            <a:r>
              <a:rPr lang="en-US" sz="13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Unidade de São Bento do Sul - SC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8217" y="4402868"/>
            <a:ext cx="2704042" cy="191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40"/>
              </a:lnSpc>
            </a:pPr>
            <a:r>
              <a:rPr lang="en-US" sz="11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Rua dos suíços, 17210 - Costa e Silva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8217" y="4818723"/>
            <a:ext cx="1402232" cy="191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40"/>
              </a:lnSpc>
            </a:pPr>
            <a:r>
              <a:rPr lang="en-US" sz="11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(47) 3455-0337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184286" y="4380331"/>
            <a:ext cx="2289067" cy="408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40"/>
              </a:lnSpc>
            </a:pPr>
            <a:r>
              <a:rPr lang="en-US" sz="11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Rua Pedro Robl, 13 - Colonial</a:t>
            </a:r>
          </a:p>
          <a:p>
            <a:pPr algn="ctr">
              <a:lnSpc>
                <a:spcPts val="1640"/>
              </a:lnSpc>
            </a:pPr>
            <a:endParaRPr lang="en-US" sz="117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184284" y="4755717"/>
            <a:ext cx="1590096" cy="396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40"/>
              </a:lnSpc>
            </a:pPr>
            <a:r>
              <a:rPr lang="en-US" sz="11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(47) 3635-0222</a:t>
            </a:r>
          </a:p>
          <a:p>
            <a:pPr algn="ctr">
              <a:lnSpc>
                <a:spcPts val="1640"/>
              </a:lnSpc>
            </a:pPr>
            <a:endParaRPr lang="en-US" sz="117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75990" y="5963877"/>
            <a:ext cx="6128010" cy="85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Agradecemos a oportunidade e vossa atenção à nossa proposta técnica e comercial referente a fornecimento de equipamentos para geração de ar comprimido.</a:t>
            </a:r>
          </a:p>
          <a:p>
            <a:pPr algn="just">
              <a:lnSpc>
                <a:spcPts val="1679"/>
              </a:lnSpc>
            </a:pPr>
            <a:endParaRPr lang="en-US"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75990" y="6923997"/>
            <a:ext cx="6324722" cy="855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5"/>
              </a:lnSpc>
            </a:pPr>
            <a:r>
              <a:rPr lang="en-US" sz="1196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Desde já ficamos à disposição para esclarecimentos de quaisquer dúvidas ou para o fornecimento de informações adicionais que se fizerem necessárias.</a:t>
            </a:r>
          </a:p>
          <a:p>
            <a:pPr>
              <a:lnSpc>
                <a:spcPts val="1675"/>
              </a:lnSpc>
            </a:pPr>
            <a:endParaRPr lang="en-US" sz="1196" b="1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>
              <a:lnSpc>
                <a:spcPts val="1675"/>
              </a:lnSpc>
            </a:pPr>
            <a:endParaRPr lang="en-US" sz="1196" b="1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0677" y="7732087"/>
            <a:ext cx="6324722" cy="1509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5"/>
              </a:lnSpc>
            </a:pPr>
            <a:r>
              <a:rPr lang="en-US" sz="1196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Atenciosamente,</a:t>
            </a:r>
          </a:p>
          <a:p>
            <a:pPr>
              <a:lnSpc>
                <a:spcPts val="1675"/>
              </a:lnSpc>
            </a:pPr>
            <a:endParaRPr lang="en-US" sz="1196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>
              <a:lnSpc>
                <a:spcPts val="1675"/>
              </a:lnSpc>
            </a:pPr>
            <a:r>
              <a:rPr lang="en-US" sz="1196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Nome Sobrenome</a:t>
            </a:r>
          </a:p>
          <a:p>
            <a:pPr>
              <a:lnSpc>
                <a:spcPts val="1675"/>
              </a:lnSpc>
            </a:pPr>
            <a:r>
              <a:rPr lang="en-US" sz="1196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Consultor Técnico de Vendas</a:t>
            </a:r>
          </a:p>
          <a:p>
            <a:pPr>
              <a:lnSpc>
                <a:spcPts val="1675"/>
              </a:lnSpc>
            </a:pPr>
            <a:r>
              <a:rPr lang="en-US" sz="1196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(47) 00000</a:t>
            </a:r>
          </a:p>
          <a:p>
            <a:pPr>
              <a:lnSpc>
                <a:spcPts val="1675"/>
              </a:lnSpc>
            </a:pPr>
            <a:r>
              <a:rPr lang="en-US" sz="1196" b="1" u="sng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6" tooltip="mailto:tavares@evolucaocompressores.com.br"/>
              </a:rPr>
              <a:t>email@evolucaocompressores.com.br</a:t>
            </a:r>
            <a:r>
              <a:rPr lang="en-US" sz="1196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  <a:p>
            <a:pPr>
              <a:lnSpc>
                <a:spcPts val="1675"/>
              </a:lnSpc>
            </a:pPr>
            <a:endParaRPr lang="en-US" sz="1196" b="1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4EA67F56-74C0-A712-52FF-4789FF89BB39}"/>
              </a:ext>
            </a:extLst>
          </p:cNvPr>
          <p:cNvCxnSpPr/>
          <p:nvPr/>
        </p:nvCxnSpPr>
        <p:spPr>
          <a:xfrm>
            <a:off x="54428" y="10297916"/>
            <a:ext cx="538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BAB978F-0289-0D35-61E9-5153DC3B55BC}"/>
              </a:ext>
            </a:extLst>
          </p:cNvPr>
          <p:cNvSpPr txBox="1"/>
          <p:nvPr/>
        </p:nvSpPr>
        <p:spPr>
          <a:xfrm>
            <a:off x="637048" y="9373187"/>
            <a:ext cx="4023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>
                <a:latin typeface="Montserrat" panose="00000500000000000000" pitchFamily="2" charset="0"/>
                <a:cs typeface="Aharoni" panose="02010803020104030203" pitchFamily="2" charset="-79"/>
              </a:rPr>
              <a:t>Conecte-se com a gente:</a:t>
            </a:r>
            <a:endParaRPr lang="pt-BR" sz="1600" b="1" dirty="0">
              <a:latin typeface="Montserrat" panose="00000500000000000000" pitchFamily="2" charset="0"/>
              <a:cs typeface="Aharoni" panose="02010803020104030203" pitchFamily="2" charset="-79"/>
            </a:endParaRP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A42EA514-9053-1BAC-1389-A643B9466E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867" y="246624"/>
            <a:ext cx="990600" cy="600075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E9862E57-33D6-9A6F-F040-338AC3FEF3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7041" y="573195"/>
            <a:ext cx="5400675" cy="9525"/>
          </a:xfrm>
          <a:prstGeom prst="rect">
            <a:avLst/>
          </a:prstGeom>
        </p:spPr>
      </p:pic>
      <p:pic>
        <p:nvPicPr>
          <p:cNvPr id="36" name="Imagem 35" descr="Código QR&#10;&#10;O conteúdo gerado por IA pode estar incorreto.">
            <a:extLst>
              <a:ext uri="{FF2B5EF4-FFF2-40B4-BE49-F238E27FC236}">
                <a16:creationId xmlns:a16="http://schemas.microsoft.com/office/drawing/2014/main" id="{517702D9-5E61-ED86-2FDD-7BB3AA6C524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26" y="9723341"/>
            <a:ext cx="527414" cy="527414"/>
          </a:xfrm>
          <a:prstGeom prst="rect">
            <a:avLst/>
          </a:prstGeom>
        </p:spPr>
      </p:pic>
      <p:pic>
        <p:nvPicPr>
          <p:cNvPr id="39" name="Gráfico 38" descr="Internet com preenchimento sólido">
            <a:hlinkClick r:id="rId10"/>
            <a:extLst>
              <a:ext uri="{FF2B5EF4-FFF2-40B4-BE49-F238E27FC236}">
                <a16:creationId xmlns:a16="http://schemas.microsoft.com/office/drawing/2014/main" id="{7F034CA0-9357-0715-F334-AB3C4A2065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9934" y="9821415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4263</TotalTime>
  <Words>1102</Words>
  <Application>Microsoft Office PowerPoint</Application>
  <PresentationFormat>Personalizar</PresentationFormat>
  <Paragraphs>174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21" baseType="lpstr">
      <vt:lpstr>Noto Sans Symbols</vt:lpstr>
      <vt:lpstr>Trebuchet MS</vt:lpstr>
      <vt:lpstr>Calibri</vt:lpstr>
      <vt:lpstr>Open Sans</vt:lpstr>
      <vt:lpstr>Arial</vt:lpstr>
      <vt:lpstr>Tahoma</vt:lpstr>
      <vt:lpstr>Aptos</vt:lpstr>
      <vt:lpstr>Montserrat Medium</vt:lpstr>
      <vt:lpstr>Montserrat Bold</vt:lpstr>
      <vt:lpstr>Montserrat</vt:lpstr>
      <vt:lpstr>Montserrat Ultra-Bold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Linha -E</dc:title>
  <dc:creator>EvolucaoCompressores</dc:creator>
  <cp:lastModifiedBy>Kamille Silveira</cp:lastModifiedBy>
  <cp:revision>46</cp:revision>
  <cp:lastPrinted>2025-08-20T12:01:41Z</cp:lastPrinted>
  <dcterms:created xsi:type="dcterms:W3CDTF">2006-08-16T00:00:00Z</dcterms:created>
  <dcterms:modified xsi:type="dcterms:W3CDTF">2025-09-02T18:09:28Z</dcterms:modified>
  <dc:identifier>DAGwijnfSlk</dc:identifier>
</cp:coreProperties>
</file>