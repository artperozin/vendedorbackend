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80" r:id="rId6"/>
    <p:sldId id="261" r:id="rId7"/>
    <p:sldId id="281" r:id="rId8"/>
    <p:sldId id="282" r:id="rId9"/>
    <p:sldId id="277" r:id="rId10"/>
    <p:sldId id="278" r:id="rId11"/>
    <p:sldId id="279" r:id="rId12"/>
  </p:sldIdLst>
  <p:sldSz cx="7556500" cy="10693400"/>
  <p:notesSz cx="6797675" cy="9925050"/>
  <p:embeddedFontLst>
    <p:embeddedFont>
      <p:font typeface="Montserrat" panose="00000500000000000000" pitchFamily="2" charset="0"/>
      <p:regular r:id="rId15"/>
      <p:bold r:id="rId16"/>
      <p:italic r:id="rId17"/>
      <p:boldItalic r:id="rId18"/>
    </p:embeddedFont>
    <p:embeddedFont>
      <p:font typeface="Montserrat Bold" panose="00000800000000000000" charset="0"/>
      <p:regular r:id="rId19"/>
      <p:bold r:id="rId20"/>
    </p:embeddedFont>
    <p:embeddedFont>
      <p:font typeface="Montserrat Medium" panose="00000600000000000000" pitchFamily="2" charset="0"/>
      <p:regular r:id="rId21"/>
      <p:italic r:id="rId22"/>
    </p:embeddedFont>
    <p:embeddedFont>
      <p:font typeface="Montserrat Ultra-Bold" panose="020B0604020202020204" charset="0"/>
      <p:regular r:id="rId23"/>
    </p:embeddedFont>
    <p:embeddedFont>
      <p:font typeface="Neue Montreal" panose="020B0604020202020204" charset="0"/>
      <p:regular r:id="rId24"/>
    </p:embeddedFont>
    <p:embeddedFont>
      <p:font typeface="Open Sans" panose="020B060603050402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322" autoAdjust="0"/>
  </p:normalViewPr>
  <p:slideViewPr>
    <p:cSldViewPr>
      <p:cViewPr>
        <p:scale>
          <a:sx n="40" d="100"/>
          <a:sy n="40" d="100"/>
        </p:scale>
        <p:origin x="2875" y="38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53" d="100"/>
          <a:sy n="53" d="100"/>
        </p:scale>
        <p:origin x="25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8AE6E75-3963-358C-A73B-9402468FF928}"/>
              </a:ext>
            </a:extLst>
          </p:cNvPr>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422F854B-2621-EBBB-CE73-09A4CE0E5B2C}"/>
              </a:ext>
            </a:extLst>
          </p:cNvPr>
          <p:cNvSpPr>
            <a:spLocks noGrp="1"/>
          </p:cNvSpPr>
          <p:nvPr>
            <p:ph type="dt" sz="quarter" idx="1"/>
          </p:nvPr>
        </p:nvSpPr>
        <p:spPr>
          <a:xfrm>
            <a:off x="3850443" y="0"/>
            <a:ext cx="2945659" cy="497976"/>
          </a:xfrm>
          <a:prstGeom prst="rect">
            <a:avLst/>
          </a:prstGeom>
        </p:spPr>
        <p:txBody>
          <a:bodyPr vert="horz" lIns="91440" tIns="45720" rIns="91440" bIns="45720" rtlCol="0"/>
          <a:lstStyle>
            <a:lvl1pPr algn="r">
              <a:defRPr sz="1200"/>
            </a:lvl1pPr>
          </a:lstStyle>
          <a:p>
            <a:fld id="{C3D78E1D-67DD-4E8C-88DC-F4D6FD930920}" type="datetimeFigureOut">
              <a:rPr lang="pt-BR" smtClean="0"/>
              <a:t>11/09/2025</a:t>
            </a:fld>
            <a:endParaRPr lang="pt-BR"/>
          </a:p>
        </p:txBody>
      </p:sp>
      <p:sp>
        <p:nvSpPr>
          <p:cNvPr id="4" name="Espaço Reservado para Rodapé 3">
            <a:extLst>
              <a:ext uri="{FF2B5EF4-FFF2-40B4-BE49-F238E27FC236}">
                <a16:creationId xmlns:a16="http://schemas.microsoft.com/office/drawing/2014/main" id="{A06E5410-A1BE-B047-3F91-1BA665B9806D}"/>
              </a:ext>
            </a:extLst>
          </p:cNvPr>
          <p:cNvSpPr>
            <a:spLocks noGrp="1"/>
          </p:cNvSpPr>
          <p:nvPr>
            <p:ph type="ftr" sz="quarter" idx="2"/>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2148F886-C3DA-2757-9543-221935C257AE}"/>
              </a:ext>
            </a:extLst>
          </p:cNvPr>
          <p:cNvSpPr>
            <a:spLocks noGrp="1"/>
          </p:cNvSpPr>
          <p:nvPr>
            <p:ph type="sldNum" sz="quarter" idx="3"/>
          </p:nvPr>
        </p:nvSpPr>
        <p:spPr>
          <a:xfrm>
            <a:off x="3850443" y="9427076"/>
            <a:ext cx="2945659" cy="497975"/>
          </a:xfrm>
          <a:prstGeom prst="rect">
            <a:avLst/>
          </a:prstGeom>
        </p:spPr>
        <p:txBody>
          <a:bodyPr vert="horz" lIns="91440" tIns="45720" rIns="91440" bIns="45720" rtlCol="0" anchor="b"/>
          <a:lstStyle>
            <a:lvl1pPr algn="r">
              <a:defRPr sz="1200"/>
            </a:lvl1pPr>
          </a:lstStyle>
          <a:p>
            <a:fld id="{8F0BC10D-DFA5-4BF4-A947-533D8B255A57}" type="slidenum">
              <a:rPr lang="pt-BR" smtClean="0"/>
              <a:t>‹nº›</a:t>
            </a:fld>
            <a:endParaRPr lang="pt-BR"/>
          </a:p>
        </p:txBody>
      </p:sp>
    </p:spTree>
    <p:extLst>
      <p:ext uri="{BB962C8B-B14F-4D97-AF65-F5344CB8AC3E}">
        <p14:creationId xmlns:p14="http://schemas.microsoft.com/office/powerpoint/2010/main" val="32700954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50443" y="0"/>
            <a:ext cx="2945659" cy="497976"/>
          </a:xfrm>
          <a:prstGeom prst="rect">
            <a:avLst/>
          </a:prstGeom>
        </p:spPr>
        <p:txBody>
          <a:bodyPr vert="horz" lIns="91440" tIns="45720" rIns="91440" bIns="45720" rtlCol="0"/>
          <a:lstStyle>
            <a:lvl1pPr algn="r">
              <a:defRPr sz="1200"/>
            </a:lvl1pPr>
          </a:lstStyle>
          <a:p>
            <a:fld id="{48586573-8530-45A5-A38F-2574AED3FDB8}" type="datetimeFigureOut">
              <a:rPr lang="pt-BR" smtClean="0"/>
              <a:t>11/09/2025</a:t>
            </a:fld>
            <a:endParaRPr lang="pt-BR"/>
          </a:p>
        </p:txBody>
      </p:sp>
      <p:sp>
        <p:nvSpPr>
          <p:cNvPr id="4" name="Espaço Reservado para Imagem de Slide 3"/>
          <p:cNvSpPr>
            <a:spLocks noGrp="1" noRot="1" noChangeAspect="1"/>
          </p:cNvSpPr>
          <p:nvPr>
            <p:ph type="sldImg" idx="2"/>
          </p:nvPr>
        </p:nvSpPr>
        <p:spPr>
          <a:xfrm>
            <a:off x="2216150" y="1239838"/>
            <a:ext cx="2365375" cy="33512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79768" y="4776431"/>
            <a:ext cx="5438140" cy="3907988"/>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50443" y="9427076"/>
            <a:ext cx="2945659" cy="497975"/>
          </a:xfrm>
          <a:prstGeom prst="rect">
            <a:avLst/>
          </a:prstGeom>
        </p:spPr>
        <p:txBody>
          <a:bodyPr vert="horz" lIns="91440" tIns="45720" rIns="91440" bIns="45720" rtlCol="0" anchor="b"/>
          <a:lstStyle>
            <a:lvl1pPr algn="r">
              <a:defRPr sz="1200"/>
            </a:lvl1pPr>
          </a:lstStyle>
          <a:p>
            <a:fld id="{4D151DBA-812A-4523-B99E-697B9AE51F52}" type="slidenum">
              <a:rPr lang="pt-BR" smtClean="0"/>
              <a:t>‹nº›</a:t>
            </a:fld>
            <a:endParaRPr lang="pt-BR"/>
          </a:p>
        </p:txBody>
      </p:sp>
    </p:spTree>
    <p:extLst>
      <p:ext uri="{BB962C8B-B14F-4D97-AF65-F5344CB8AC3E}">
        <p14:creationId xmlns:p14="http://schemas.microsoft.com/office/powerpoint/2010/main" val="304858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9/11/2025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u8ru2W8YvmpBJ7NwRy4gI2Pdve1BwAxh/view?usp=sharing" TargetMode="External"/><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hyperlink" Target="http://www.evolucaocompressores.com.br/" TargetMode="External"/><Relationship Id="rId13" Type="http://schemas.openxmlformats.org/officeDocument/2006/relationships/image" Target="../media/image22.png"/><Relationship Id="rId18" Type="http://schemas.openxmlformats.org/officeDocument/2006/relationships/hyperlink" Target="https://www.youtube.com/channel/UCwd-vQDfQFCs9o1J-7-WiMQ" TargetMode="External"/><Relationship Id="rId3" Type="http://schemas.openxmlformats.org/officeDocument/2006/relationships/image" Target="../media/image17.svg"/><Relationship Id="rId7" Type="http://schemas.openxmlformats.org/officeDocument/2006/relationships/image" Target="../media/image7.png"/><Relationship Id="rId12" Type="http://schemas.openxmlformats.org/officeDocument/2006/relationships/hyperlink" Target="https://www.linkedin.com/company/14047743" TargetMode="External"/><Relationship Id="rId17" Type="http://schemas.openxmlformats.org/officeDocument/2006/relationships/image" Target="../media/image24.png"/><Relationship Id="rId2" Type="http://schemas.openxmlformats.org/officeDocument/2006/relationships/image" Target="../media/image16.png"/><Relationship Id="rId16" Type="http://schemas.openxmlformats.org/officeDocument/2006/relationships/hyperlink" Target="https://www.instagram.com/evolucaocompressores/?hl=pt-br" TargetMode="External"/><Relationship Id="rId20"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mailto:tavares@evolucaocompressores.com.br" TargetMode="External"/><Relationship Id="rId11" Type="http://schemas.openxmlformats.org/officeDocument/2006/relationships/image" Target="../media/image21.png"/><Relationship Id="rId5" Type="http://schemas.openxmlformats.org/officeDocument/2006/relationships/image" Target="../media/image19.svg"/><Relationship Id="rId15" Type="http://schemas.openxmlformats.org/officeDocument/2006/relationships/image" Target="../media/image23.png"/><Relationship Id="rId10" Type="http://schemas.openxmlformats.org/officeDocument/2006/relationships/hyperlink" Target="https://www.youtube.com/watch?v=xp5ODjBytuo" TargetMode="External"/><Relationship Id="rId19"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20.png"/><Relationship Id="rId14" Type="http://schemas.openxmlformats.org/officeDocument/2006/relationships/hyperlink" Target="https://www.facebook.com/EvolucaoCompresso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402065" y="108000"/>
            <a:ext cx="3049937" cy="1156226"/>
          </a:xfrm>
          <a:custGeom>
            <a:avLst/>
            <a:gdLst/>
            <a:ahLst/>
            <a:cxnLst/>
            <a:rect l="l" t="t" r="r" b="b"/>
            <a:pathLst>
              <a:path w="3049937" h="1156226">
                <a:moveTo>
                  <a:pt x="0" y="0"/>
                </a:moveTo>
                <a:lnTo>
                  <a:pt x="3049937" y="0"/>
                </a:lnTo>
                <a:lnTo>
                  <a:pt x="3049937" y="1156226"/>
                </a:lnTo>
                <a:lnTo>
                  <a:pt x="0" y="1156226"/>
                </a:lnTo>
                <a:lnTo>
                  <a:pt x="0" y="0"/>
                </a:lnTo>
                <a:close/>
              </a:path>
            </a:pathLst>
          </a:custGeom>
          <a:blipFill>
            <a:blip r:embed="rId2"/>
            <a:stretch>
              <a:fillRect/>
            </a:stretch>
          </a:blipFill>
        </p:spPr>
      </p:sp>
      <p:sp>
        <p:nvSpPr>
          <p:cNvPr id="8" name="TextBox 8"/>
          <p:cNvSpPr txBox="1"/>
          <p:nvPr/>
        </p:nvSpPr>
        <p:spPr>
          <a:xfrm>
            <a:off x="4181765" y="6908188"/>
            <a:ext cx="3476738" cy="690895"/>
          </a:xfrm>
          <a:prstGeom prst="rect">
            <a:avLst/>
          </a:prstGeom>
        </p:spPr>
        <p:txBody>
          <a:bodyPr lIns="0" tIns="0" rIns="0" bIns="0" rtlCol="0" anchor="t">
            <a:spAutoFit/>
          </a:bodyPr>
          <a:lstStyle/>
          <a:p>
            <a:pPr algn="ctr">
              <a:lnSpc>
                <a:spcPts val="2761"/>
              </a:lnSpc>
            </a:pPr>
            <a:r>
              <a:rPr lang="en-US" sz="1972" b="1" dirty="0">
                <a:solidFill>
                  <a:srgbClr val="434343"/>
                </a:solidFill>
                <a:latin typeface="Montserrat Ultra-Bold"/>
                <a:ea typeface="Montserrat Ultra-Bold"/>
                <a:cs typeface="Montserrat Ultra-Bold"/>
                <a:sym typeface="Montserrat Ultra-Bold"/>
              </a:rPr>
              <a:t>NOME DA EMPRESA</a:t>
            </a:r>
          </a:p>
          <a:p>
            <a:pPr algn="ctr">
              <a:lnSpc>
                <a:spcPts val="2761"/>
              </a:lnSpc>
            </a:pPr>
            <a:r>
              <a:rPr lang="en-US" sz="1972" b="1" dirty="0" err="1">
                <a:solidFill>
                  <a:srgbClr val="434343"/>
                </a:solidFill>
                <a:latin typeface="Montserrat Ultra-Bold"/>
                <a:ea typeface="Montserrat Ultra-Bold"/>
                <a:cs typeface="Montserrat Ultra-Bold"/>
                <a:sym typeface="Montserrat Ultra-Bold"/>
              </a:rPr>
              <a:t>Cidade</a:t>
            </a:r>
            <a:r>
              <a:rPr lang="en-US" sz="1972" b="1">
                <a:solidFill>
                  <a:srgbClr val="434343"/>
                </a:solidFill>
                <a:latin typeface="Montserrat Ultra-Bold"/>
                <a:ea typeface="Montserrat Ultra-Bold"/>
                <a:cs typeface="Montserrat Ultra-Bold"/>
                <a:sym typeface="Montserrat Ultra-Bold"/>
              </a:rPr>
              <a:t>  - UF</a:t>
            </a:r>
            <a:endParaRPr lang="en-US" sz="1972" b="1" dirty="0">
              <a:solidFill>
                <a:srgbClr val="434343"/>
              </a:solidFill>
              <a:latin typeface="Montserrat Ultra-Bold"/>
              <a:ea typeface="Montserrat Ultra-Bold"/>
              <a:cs typeface="Montserrat Ultra-Bold"/>
              <a:sym typeface="Montserrat Ultra-Bold"/>
            </a:endParaRPr>
          </a:p>
        </p:txBody>
      </p:sp>
      <p:sp>
        <p:nvSpPr>
          <p:cNvPr id="9" name="TextBox 9"/>
          <p:cNvSpPr txBox="1"/>
          <p:nvPr/>
        </p:nvSpPr>
        <p:spPr>
          <a:xfrm>
            <a:off x="4409136" y="8127014"/>
            <a:ext cx="3049937" cy="1121970"/>
          </a:xfrm>
          <a:prstGeom prst="rect">
            <a:avLst/>
          </a:prstGeom>
        </p:spPr>
        <p:txBody>
          <a:bodyPr lIns="0" tIns="0" rIns="0" bIns="0" rtlCol="0" anchor="t">
            <a:spAutoFit/>
          </a:bodyPr>
          <a:lstStyle/>
          <a:p>
            <a:pPr>
              <a:lnSpc>
                <a:spcPts val="2235"/>
              </a:lnSpc>
            </a:pPr>
            <a:r>
              <a:rPr lang="en-US" sz="1597" dirty="0">
                <a:solidFill>
                  <a:srgbClr val="434343"/>
                </a:solidFill>
                <a:latin typeface="Open Sans"/>
                <a:ea typeface="Open Sans"/>
                <a:cs typeface="Open Sans"/>
                <a:sym typeface="Open Sans"/>
              </a:rPr>
              <a:t>Aos </a:t>
            </a:r>
            <a:r>
              <a:rPr lang="en-US" sz="1597" dirty="0" err="1">
                <a:solidFill>
                  <a:srgbClr val="434343"/>
                </a:solidFill>
                <a:latin typeface="Open Sans"/>
                <a:ea typeface="Open Sans"/>
                <a:cs typeface="Open Sans"/>
                <a:sym typeface="Open Sans"/>
              </a:rPr>
              <a:t>cuidados</a:t>
            </a:r>
            <a:r>
              <a:rPr lang="en-US" sz="1597">
                <a:solidFill>
                  <a:srgbClr val="434343"/>
                </a:solidFill>
                <a:latin typeface="Open Sans"/>
                <a:ea typeface="Open Sans"/>
                <a:cs typeface="Open Sans"/>
                <a:sym typeface="Open Sans"/>
              </a:rPr>
              <a:t>,</a:t>
            </a:r>
          </a:p>
          <a:p>
            <a:pPr>
              <a:lnSpc>
                <a:spcPts val="2235"/>
              </a:lnSpc>
            </a:pPr>
            <a:r>
              <a:rPr lang="en-US" sz="1597">
                <a:solidFill>
                  <a:srgbClr val="434343"/>
                </a:solidFill>
                <a:latin typeface="Open Sans"/>
                <a:ea typeface="Open Sans"/>
                <a:cs typeface="Open Sans"/>
                <a:sym typeface="Open Sans"/>
              </a:rPr>
              <a:t>Sr. ******</a:t>
            </a:r>
          </a:p>
          <a:p>
            <a:pPr>
              <a:lnSpc>
                <a:spcPts val="2235"/>
              </a:lnSpc>
            </a:pPr>
            <a:r>
              <a:rPr lang="en-US" sz="1597">
                <a:solidFill>
                  <a:srgbClr val="434343"/>
                </a:solidFill>
                <a:latin typeface="Open Sans"/>
                <a:ea typeface="Open Sans"/>
                <a:cs typeface="Open Sans"/>
                <a:sym typeface="Open Sans"/>
              </a:rPr>
              <a:t>(47) *******</a:t>
            </a:r>
          </a:p>
          <a:p>
            <a:pPr>
              <a:lnSpc>
                <a:spcPts val="2235"/>
              </a:lnSpc>
            </a:pPr>
            <a:r>
              <a:rPr lang="en-US" sz="1597">
                <a:solidFill>
                  <a:srgbClr val="434343"/>
                </a:solidFill>
                <a:latin typeface="Open Sans"/>
                <a:ea typeface="Open Sans"/>
                <a:cs typeface="Open Sans"/>
                <a:sym typeface="Open Sans"/>
              </a:rPr>
              <a:t>E-MAIL@EMAIL</a:t>
            </a:r>
          </a:p>
        </p:txBody>
      </p:sp>
      <p:sp>
        <p:nvSpPr>
          <p:cNvPr id="10" name="TextBox 10"/>
          <p:cNvSpPr txBox="1"/>
          <p:nvPr/>
        </p:nvSpPr>
        <p:spPr>
          <a:xfrm>
            <a:off x="4337625" y="10048415"/>
            <a:ext cx="2407677" cy="271501"/>
          </a:xfrm>
          <a:prstGeom prst="rect">
            <a:avLst/>
          </a:prstGeom>
        </p:spPr>
        <p:txBody>
          <a:bodyPr lIns="0" tIns="0" rIns="0" bIns="0" rtlCol="0" anchor="t">
            <a:spAutoFit/>
          </a:bodyPr>
          <a:lstStyle/>
          <a:p>
            <a:pPr>
              <a:lnSpc>
                <a:spcPts val="2235"/>
              </a:lnSpc>
            </a:pPr>
            <a:r>
              <a:rPr lang="en-US" sz="1597">
                <a:solidFill>
                  <a:srgbClr val="434343"/>
                </a:solidFill>
                <a:latin typeface="Open Sans"/>
                <a:ea typeface="Open Sans"/>
                <a:cs typeface="Open Sans"/>
                <a:sym typeface="Open Sans"/>
              </a:rPr>
              <a:t>Jlle,  ** de *** de ****</a:t>
            </a:r>
          </a:p>
        </p:txBody>
      </p:sp>
      <p:sp>
        <p:nvSpPr>
          <p:cNvPr id="12" name="TextBox 12"/>
          <p:cNvSpPr txBox="1"/>
          <p:nvPr/>
        </p:nvSpPr>
        <p:spPr>
          <a:xfrm>
            <a:off x="315241" y="5900060"/>
            <a:ext cx="6929521" cy="539250"/>
          </a:xfrm>
          <a:prstGeom prst="rect">
            <a:avLst/>
          </a:prstGeom>
        </p:spPr>
        <p:txBody>
          <a:bodyPr lIns="0" tIns="0" rIns="0" bIns="0" rtlCol="0" anchor="t">
            <a:spAutoFit/>
          </a:bodyPr>
          <a:lstStyle/>
          <a:p>
            <a:pPr algn="r">
              <a:lnSpc>
                <a:spcPts val="4620"/>
              </a:lnSpc>
            </a:pPr>
            <a:r>
              <a:rPr lang="en-US" sz="3300">
                <a:solidFill>
                  <a:srgbClr val="FFFFFF"/>
                </a:solidFill>
                <a:latin typeface="Neue Montreal"/>
                <a:ea typeface="Neue Montreal"/>
                <a:cs typeface="Neue Montreal"/>
                <a:sym typeface="Neue Montreal"/>
              </a:rPr>
              <a:t>N° ********</a:t>
            </a:r>
          </a:p>
        </p:txBody>
      </p:sp>
      <p:pic>
        <p:nvPicPr>
          <p:cNvPr id="15" name="Imagem 14" descr="Uma imagem contendo no interior, pia, avião, mesa&#10;&#10;O conteúdo gerado por IA pode estar incorreto.">
            <a:extLst>
              <a:ext uri="{FF2B5EF4-FFF2-40B4-BE49-F238E27FC236}">
                <a16:creationId xmlns:a16="http://schemas.microsoft.com/office/drawing/2014/main" id="{98355C1D-FB51-064C-F0EA-C631E31B8FE2}"/>
              </a:ext>
            </a:extLst>
          </p:cNvPr>
          <p:cNvPicPr>
            <a:picLocks noChangeAspect="1"/>
          </p:cNvPicPr>
          <p:nvPr/>
        </p:nvPicPr>
        <p:blipFill>
          <a:blip r:embed="rId3">
            <a:extLst>
              <a:ext uri="{28A0092B-C50C-407E-A947-70E740481C1C}">
                <a14:useLocalDpi xmlns:a14="http://schemas.microsoft.com/office/drawing/2010/main" val="0"/>
              </a:ext>
            </a:extLst>
          </a:blip>
          <a:srcRect l="29980" t="159" r="-29980" b="-159"/>
          <a:stretch>
            <a:fillRect/>
          </a:stretch>
        </p:blipFill>
        <p:spPr>
          <a:xfrm>
            <a:off x="-80934" y="0"/>
            <a:ext cx="6015038" cy="10693400"/>
          </a:xfrm>
          <a:prstGeom prst="rect">
            <a:avLst/>
          </a:prstGeom>
        </p:spPr>
      </p:pic>
      <p:sp>
        <p:nvSpPr>
          <p:cNvPr id="16" name="Freeform 5">
            <a:extLst>
              <a:ext uri="{FF2B5EF4-FFF2-40B4-BE49-F238E27FC236}">
                <a16:creationId xmlns:a16="http://schemas.microsoft.com/office/drawing/2014/main" id="{42CC5AD3-4653-3B6D-690A-69368F25FE5C}"/>
              </a:ext>
            </a:extLst>
          </p:cNvPr>
          <p:cNvSpPr/>
          <p:nvPr/>
        </p:nvSpPr>
        <p:spPr>
          <a:xfrm>
            <a:off x="-105769" y="4596311"/>
            <a:ext cx="7662269" cy="2047911"/>
          </a:xfrm>
          <a:custGeom>
            <a:avLst/>
            <a:gdLst/>
            <a:ahLst/>
            <a:cxnLst/>
            <a:rect l="l" t="t" r="r" b="b"/>
            <a:pathLst>
              <a:path w="3563809" h="802421">
                <a:moveTo>
                  <a:pt x="0" y="0"/>
                </a:moveTo>
                <a:lnTo>
                  <a:pt x="3563809" y="0"/>
                </a:lnTo>
                <a:lnTo>
                  <a:pt x="3563809" y="802421"/>
                </a:lnTo>
                <a:lnTo>
                  <a:pt x="0" y="802421"/>
                </a:lnTo>
                <a:close/>
              </a:path>
            </a:pathLst>
          </a:custGeom>
          <a:solidFill>
            <a:srgbClr val="434343">
              <a:alpha val="42745"/>
            </a:srgbClr>
          </a:solidFill>
        </p:spPr>
      </p:sp>
      <p:sp>
        <p:nvSpPr>
          <p:cNvPr id="17" name="TextBox 11">
            <a:extLst>
              <a:ext uri="{FF2B5EF4-FFF2-40B4-BE49-F238E27FC236}">
                <a16:creationId xmlns:a16="http://schemas.microsoft.com/office/drawing/2014/main" id="{5AE54E94-09E0-5F17-E4CD-68D76C4F8D86}"/>
              </a:ext>
            </a:extLst>
          </p:cNvPr>
          <p:cNvSpPr txBox="1"/>
          <p:nvPr/>
        </p:nvSpPr>
        <p:spPr>
          <a:xfrm>
            <a:off x="340641" y="4949968"/>
            <a:ext cx="6929521" cy="556499"/>
          </a:xfrm>
          <a:prstGeom prst="rect">
            <a:avLst/>
          </a:prstGeom>
        </p:spPr>
        <p:txBody>
          <a:bodyPr lIns="0" tIns="0" rIns="0" bIns="0" rtlCol="0" anchor="t">
            <a:spAutoFit/>
          </a:bodyPr>
          <a:lstStyle/>
          <a:p>
            <a:pPr algn="ctr">
              <a:lnSpc>
                <a:spcPts val="4620"/>
              </a:lnSpc>
            </a:pPr>
            <a:r>
              <a:rPr lang="en-US" sz="3600" b="1">
                <a:solidFill>
                  <a:srgbClr val="FFFFFF"/>
                </a:solidFill>
                <a:latin typeface="Montserrat" panose="00000500000000000000" pitchFamily="2" charset="0"/>
                <a:ea typeface="Neue Montreal"/>
                <a:cs typeface="Neue Montreal"/>
                <a:sym typeface="Neue Montreal"/>
              </a:rPr>
              <a:t>TUBULAÇÃO</a:t>
            </a:r>
            <a:r>
              <a:rPr lang="en-US" sz="3300" b="1">
                <a:solidFill>
                  <a:srgbClr val="FFFFFF"/>
                </a:solidFill>
                <a:latin typeface="Montserrat" panose="00000500000000000000" pitchFamily="2" charset="0"/>
                <a:ea typeface="Neue Montreal"/>
                <a:cs typeface="Neue Montreal"/>
                <a:sym typeface="Neue Montreal"/>
              </a:rPr>
              <a:t> </a:t>
            </a:r>
            <a:r>
              <a:rPr lang="en-US" sz="3600" b="1">
                <a:solidFill>
                  <a:srgbClr val="FFFFFF"/>
                </a:solidFill>
                <a:latin typeface="Montserrat" panose="00000500000000000000" pitchFamily="2" charset="0"/>
                <a:ea typeface="Neue Montreal"/>
                <a:cs typeface="Neue Montreal"/>
                <a:sym typeface="Neue Montreal"/>
              </a:rPr>
              <a:t>SIMPLAIR</a:t>
            </a:r>
            <a:endParaRPr lang="en-US" sz="3300" b="1">
              <a:solidFill>
                <a:srgbClr val="FFFFFF"/>
              </a:solidFill>
              <a:latin typeface="Montserrat" panose="00000500000000000000" pitchFamily="2" charset="0"/>
              <a:ea typeface="Neue Montreal"/>
              <a:cs typeface="Neue Montreal"/>
              <a:sym typeface="Neue Montreal"/>
            </a:endParaRPr>
          </a:p>
        </p:txBody>
      </p:sp>
      <p:sp>
        <p:nvSpPr>
          <p:cNvPr id="18" name="TextBox 11">
            <a:extLst>
              <a:ext uri="{FF2B5EF4-FFF2-40B4-BE49-F238E27FC236}">
                <a16:creationId xmlns:a16="http://schemas.microsoft.com/office/drawing/2014/main" id="{E79477BF-E441-5EF5-C824-8B3CF9F56993}"/>
              </a:ext>
            </a:extLst>
          </p:cNvPr>
          <p:cNvSpPr txBox="1"/>
          <p:nvPr/>
        </p:nvSpPr>
        <p:spPr>
          <a:xfrm>
            <a:off x="-412750" y="5823348"/>
            <a:ext cx="6929521" cy="539250"/>
          </a:xfrm>
          <a:prstGeom prst="rect">
            <a:avLst/>
          </a:prstGeom>
        </p:spPr>
        <p:txBody>
          <a:bodyPr lIns="0" tIns="0" rIns="0" bIns="0" rtlCol="0" anchor="t">
            <a:spAutoFit/>
          </a:bodyPr>
          <a:lstStyle/>
          <a:p>
            <a:pPr algn="r">
              <a:lnSpc>
                <a:spcPts val="4620"/>
              </a:lnSpc>
            </a:pPr>
            <a:r>
              <a:rPr lang="en-US" sz="3300">
                <a:solidFill>
                  <a:srgbClr val="FFFFFF"/>
                </a:solidFill>
                <a:latin typeface="Neue Montreal"/>
                <a:ea typeface="Neue Montreal"/>
                <a:cs typeface="Neue Montreal"/>
                <a:sym typeface="Neue Montreal"/>
              </a:rPr>
              <a:t>N° 12345678</a:t>
            </a:r>
          </a:p>
        </p:txBody>
      </p:sp>
      <p:pic>
        <p:nvPicPr>
          <p:cNvPr id="21" name="Imagem 20" descr="Uma imagem contendo Texto&#10;&#10;O conteúdo gerado por IA pode estar incorreto.">
            <a:extLst>
              <a:ext uri="{FF2B5EF4-FFF2-40B4-BE49-F238E27FC236}">
                <a16:creationId xmlns:a16="http://schemas.microsoft.com/office/drawing/2014/main" id="{8EAB3A23-F9B4-C62A-5F99-D26323B23D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9538211"/>
            <a:ext cx="3716171" cy="10204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2"/>
            <a:stretch>
              <a:fillRect/>
            </a:stretch>
          </a:blipFill>
        </p:spPr>
      </p:sp>
      <p:sp>
        <p:nvSpPr>
          <p:cNvPr id="12" name="TextBox 12"/>
          <p:cNvSpPr txBox="1"/>
          <p:nvPr/>
        </p:nvSpPr>
        <p:spPr>
          <a:xfrm>
            <a:off x="207519" y="3709259"/>
            <a:ext cx="7055421" cy="2906950"/>
          </a:xfrm>
          <a:prstGeom prst="rect">
            <a:avLst/>
          </a:prstGeom>
        </p:spPr>
        <p:txBody>
          <a:bodyPr lIns="0" tIns="0" rIns="0" bIns="0" rtlCol="0" anchor="t">
            <a:spAutoFit/>
          </a:bodyPr>
          <a:lstStyle/>
          <a:p>
            <a:pPr marL="300073" lvl="1" indent="-150036">
              <a:lnSpc>
                <a:spcPts val="1945"/>
              </a:lnSpc>
              <a:buFont typeface="Arial"/>
              <a:buChar char="•"/>
            </a:pPr>
            <a:r>
              <a:rPr lang="en-US" sz="1389" dirty="0" err="1">
                <a:solidFill>
                  <a:srgbClr val="000000"/>
                </a:solidFill>
                <a:latin typeface="Montserrat"/>
                <a:ea typeface="Montserrat"/>
                <a:cs typeface="Montserrat"/>
                <a:sym typeface="Montserrat"/>
              </a:rPr>
              <a:t>Fundada</a:t>
            </a:r>
            <a:r>
              <a:rPr lang="en-US" sz="1389">
                <a:solidFill>
                  <a:srgbClr val="000000"/>
                </a:solidFill>
                <a:latin typeface="Montserrat"/>
                <a:ea typeface="Montserrat"/>
                <a:cs typeface="Montserrat"/>
                <a:sym typeface="Montserrat"/>
              </a:rPr>
              <a:t> em 1905 pela fusão da “Ingersoll-SergeantDrillCompany” e “Rand DrillCompany”, empresas que foram fundadas em 1871.</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Headquarters - Davidson, North Carolina – USA.</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Listada na bolsa de Nova York desde 1906.</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 $14 bilhões valor da companhia.</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60.000 funcionários no mundo.</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83 fabricas no mundo mais Escritórios Comerciais, Centros de Distrib. e Centros de Serviço.</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Canais diretos ou por distribuição, em mais de 100 países.</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Marcas fortes: #1 ou #2 em seus respectivos segmentos.</a:t>
            </a:r>
          </a:p>
          <a:p>
            <a:pPr marL="300073" lvl="1" indent="-150036">
              <a:lnSpc>
                <a:spcPts val="1945"/>
              </a:lnSpc>
              <a:buFont typeface="Arial"/>
              <a:buChar char="•"/>
            </a:pPr>
            <a:r>
              <a:rPr lang="en-US" sz="1389">
                <a:solidFill>
                  <a:srgbClr val="000000"/>
                </a:solidFill>
                <a:latin typeface="Montserrat"/>
                <a:ea typeface="Montserrat"/>
                <a:cs typeface="Montserrat"/>
                <a:sym typeface="Montserrat"/>
              </a:rPr>
              <a:t> Mais de 108 anos de experiência em inovações e tecnológica.</a:t>
            </a:r>
          </a:p>
          <a:p>
            <a:pPr>
              <a:lnSpc>
                <a:spcPts val="1945"/>
              </a:lnSpc>
            </a:pPr>
            <a:endParaRPr lang="en-US" sz="1389">
              <a:solidFill>
                <a:srgbClr val="000000"/>
              </a:solidFill>
              <a:latin typeface="Montserrat"/>
              <a:ea typeface="Montserrat"/>
              <a:cs typeface="Montserrat"/>
              <a:sym typeface="Montserrat"/>
            </a:endParaRPr>
          </a:p>
        </p:txBody>
      </p:sp>
      <p:sp>
        <p:nvSpPr>
          <p:cNvPr id="13" name="Freeform 13"/>
          <p:cNvSpPr/>
          <p:nvPr/>
        </p:nvSpPr>
        <p:spPr>
          <a:xfrm>
            <a:off x="295862" y="2656015"/>
            <a:ext cx="6967079" cy="786545"/>
          </a:xfrm>
          <a:custGeom>
            <a:avLst/>
            <a:gdLst/>
            <a:ahLst/>
            <a:cxnLst/>
            <a:rect l="l" t="t" r="r" b="b"/>
            <a:pathLst>
              <a:path w="6967079" h="786545">
                <a:moveTo>
                  <a:pt x="0" y="0"/>
                </a:moveTo>
                <a:lnTo>
                  <a:pt x="6967079" y="0"/>
                </a:lnTo>
                <a:lnTo>
                  <a:pt x="6967079" y="786546"/>
                </a:lnTo>
                <a:lnTo>
                  <a:pt x="0" y="786546"/>
                </a:lnTo>
                <a:lnTo>
                  <a:pt x="0" y="0"/>
                </a:lnTo>
                <a:close/>
              </a:path>
            </a:pathLst>
          </a:custGeom>
          <a:blipFill>
            <a:blip r:embed="rId3"/>
            <a:stretch>
              <a:fillRect l="-2760" t="-26627" r="-2392" b="-24730"/>
            </a:stretch>
          </a:blipFill>
        </p:spPr>
      </p:sp>
      <p:sp>
        <p:nvSpPr>
          <p:cNvPr id="14" name="Freeform 14"/>
          <p:cNvSpPr/>
          <p:nvPr/>
        </p:nvSpPr>
        <p:spPr>
          <a:xfrm>
            <a:off x="323514" y="6799514"/>
            <a:ext cx="3268773" cy="2177820"/>
          </a:xfrm>
          <a:custGeom>
            <a:avLst/>
            <a:gdLst/>
            <a:ahLst/>
            <a:cxnLst/>
            <a:rect l="l" t="t" r="r" b="b"/>
            <a:pathLst>
              <a:path w="3268773" h="2177820">
                <a:moveTo>
                  <a:pt x="0" y="0"/>
                </a:moveTo>
                <a:lnTo>
                  <a:pt x="3268773" y="0"/>
                </a:lnTo>
                <a:lnTo>
                  <a:pt x="3268773" y="2177820"/>
                </a:lnTo>
                <a:lnTo>
                  <a:pt x="0" y="2177820"/>
                </a:lnTo>
                <a:lnTo>
                  <a:pt x="0" y="0"/>
                </a:lnTo>
                <a:close/>
              </a:path>
            </a:pathLst>
          </a:custGeom>
          <a:blipFill>
            <a:blip r:embed="rId4"/>
            <a:stretch>
              <a:fillRect/>
            </a:stretch>
          </a:blipFill>
        </p:spPr>
      </p:sp>
      <p:sp>
        <p:nvSpPr>
          <p:cNvPr id="15" name="Freeform 15"/>
          <p:cNvSpPr/>
          <p:nvPr/>
        </p:nvSpPr>
        <p:spPr>
          <a:xfrm>
            <a:off x="3685471" y="6829991"/>
            <a:ext cx="3577469" cy="2147345"/>
          </a:xfrm>
          <a:custGeom>
            <a:avLst/>
            <a:gdLst/>
            <a:ahLst/>
            <a:cxnLst/>
            <a:rect l="l" t="t" r="r" b="b"/>
            <a:pathLst>
              <a:path w="3577469" h="2147345">
                <a:moveTo>
                  <a:pt x="0" y="0"/>
                </a:moveTo>
                <a:lnTo>
                  <a:pt x="3577470" y="0"/>
                </a:lnTo>
                <a:lnTo>
                  <a:pt x="3577470" y="2147345"/>
                </a:lnTo>
                <a:lnTo>
                  <a:pt x="0" y="2147345"/>
                </a:lnTo>
                <a:lnTo>
                  <a:pt x="0" y="0"/>
                </a:lnTo>
                <a:close/>
              </a:path>
            </a:pathLst>
          </a:custGeom>
          <a:blipFill>
            <a:blip r:embed="rId5"/>
            <a:stretch>
              <a:fillRect l="-17904" r="-719"/>
            </a:stretch>
          </a:blipFill>
        </p:spPr>
      </p:sp>
      <p:sp>
        <p:nvSpPr>
          <p:cNvPr id="17" name="TextBox 17"/>
          <p:cNvSpPr txBox="1"/>
          <p:nvPr/>
        </p:nvSpPr>
        <p:spPr>
          <a:xfrm>
            <a:off x="375831" y="1246620"/>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INGERSOLLL RAND NO MUNDO</a:t>
            </a:r>
          </a:p>
        </p:txBody>
      </p:sp>
      <p:sp>
        <p:nvSpPr>
          <p:cNvPr id="18" name="TextBox 18"/>
          <p:cNvSpPr txBox="1"/>
          <p:nvPr/>
        </p:nvSpPr>
        <p:spPr>
          <a:xfrm>
            <a:off x="375831" y="1686040"/>
            <a:ext cx="6639246" cy="956993"/>
          </a:xfrm>
          <a:prstGeom prst="rect">
            <a:avLst/>
          </a:prstGeom>
        </p:spPr>
        <p:txBody>
          <a:bodyPr lIns="0" tIns="0" rIns="0" bIns="0" rtlCol="0" anchor="t">
            <a:spAutoFit/>
          </a:bodyPr>
          <a:lstStyle/>
          <a:p>
            <a:pPr algn="just">
              <a:lnSpc>
                <a:spcPts val="1913"/>
              </a:lnSpc>
            </a:pPr>
            <a:r>
              <a:rPr lang="en-US" sz="1367">
                <a:solidFill>
                  <a:srgbClr val="000000"/>
                </a:solidFill>
                <a:latin typeface="Montserrat"/>
                <a:ea typeface="Montserrat"/>
                <a:cs typeface="Montserrat"/>
                <a:sym typeface="Montserrat"/>
              </a:rPr>
              <a:t>Pioneira na tecnologia de compressores a parafuso no mundo e em compressores com inversor de frequência, criou e patenteou a tecnologia HPM aplicada em seus compressores.</a:t>
            </a:r>
          </a:p>
          <a:p>
            <a:pPr algn="just">
              <a:lnSpc>
                <a:spcPts val="1913"/>
              </a:lnSpc>
            </a:pPr>
            <a:endParaRPr lang="en-US" sz="1367">
              <a:solidFill>
                <a:srgbClr val="000000"/>
              </a:solidFill>
              <a:latin typeface="Montserrat"/>
              <a:ea typeface="Montserrat"/>
              <a:cs typeface="Montserrat"/>
              <a:sym typeface="Montserrat"/>
            </a:endParaRPr>
          </a:p>
        </p:txBody>
      </p:sp>
      <p:sp>
        <p:nvSpPr>
          <p:cNvPr id="19" name="TextBox 19"/>
          <p:cNvSpPr txBox="1"/>
          <p:nvPr/>
        </p:nvSpPr>
        <p:spPr>
          <a:xfrm>
            <a:off x="3685471" y="9053536"/>
            <a:ext cx="3852989" cy="421269"/>
          </a:xfrm>
          <a:prstGeom prst="rect">
            <a:avLst/>
          </a:prstGeom>
        </p:spPr>
        <p:txBody>
          <a:bodyPr lIns="0" tIns="0" rIns="0" bIns="0" rtlCol="0" anchor="t">
            <a:spAutoFit/>
          </a:bodyPr>
          <a:lstStyle/>
          <a:p>
            <a:pPr>
              <a:lnSpc>
                <a:spcPts val="1679"/>
              </a:lnSpc>
            </a:pPr>
            <a:r>
              <a:rPr lang="en-US" sz="1200">
                <a:solidFill>
                  <a:srgbClr val="000000"/>
                </a:solidFill>
                <a:latin typeface="Open Sans"/>
                <a:ea typeface="Open Sans"/>
                <a:cs typeface="Open Sans"/>
                <a:sym typeface="Open Sans"/>
              </a:rPr>
              <a:t>Sede - Davidson, North Carolina – USA</a:t>
            </a:r>
          </a:p>
          <a:p>
            <a:pPr>
              <a:lnSpc>
                <a:spcPts val="1679"/>
              </a:lnSpc>
            </a:pPr>
            <a:endParaRPr lang="en-US" sz="1200">
              <a:solidFill>
                <a:srgbClr val="000000"/>
              </a:solidFill>
              <a:latin typeface="Open Sans"/>
              <a:ea typeface="Open Sans"/>
              <a:cs typeface="Open Sans"/>
              <a:sym typeface="Open Sans"/>
            </a:endParaRPr>
          </a:p>
        </p:txBody>
      </p:sp>
      <p:sp>
        <p:nvSpPr>
          <p:cNvPr id="20" name="TextBox 20"/>
          <p:cNvSpPr txBox="1"/>
          <p:nvPr/>
        </p:nvSpPr>
        <p:spPr>
          <a:xfrm>
            <a:off x="409731" y="9053536"/>
            <a:ext cx="3039082" cy="421269"/>
          </a:xfrm>
          <a:prstGeom prst="rect">
            <a:avLst/>
          </a:prstGeom>
        </p:spPr>
        <p:txBody>
          <a:bodyPr lIns="0" tIns="0" rIns="0" bIns="0" rtlCol="0" anchor="t">
            <a:spAutoFit/>
          </a:bodyPr>
          <a:lstStyle/>
          <a:p>
            <a:pPr algn="ctr">
              <a:lnSpc>
                <a:spcPts val="1679"/>
              </a:lnSpc>
            </a:pPr>
            <a:r>
              <a:rPr lang="en-US" sz="1200">
                <a:solidFill>
                  <a:srgbClr val="000000"/>
                </a:solidFill>
                <a:latin typeface="Open Sans"/>
                <a:ea typeface="Open Sans"/>
                <a:cs typeface="Open Sans"/>
                <a:sym typeface="Open Sans"/>
              </a:rPr>
              <a:t>Unidade produtiva - Campinas, SP - Brasil</a:t>
            </a:r>
          </a:p>
          <a:p>
            <a:pPr algn="ctr">
              <a:lnSpc>
                <a:spcPts val="1679"/>
              </a:lnSpc>
            </a:pPr>
            <a:endParaRPr lang="en-US" sz="1200">
              <a:solidFill>
                <a:srgbClr val="000000"/>
              </a:solidFill>
              <a:latin typeface="Open Sans"/>
              <a:ea typeface="Open Sans"/>
              <a:cs typeface="Open Sans"/>
              <a:sym typeface="Open Sans"/>
            </a:endParaRPr>
          </a:p>
        </p:txBody>
      </p:sp>
      <p:grpSp>
        <p:nvGrpSpPr>
          <p:cNvPr id="21" name="Group 8">
            <a:extLst>
              <a:ext uri="{FF2B5EF4-FFF2-40B4-BE49-F238E27FC236}">
                <a16:creationId xmlns:a16="http://schemas.microsoft.com/office/drawing/2014/main" id="{13A40E96-F669-0EF1-DBC2-99963601EE1F}"/>
              </a:ext>
            </a:extLst>
          </p:cNvPr>
          <p:cNvGrpSpPr/>
          <p:nvPr/>
        </p:nvGrpSpPr>
        <p:grpSpPr>
          <a:xfrm>
            <a:off x="1" y="10514133"/>
            <a:ext cx="7556500" cy="179269"/>
            <a:chOff x="0" y="0"/>
            <a:chExt cx="3047987" cy="131886"/>
          </a:xfrm>
        </p:grpSpPr>
        <p:sp>
          <p:nvSpPr>
            <p:cNvPr id="22" name="Freeform 9">
              <a:extLst>
                <a:ext uri="{FF2B5EF4-FFF2-40B4-BE49-F238E27FC236}">
                  <a16:creationId xmlns:a16="http://schemas.microsoft.com/office/drawing/2014/main" id="{326043C1-49A9-B98B-1344-ECB82358CB9C}"/>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3" name="TextBox 10">
              <a:extLst>
                <a:ext uri="{FF2B5EF4-FFF2-40B4-BE49-F238E27FC236}">
                  <a16:creationId xmlns:a16="http://schemas.microsoft.com/office/drawing/2014/main" id="{D2DDBB26-AABE-3B21-FC6E-50CCE913A46E}"/>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7" name="Imagem 6">
            <a:extLst>
              <a:ext uri="{FF2B5EF4-FFF2-40B4-BE49-F238E27FC236}">
                <a16:creationId xmlns:a16="http://schemas.microsoft.com/office/drawing/2014/main" id="{85E23525-FC7D-D267-B42F-22BCD146C3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0" y="11149058"/>
            <a:ext cx="7647320" cy="241437"/>
            <a:chOff x="0" y="0"/>
            <a:chExt cx="3047987" cy="131886"/>
          </a:xfrm>
        </p:grpSpPr>
        <p:sp>
          <p:nvSpPr>
            <p:cNvPr id="9" name="Freeform 9"/>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13" name="Freeform 13"/>
          <p:cNvSpPr/>
          <p:nvPr/>
        </p:nvSpPr>
        <p:spPr>
          <a:xfrm>
            <a:off x="1096525" y="2452247"/>
            <a:ext cx="5342421" cy="7243960"/>
          </a:xfrm>
          <a:custGeom>
            <a:avLst/>
            <a:gdLst/>
            <a:ahLst/>
            <a:cxnLst/>
            <a:rect l="l" t="t" r="r" b="b"/>
            <a:pathLst>
              <a:path w="5342421" h="7243960">
                <a:moveTo>
                  <a:pt x="0" y="0"/>
                </a:moveTo>
                <a:lnTo>
                  <a:pt x="5342420" y="0"/>
                </a:lnTo>
                <a:lnTo>
                  <a:pt x="5342420" y="7243961"/>
                </a:lnTo>
                <a:lnTo>
                  <a:pt x="0" y="7243961"/>
                </a:lnTo>
                <a:lnTo>
                  <a:pt x="0" y="0"/>
                </a:lnTo>
                <a:close/>
              </a:path>
            </a:pathLst>
          </a:custGeom>
          <a:blipFill>
            <a:blip r:embed="rId2"/>
            <a:stretch>
              <a:fillRect/>
            </a:stretch>
          </a:blipFill>
        </p:spPr>
      </p:sp>
      <p:sp>
        <p:nvSpPr>
          <p:cNvPr id="14" name="TextBox 14"/>
          <p:cNvSpPr txBox="1"/>
          <p:nvPr/>
        </p:nvSpPr>
        <p:spPr>
          <a:xfrm>
            <a:off x="494992" y="1082845"/>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NOVA INGERSOLL RAND</a:t>
            </a:r>
          </a:p>
        </p:txBody>
      </p:sp>
      <p:sp>
        <p:nvSpPr>
          <p:cNvPr id="15" name="TextBox 15"/>
          <p:cNvSpPr txBox="1"/>
          <p:nvPr/>
        </p:nvSpPr>
        <p:spPr>
          <a:xfrm>
            <a:off x="494992" y="1639245"/>
            <a:ext cx="6639246" cy="708228"/>
          </a:xfrm>
          <a:prstGeom prst="rect">
            <a:avLst/>
          </a:prstGeom>
        </p:spPr>
        <p:txBody>
          <a:bodyPr lIns="0" tIns="0" rIns="0" bIns="0" rtlCol="0" anchor="t">
            <a:spAutoFit/>
          </a:bodyPr>
          <a:lstStyle/>
          <a:p>
            <a:pPr algn="just">
              <a:lnSpc>
                <a:spcPts val="1913"/>
              </a:lnSpc>
            </a:pPr>
            <a:r>
              <a:rPr lang="en-US" sz="1367">
                <a:solidFill>
                  <a:srgbClr val="000000"/>
                </a:solidFill>
                <a:latin typeface="Montserrat"/>
                <a:ea typeface="Montserrat"/>
                <a:cs typeface="Montserrat"/>
                <a:sym typeface="Montserrat"/>
              </a:rPr>
              <a:t>O vasto portfólio de produtos inclui marcas de forte legado, como Gardner Denver, Ingersoll Rand, Champion e outras marcas industriais:</a:t>
            </a:r>
          </a:p>
          <a:p>
            <a:pPr algn="just">
              <a:lnSpc>
                <a:spcPts val="1913"/>
              </a:lnSpc>
            </a:pPr>
            <a:endParaRPr lang="en-US" sz="1367">
              <a:solidFill>
                <a:srgbClr val="000000"/>
              </a:solidFill>
              <a:latin typeface="Montserrat"/>
              <a:ea typeface="Montserrat"/>
              <a:cs typeface="Montserrat"/>
              <a:sym typeface="Montserrat"/>
            </a:endParaRPr>
          </a:p>
        </p:txBody>
      </p:sp>
      <p:pic>
        <p:nvPicPr>
          <p:cNvPr id="12" name="Imagem 11">
            <a:extLst>
              <a:ext uri="{FF2B5EF4-FFF2-40B4-BE49-F238E27FC236}">
                <a16:creationId xmlns:a16="http://schemas.microsoft.com/office/drawing/2014/main" id="{89E8B3EB-0C72-CA17-E264-92B61409BE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grpSp>
        <p:nvGrpSpPr>
          <p:cNvPr id="7" name="Group 8">
            <a:extLst>
              <a:ext uri="{FF2B5EF4-FFF2-40B4-BE49-F238E27FC236}">
                <a16:creationId xmlns:a16="http://schemas.microsoft.com/office/drawing/2014/main" id="{91469DEE-30D2-73DE-5868-778D56BE6C53}"/>
              </a:ext>
            </a:extLst>
          </p:cNvPr>
          <p:cNvGrpSpPr/>
          <p:nvPr/>
        </p:nvGrpSpPr>
        <p:grpSpPr>
          <a:xfrm>
            <a:off x="1" y="10514133"/>
            <a:ext cx="7556500" cy="179269"/>
            <a:chOff x="0" y="0"/>
            <a:chExt cx="3047987" cy="131886"/>
          </a:xfrm>
        </p:grpSpPr>
        <p:sp>
          <p:nvSpPr>
            <p:cNvPr id="16" name="Freeform 9">
              <a:extLst>
                <a:ext uri="{FF2B5EF4-FFF2-40B4-BE49-F238E27FC236}">
                  <a16:creationId xmlns:a16="http://schemas.microsoft.com/office/drawing/2014/main" id="{51B3981C-6776-D253-42A6-2945DAAE6D0B}"/>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7" name="TextBox 10">
              <a:extLst>
                <a:ext uri="{FF2B5EF4-FFF2-40B4-BE49-F238E27FC236}">
                  <a16:creationId xmlns:a16="http://schemas.microsoft.com/office/drawing/2014/main" id="{012664D2-6B1C-EDA6-D6F1-5EE1D9AE5F01}"/>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Freeform 11">
            <a:extLst>
              <a:ext uri="{FF2B5EF4-FFF2-40B4-BE49-F238E27FC236}">
                <a16:creationId xmlns:a16="http://schemas.microsoft.com/office/drawing/2014/main" id="{E70D4A63-8E7E-EE70-6B13-55E1CB71ADCE}"/>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4"/>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409731" y="2423672"/>
            <a:ext cx="6538758" cy="6785504"/>
          </a:xfrm>
          <a:custGeom>
            <a:avLst/>
            <a:gdLst/>
            <a:ahLst/>
            <a:cxnLst/>
            <a:rect l="l" t="t" r="r" b="b"/>
            <a:pathLst>
              <a:path w="6538758" h="6785504">
                <a:moveTo>
                  <a:pt x="0" y="0"/>
                </a:moveTo>
                <a:lnTo>
                  <a:pt x="6538759" y="0"/>
                </a:lnTo>
                <a:lnTo>
                  <a:pt x="6538759" y="6785504"/>
                </a:lnTo>
                <a:lnTo>
                  <a:pt x="0" y="6785504"/>
                </a:lnTo>
                <a:lnTo>
                  <a:pt x="0" y="0"/>
                </a:lnTo>
                <a:close/>
              </a:path>
            </a:pathLst>
          </a:custGeom>
          <a:blipFill>
            <a:blip r:embed="rId2"/>
            <a:stretch>
              <a:fillRect/>
            </a:stretch>
          </a:blipFill>
        </p:spPr>
      </p:sp>
      <p:sp>
        <p:nvSpPr>
          <p:cNvPr id="14" name="TextBox 14"/>
          <p:cNvSpPr txBox="1"/>
          <p:nvPr/>
        </p:nvSpPr>
        <p:spPr>
          <a:xfrm>
            <a:off x="494992" y="1082845"/>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CASES DE SUCESSO</a:t>
            </a:r>
          </a:p>
        </p:txBody>
      </p:sp>
      <p:sp>
        <p:nvSpPr>
          <p:cNvPr id="15" name="TextBox 15"/>
          <p:cNvSpPr txBox="1"/>
          <p:nvPr/>
        </p:nvSpPr>
        <p:spPr>
          <a:xfrm>
            <a:off x="494992" y="1639245"/>
            <a:ext cx="6639246" cy="231978"/>
          </a:xfrm>
          <a:prstGeom prst="rect">
            <a:avLst/>
          </a:prstGeom>
        </p:spPr>
        <p:txBody>
          <a:bodyPr lIns="0" tIns="0" rIns="0" bIns="0" rtlCol="0" anchor="t">
            <a:spAutoFit/>
          </a:bodyPr>
          <a:lstStyle/>
          <a:p>
            <a:pPr algn="just">
              <a:lnSpc>
                <a:spcPts val="1913"/>
              </a:lnSpc>
            </a:pPr>
            <a:r>
              <a:rPr lang="en-US" sz="1367">
                <a:solidFill>
                  <a:srgbClr val="000000"/>
                </a:solidFill>
                <a:latin typeface="Montserrat"/>
                <a:ea typeface="Montserrat"/>
                <a:cs typeface="Montserrat"/>
                <a:sym typeface="Montserrat"/>
              </a:rPr>
              <a:t>Lista de clientes atendidos pela Evolução Compressores:</a:t>
            </a:r>
          </a:p>
        </p:txBody>
      </p:sp>
      <p:pic>
        <p:nvPicPr>
          <p:cNvPr id="7" name="Imagem 6">
            <a:extLst>
              <a:ext uri="{FF2B5EF4-FFF2-40B4-BE49-F238E27FC236}">
                <a16:creationId xmlns:a16="http://schemas.microsoft.com/office/drawing/2014/main" id="{98B39676-5FCF-5F1C-8AB5-46AAA1E9CC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grpSp>
        <p:nvGrpSpPr>
          <p:cNvPr id="8" name="Group 8">
            <a:extLst>
              <a:ext uri="{FF2B5EF4-FFF2-40B4-BE49-F238E27FC236}">
                <a16:creationId xmlns:a16="http://schemas.microsoft.com/office/drawing/2014/main" id="{F4AA6A5E-1672-2050-F416-D0B17E9791F5}"/>
              </a:ext>
            </a:extLst>
          </p:cNvPr>
          <p:cNvGrpSpPr/>
          <p:nvPr/>
        </p:nvGrpSpPr>
        <p:grpSpPr>
          <a:xfrm>
            <a:off x="1" y="10514133"/>
            <a:ext cx="7556500" cy="179269"/>
            <a:chOff x="0" y="0"/>
            <a:chExt cx="3047987" cy="131886"/>
          </a:xfrm>
        </p:grpSpPr>
        <p:sp>
          <p:nvSpPr>
            <p:cNvPr id="9" name="Freeform 9">
              <a:extLst>
                <a:ext uri="{FF2B5EF4-FFF2-40B4-BE49-F238E27FC236}">
                  <a16:creationId xmlns:a16="http://schemas.microsoft.com/office/drawing/2014/main" id="{574C4691-0494-2561-805A-8D7C8716E281}"/>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a:extLst>
                <a:ext uri="{FF2B5EF4-FFF2-40B4-BE49-F238E27FC236}">
                  <a16:creationId xmlns:a16="http://schemas.microsoft.com/office/drawing/2014/main" id="{FD376EEF-84DD-948B-6093-950447146F6E}"/>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Freeform 11">
            <a:extLst>
              <a:ext uri="{FF2B5EF4-FFF2-40B4-BE49-F238E27FC236}">
                <a16:creationId xmlns:a16="http://schemas.microsoft.com/office/drawing/2014/main" id="{892CF3B0-03F0-DBEB-E952-C203DD701AB6}"/>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7BF51-9047-4BAA-EA18-8BB67EBCE9C8}"/>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C4071BEE-C36D-AF0A-589C-D5DC2041D0B9}"/>
              </a:ext>
            </a:extLst>
          </p:cNvPr>
          <p:cNvSpPr txBox="1"/>
          <p:nvPr/>
        </p:nvSpPr>
        <p:spPr>
          <a:xfrm>
            <a:off x="429933" y="1311424"/>
            <a:ext cx="6788458" cy="355225"/>
          </a:xfrm>
          <a:prstGeom prst="rect">
            <a:avLst/>
          </a:prstGeom>
        </p:spPr>
        <p:txBody>
          <a:bodyPr wrap="square" lIns="0" tIns="0" rIns="0" bIns="0" rtlCol="0" anchor="t">
            <a:spAutoFit/>
          </a:bodyPr>
          <a:lstStyle/>
          <a:p>
            <a:pPr>
              <a:lnSpc>
                <a:spcPts val="3080"/>
              </a:lnSpc>
            </a:pPr>
            <a:r>
              <a:rPr lang="en-US" b="1">
                <a:solidFill>
                  <a:srgbClr val="6F6F6F"/>
                </a:solidFill>
                <a:latin typeface="Montserrat" panose="00000500000000000000" pitchFamily="2" charset="0"/>
                <a:ea typeface="Montserrat Bold"/>
                <a:cs typeface="Montserrat Bold"/>
                <a:sym typeface="Montserrat Bold"/>
              </a:rPr>
              <a:t>APRESENTAÇÃO E CARACTERÍSTICAS DO PRODUTO</a:t>
            </a:r>
          </a:p>
        </p:txBody>
      </p:sp>
      <p:grpSp>
        <p:nvGrpSpPr>
          <p:cNvPr id="16" name="Group 8">
            <a:extLst>
              <a:ext uri="{FF2B5EF4-FFF2-40B4-BE49-F238E27FC236}">
                <a16:creationId xmlns:a16="http://schemas.microsoft.com/office/drawing/2014/main" id="{452B381C-D7DF-414C-AE1E-75995D1DEF83}"/>
              </a:ext>
            </a:extLst>
          </p:cNvPr>
          <p:cNvGrpSpPr/>
          <p:nvPr/>
        </p:nvGrpSpPr>
        <p:grpSpPr>
          <a:xfrm>
            <a:off x="-3500" y="10528423"/>
            <a:ext cx="7556500" cy="231978"/>
            <a:chOff x="0" y="0"/>
            <a:chExt cx="3047987" cy="131886"/>
          </a:xfrm>
        </p:grpSpPr>
        <p:sp>
          <p:nvSpPr>
            <p:cNvPr id="17" name="Freeform 9">
              <a:extLst>
                <a:ext uri="{FF2B5EF4-FFF2-40B4-BE49-F238E27FC236}">
                  <a16:creationId xmlns:a16="http://schemas.microsoft.com/office/drawing/2014/main" id="{48EC492E-37F2-C008-DDDB-D37CADB9B053}"/>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8" name="TextBox 10">
              <a:extLst>
                <a:ext uri="{FF2B5EF4-FFF2-40B4-BE49-F238E27FC236}">
                  <a16:creationId xmlns:a16="http://schemas.microsoft.com/office/drawing/2014/main" id="{06A428DF-7D51-619F-2729-E7C739DCD36D}"/>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7" name="Imagem 6">
            <a:extLst>
              <a:ext uri="{FF2B5EF4-FFF2-40B4-BE49-F238E27FC236}">
                <a16:creationId xmlns:a16="http://schemas.microsoft.com/office/drawing/2014/main" id="{05EDB80B-063C-7B50-CE51-4CBD906A2D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sp>
        <p:nvSpPr>
          <p:cNvPr id="3" name="CaixaDeTexto 2">
            <a:extLst>
              <a:ext uri="{FF2B5EF4-FFF2-40B4-BE49-F238E27FC236}">
                <a16:creationId xmlns:a16="http://schemas.microsoft.com/office/drawing/2014/main" id="{34E6F50B-54D1-DEE2-3227-935FF4BB2EE7}"/>
              </a:ext>
            </a:extLst>
          </p:cNvPr>
          <p:cNvSpPr txBox="1"/>
          <p:nvPr/>
        </p:nvSpPr>
        <p:spPr>
          <a:xfrm>
            <a:off x="387002" y="1782177"/>
            <a:ext cx="6624917" cy="2000099"/>
          </a:xfrm>
          <a:prstGeom prst="rect">
            <a:avLst/>
          </a:prstGeom>
          <a:noFill/>
        </p:spPr>
        <p:txBody>
          <a:bodyPr wrap="square">
            <a:spAutoFit/>
          </a:bodyPr>
          <a:lstStyle/>
          <a:p>
            <a:pPr algn="just">
              <a:lnSpc>
                <a:spcPct val="150000"/>
              </a:lnSpc>
              <a:spcAft>
                <a:spcPts val="800"/>
              </a:spcAft>
              <a:buNone/>
            </a:pPr>
            <a:r>
              <a:rPr lang="pt-BR" sz="1200">
                <a:solidFill>
                  <a:srgbClr val="000000"/>
                </a:solidFill>
                <a:effectLst/>
                <a:latin typeface="Montserrat" panose="00000500000000000000" pitchFamily="2" charset="0"/>
                <a:ea typeface="Calibri" panose="020F0502020204030204" pitchFamily="34" charset="0"/>
              </a:rPr>
              <a:t>O SimplAir® EPL sistema de tubulação de encaixe rápido da Ingersoll Rand é a melhor alternativa em relação aos sistemas de distribuição com tubos de aço dispendiosos e que demandam trabalho intensivo para linhas de ar, gás inerte e vácuo. Reúne mais de um século da experiência da Ingersoll Rand com ar comprimido para entregar instalação simplificada, desempenho confiável, manutenção sem esforço, flexibilidade para necessidades e eficiência energética máxima ao menor custo total. </a:t>
            </a:r>
          </a:p>
        </p:txBody>
      </p:sp>
      <p:pic>
        <p:nvPicPr>
          <p:cNvPr id="4" name="Picture 4">
            <a:extLst>
              <a:ext uri="{FF2B5EF4-FFF2-40B4-BE49-F238E27FC236}">
                <a16:creationId xmlns:a16="http://schemas.microsoft.com/office/drawing/2014/main" id="{AB1FF919-E32E-D135-2DB2-54DDAC0BFF8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4178" y="4069805"/>
            <a:ext cx="5283676" cy="3742690"/>
          </a:xfrm>
          <a:prstGeom prst="rect">
            <a:avLst/>
          </a:prstGeom>
          <a:ln>
            <a:noFill/>
          </a:ln>
          <a:effectLst>
            <a:outerShdw blurRad="190500" algn="tl" rotWithShape="0">
              <a:srgbClr val="000000">
                <a:alpha val="70000"/>
              </a:srgbClr>
            </a:outerShdw>
          </a:effectLst>
        </p:spPr>
      </p:pic>
      <p:sp>
        <p:nvSpPr>
          <p:cNvPr id="6" name="CaixaDeTexto 5">
            <a:extLst>
              <a:ext uri="{FF2B5EF4-FFF2-40B4-BE49-F238E27FC236}">
                <a16:creationId xmlns:a16="http://schemas.microsoft.com/office/drawing/2014/main" id="{9A433550-8970-8218-CD29-1491ABEF9EAD}"/>
              </a:ext>
            </a:extLst>
          </p:cNvPr>
          <p:cNvSpPr txBox="1"/>
          <p:nvPr/>
        </p:nvSpPr>
        <p:spPr>
          <a:xfrm>
            <a:off x="413424" y="8240813"/>
            <a:ext cx="6488541" cy="1169103"/>
          </a:xfrm>
          <a:prstGeom prst="rect">
            <a:avLst/>
          </a:prstGeom>
          <a:noFill/>
        </p:spPr>
        <p:txBody>
          <a:bodyPr wrap="square">
            <a:spAutoFit/>
          </a:bodyPr>
          <a:lstStyle/>
          <a:p>
            <a:pPr algn="just">
              <a:lnSpc>
                <a:spcPct val="150000"/>
              </a:lnSpc>
              <a:spcAft>
                <a:spcPts val="800"/>
              </a:spcAft>
              <a:buNone/>
            </a:pPr>
            <a:r>
              <a:rPr lang="pt-BR" sz="1200">
                <a:solidFill>
                  <a:srgbClr val="000000"/>
                </a:solidFill>
                <a:effectLst/>
                <a:latin typeface="Montserrat" panose="00000500000000000000" pitchFamily="2" charset="0"/>
                <a:ea typeface="Calibri" panose="020F0502020204030204" pitchFamily="34" charset="0"/>
              </a:rPr>
              <a:t>O sistema inovador SimplAir® EPL oferece um design hermético que elimina o desperdício de energia e melhora a eficiência e a confiabilidade, oferecendo um desempenho superior, reduzindo o investimento global e protegendo o equipamento conectado. </a:t>
            </a:r>
          </a:p>
        </p:txBody>
      </p:sp>
      <p:sp>
        <p:nvSpPr>
          <p:cNvPr id="9" name="Freeform 11">
            <a:extLst>
              <a:ext uri="{FF2B5EF4-FFF2-40B4-BE49-F238E27FC236}">
                <a16:creationId xmlns:a16="http://schemas.microsoft.com/office/drawing/2014/main" id="{D45417D3-81E3-234A-E2F2-EA3F84DB0F87}"/>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4"/>
            <a:stretch>
              <a:fillRect/>
            </a:stretch>
          </a:blipFill>
        </p:spPr>
      </p:sp>
    </p:spTree>
    <p:extLst>
      <p:ext uri="{BB962C8B-B14F-4D97-AF65-F5344CB8AC3E}">
        <p14:creationId xmlns:p14="http://schemas.microsoft.com/office/powerpoint/2010/main" val="2681387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230096" y="2551696"/>
            <a:ext cx="374337" cy="187168"/>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9" name="TextBox 19"/>
          <p:cNvSpPr txBox="1"/>
          <p:nvPr/>
        </p:nvSpPr>
        <p:spPr>
          <a:xfrm>
            <a:off x="781330" y="2526915"/>
            <a:ext cx="6170737"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TUBO DE ALUMÍNIO DE ALTA QUALIDADE</a:t>
            </a:r>
          </a:p>
        </p:txBody>
      </p:sp>
      <p:pic>
        <p:nvPicPr>
          <p:cNvPr id="7" name="Imagem 6">
            <a:extLst>
              <a:ext uri="{FF2B5EF4-FFF2-40B4-BE49-F238E27FC236}">
                <a16:creationId xmlns:a16="http://schemas.microsoft.com/office/drawing/2014/main" id="{FFDFA5E4-DD45-BFEC-B2D2-D56056FADE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363" y="-34643"/>
            <a:ext cx="7464673" cy="859247"/>
          </a:xfrm>
          <a:prstGeom prst="rect">
            <a:avLst/>
          </a:prstGeom>
        </p:spPr>
      </p:pic>
      <p:grpSp>
        <p:nvGrpSpPr>
          <p:cNvPr id="8" name="Group 8">
            <a:extLst>
              <a:ext uri="{FF2B5EF4-FFF2-40B4-BE49-F238E27FC236}">
                <a16:creationId xmlns:a16="http://schemas.microsoft.com/office/drawing/2014/main" id="{3524A31C-15B6-E258-9075-AC43A494054F}"/>
              </a:ext>
            </a:extLst>
          </p:cNvPr>
          <p:cNvGrpSpPr/>
          <p:nvPr/>
        </p:nvGrpSpPr>
        <p:grpSpPr>
          <a:xfrm>
            <a:off x="1" y="10514133"/>
            <a:ext cx="7556500" cy="179269"/>
            <a:chOff x="0" y="0"/>
            <a:chExt cx="3047987" cy="131886"/>
          </a:xfrm>
        </p:grpSpPr>
        <p:sp>
          <p:nvSpPr>
            <p:cNvPr id="12" name="Freeform 9">
              <a:extLst>
                <a:ext uri="{FF2B5EF4-FFF2-40B4-BE49-F238E27FC236}">
                  <a16:creationId xmlns:a16="http://schemas.microsoft.com/office/drawing/2014/main" id="{5A42A742-4ACD-DAC5-F9AE-1465E3F549C9}"/>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1" name="TextBox 10">
              <a:extLst>
                <a:ext uri="{FF2B5EF4-FFF2-40B4-BE49-F238E27FC236}">
                  <a16:creationId xmlns:a16="http://schemas.microsoft.com/office/drawing/2014/main" id="{89DA1455-9BBE-6AD5-4BBF-D11CB56CBE3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Picture 3">
            <a:extLst>
              <a:ext uri="{FF2B5EF4-FFF2-40B4-BE49-F238E27FC236}">
                <a16:creationId xmlns:a16="http://schemas.microsoft.com/office/drawing/2014/main" id="{869EDA5D-C6A5-5255-3C76-F1C864A05C4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9090" y="1210848"/>
            <a:ext cx="5588133" cy="1043666"/>
          </a:xfrm>
          <a:prstGeom prst="rect">
            <a:avLst/>
          </a:prstGeom>
          <a:ln>
            <a:noFill/>
          </a:ln>
          <a:effectLst>
            <a:outerShdw blurRad="190500" algn="tl" rotWithShape="0">
              <a:srgbClr val="000000">
                <a:alpha val="70000"/>
              </a:srgbClr>
            </a:outerShdw>
          </a:effectLst>
        </p:spPr>
      </p:pic>
      <p:sp>
        <p:nvSpPr>
          <p:cNvPr id="4" name="CaixaDeTexto 3">
            <a:extLst>
              <a:ext uri="{FF2B5EF4-FFF2-40B4-BE49-F238E27FC236}">
                <a16:creationId xmlns:a16="http://schemas.microsoft.com/office/drawing/2014/main" id="{47451702-F772-CBE4-440B-3A31E65C987E}"/>
              </a:ext>
            </a:extLst>
          </p:cNvPr>
          <p:cNvSpPr txBox="1"/>
          <p:nvPr/>
        </p:nvSpPr>
        <p:spPr>
          <a:xfrm>
            <a:off x="134363" y="2945503"/>
            <a:ext cx="6705600" cy="600164"/>
          </a:xfrm>
          <a:prstGeom prst="rect">
            <a:avLst/>
          </a:prstGeom>
          <a:noFill/>
        </p:spPr>
        <p:txBody>
          <a:bodyPr wrap="square">
            <a:spAutoFit/>
          </a:bodyPr>
          <a:lstStyle/>
          <a:p>
            <a:pPr marL="285750" indent="-285750">
              <a:buFont typeface="Arial" panose="020B0604020202020204" pitchFamily="34" charset="0"/>
              <a:buChar char="•"/>
            </a:pPr>
            <a:r>
              <a:rPr lang="pt-BR" sz="1100">
                <a:solidFill>
                  <a:srgbClr val="000000"/>
                </a:solidFill>
                <a:effectLst/>
                <a:latin typeface="Montserrat" panose="00000500000000000000" pitchFamily="2" charset="0"/>
                <a:ea typeface="Calibri" panose="020F0502020204030204" pitchFamily="34" charset="0"/>
              </a:rPr>
              <a:t>Feito com liga de alumínio de 6060 e </a:t>
            </a:r>
            <a:r>
              <a:rPr lang="pt-BR" sz="1100">
                <a:solidFill>
                  <a:srgbClr val="000000"/>
                </a:solidFill>
                <a:latin typeface="Montserrat" panose="00000500000000000000" pitchFamily="2" charset="0"/>
                <a:ea typeface="Calibri" panose="020F0502020204030204" pitchFamily="34" charset="0"/>
              </a:rPr>
              <a:t>resistente à radiação </a:t>
            </a:r>
            <a:r>
              <a:rPr lang="pt-BR" sz="1100">
                <a:solidFill>
                  <a:srgbClr val="000000"/>
                </a:solidFill>
                <a:effectLst/>
                <a:latin typeface="Montserrat" panose="00000500000000000000" pitchFamily="2" charset="0"/>
                <a:ea typeface="Calibri" panose="020F0502020204030204" pitchFamily="34" charset="0"/>
              </a:rPr>
              <a:t>UV, este tubo pode ser utilizado em espaços internos e externos. Por ser muito mais leve que as alternativas de aço, tornam-se mais fáceis de manusear.</a:t>
            </a:r>
            <a:endParaRPr lang="pt-BR" sz="1100">
              <a:latin typeface="Montserrat" panose="00000500000000000000" pitchFamily="2" charset="0"/>
            </a:endParaRPr>
          </a:p>
        </p:txBody>
      </p:sp>
      <p:sp>
        <p:nvSpPr>
          <p:cNvPr id="6" name="CaixaDeTexto 5">
            <a:extLst>
              <a:ext uri="{FF2B5EF4-FFF2-40B4-BE49-F238E27FC236}">
                <a16:creationId xmlns:a16="http://schemas.microsoft.com/office/drawing/2014/main" id="{17A836AC-3723-0818-48E9-31AD9C825808}"/>
              </a:ext>
            </a:extLst>
          </p:cNvPr>
          <p:cNvSpPr txBox="1"/>
          <p:nvPr/>
        </p:nvSpPr>
        <p:spPr>
          <a:xfrm>
            <a:off x="147063" y="3637090"/>
            <a:ext cx="4940300" cy="4057521"/>
          </a:xfrm>
          <a:prstGeom prst="rect">
            <a:avLst/>
          </a:prstGeom>
          <a:noFill/>
        </p:spPr>
        <p:txBody>
          <a:bodyPr wrap="square">
            <a:spAutoFit/>
          </a:bodyPr>
          <a:lstStyle/>
          <a:p>
            <a:pPr marL="171450" indent="-171450" algn="just">
              <a:lnSpc>
                <a:spcPct val="150000"/>
              </a:lnSpc>
              <a:spcAft>
                <a:spcPts val="800"/>
              </a:spcAft>
              <a:buFont typeface="Arial" panose="020B0604020202020204" pitchFamily="34" charset="0"/>
              <a:buChar char="•"/>
            </a:pPr>
            <a:r>
              <a:rPr lang="pt-BR" sz="1100">
                <a:effectLst/>
                <a:latin typeface="Montserrat" panose="00000500000000000000" pitchFamily="2" charset="0"/>
                <a:ea typeface="Calibri" panose="020F0502020204030204" pitchFamily="34" charset="0"/>
              </a:rPr>
              <a:t>Tubos feitos em processo de extrusão de alta precisão, com medidas internas consistentes e diâmetro interno suavizado proporciona menos turbulência e reduz perdas de pressão ao longo da rede, diminuindo custos com energia elétrica.</a:t>
            </a:r>
          </a:p>
          <a:p>
            <a:pPr marL="171450" indent="-171450" algn="just">
              <a:lnSpc>
                <a:spcPct val="150000"/>
              </a:lnSpc>
              <a:spcAft>
                <a:spcPts val="800"/>
              </a:spcAft>
              <a:buFont typeface="Arial" panose="020B0604020202020204" pitchFamily="34" charset="0"/>
              <a:buChar char="•"/>
            </a:pPr>
            <a:r>
              <a:rPr lang="pt-BR" sz="1100">
                <a:effectLst/>
                <a:latin typeface="Montserrat" panose="00000500000000000000" pitchFamily="2" charset="0"/>
                <a:ea typeface="Calibri" panose="020F0502020204030204" pitchFamily="34" charset="0"/>
              </a:rPr>
              <a:t>Resistente à corrosão, fornecendo fluxo e qualidade do ar excelentes, sem o risco de partículas ou detritos de ferrugem afetarem equipamentos sensíveis.</a:t>
            </a:r>
          </a:p>
          <a:p>
            <a:pPr marL="171450" indent="-171450" algn="just">
              <a:lnSpc>
                <a:spcPct val="150000"/>
              </a:lnSpc>
              <a:spcAft>
                <a:spcPts val="800"/>
              </a:spcAft>
              <a:buFont typeface="Arial" panose="020B0604020202020204" pitchFamily="34" charset="0"/>
              <a:buChar char="•"/>
            </a:pPr>
            <a:r>
              <a:rPr lang="pt-BR" sz="1100">
                <a:effectLst/>
                <a:latin typeface="Montserrat" panose="00000500000000000000" pitchFamily="2" charset="0"/>
                <a:ea typeface="Calibri" panose="020F0502020204030204" pitchFamily="34" charset="0"/>
              </a:rPr>
              <a:t>Acabamento revestido com pó retardante de chamas é certificado pela QUALICOAT®.</a:t>
            </a:r>
          </a:p>
          <a:p>
            <a:pPr marL="171450" indent="-171450" algn="just">
              <a:lnSpc>
                <a:spcPct val="150000"/>
              </a:lnSpc>
              <a:spcAft>
                <a:spcPts val="800"/>
              </a:spcAft>
              <a:buFont typeface="Arial" panose="020B0604020202020204" pitchFamily="34" charset="0"/>
              <a:buChar char="•"/>
            </a:pPr>
            <a:r>
              <a:rPr lang="pt-BR" sz="1100">
                <a:effectLst/>
                <a:latin typeface="Montserrat" panose="00000500000000000000" pitchFamily="2" charset="0"/>
                <a:ea typeface="Calibri" panose="020F0502020204030204" pitchFamily="34" charset="0"/>
              </a:rPr>
              <a:t> Sistema inovador e patenteado de travamento e aperto proporciona uma instalação rápida, segura e sem problemas – reduzindo o tempo de instalação em 60%.</a:t>
            </a:r>
          </a:p>
          <a:p>
            <a:pPr marL="171450" indent="-171450">
              <a:buFont typeface="Arial" panose="020B0604020202020204" pitchFamily="34" charset="0"/>
              <a:buChar char="•"/>
            </a:pPr>
            <a:r>
              <a:rPr lang="pt-BR" sz="1100">
                <a:effectLst/>
                <a:latin typeface="Montserrat" panose="00000500000000000000" pitchFamily="2" charset="0"/>
                <a:ea typeface="Calibri" panose="020F0502020204030204" pitchFamily="34" charset="0"/>
              </a:rPr>
              <a:t>-Os projetos com conexões à prova de vazamento permitem o melhor aproveitamento do ar comprimido, minimizando perdas, manutenções de rotina e reparos inesperados</a:t>
            </a:r>
            <a:endParaRPr lang="pt-BR" sz="1100">
              <a:latin typeface="Montserrat" panose="00000500000000000000" pitchFamily="2" charset="0"/>
            </a:endParaRPr>
          </a:p>
        </p:txBody>
      </p:sp>
      <p:pic>
        <p:nvPicPr>
          <p:cNvPr id="22" name="Imagem 21">
            <a:extLst>
              <a:ext uri="{FF2B5EF4-FFF2-40B4-BE49-F238E27FC236}">
                <a16:creationId xmlns:a16="http://schemas.microsoft.com/office/drawing/2014/main" id="{EED5A6F3-14C9-CCC8-B393-D7BD996E998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32334" y="3686801"/>
            <a:ext cx="1801653" cy="4315669"/>
          </a:xfrm>
          <a:prstGeom prst="rect">
            <a:avLst/>
          </a:prstGeom>
          <a:noFill/>
          <a:ln>
            <a:noFill/>
          </a:ln>
        </p:spPr>
      </p:pic>
      <p:sp>
        <p:nvSpPr>
          <p:cNvPr id="24" name="CaixaDeTexto 23">
            <a:extLst>
              <a:ext uri="{FF2B5EF4-FFF2-40B4-BE49-F238E27FC236}">
                <a16:creationId xmlns:a16="http://schemas.microsoft.com/office/drawing/2014/main" id="{F17FA51E-9C37-9A78-9C7D-6EC729E5D6AB}"/>
              </a:ext>
            </a:extLst>
          </p:cNvPr>
          <p:cNvSpPr txBox="1"/>
          <p:nvPr/>
        </p:nvSpPr>
        <p:spPr>
          <a:xfrm>
            <a:off x="92328" y="7853852"/>
            <a:ext cx="7141659" cy="1437188"/>
          </a:xfrm>
          <a:prstGeom prst="rect">
            <a:avLst/>
          </a:prstGeom>
          <a:noFill/>
        </p:spPr>
        <p:txBody>
          <a:bodyPr wrap="square">
            <a:spAutoFit/>
          </a:bodyPr>
          <a:lstStyle/>
          <a:p>
            <a:pPr marL="171450" indent="-171450" algn="just">
              <a:lnSpc>
                <a:spcPct val="150000"/>
              </a:lnSpc>
              <a:spcAft>
                <a:spcPts val="800"/>
              </a:spcAft>
              <a:buFont typeface="Arial" panose="020B0604020202020204" pitchFamily="34" charset="0"/>
              <a:buChar char="•"/>
            </a:pPr>
            <a:r>
              <a:rPr lang="pt-BR" sz="1100">
                <a:solidFill>
                  <a:srgbClr val="000000"/>
                </a:solidFill>
                <a:effectLst/>
                <a:latin typeface="Montserrat" panose="00000500000000000000" pitchFamily="2" charset="0"/>
                <a:ea typeface="Calibri" panose="020F0502020204030204" pitchFamily="34" charset="0"/>
              </a:rPr>
              <a:t>-Conexões entre tubos são feitas precisamente no topo de cada tubo, evitando gargalos ou obstruções, o que promove um fluxo laminar tranquilo, minimizando a queda de pressão. </a:t>
            </a:r>
          </a:p>
          <a:p>
            <a:pPr marL="171450" indent="-171450" algn="just">
              <a:lnSpc>
                <a:spcPct val="150000"/>
              </a:lnSpc>
              <a:spcAft>
                <a:spcPts val="800"/>
              </a:spcAft>
              <a:buFont typeface="Arial" panose="020B0604020202020204" pitchFamily="34" charset="0"/>
              <a:buChar char="•"/>
            </a:pPr>
            <a:r>
              <a:rPr lang="pt-BR" sz="1100">
                <a:solidFill>
                  <a:srgbClr val="000000"/>
                </a:solidFill>
                <a:effectLst/>
                <a:latin typeface="Montserrat" panose="00000500000000000000" pitchFamily="2" charset="0"/>
                <a:ea typeface="Calibri" panose="020F0502020204030204" pitchFamily="34" charset="0"/>
              </a:rPr>
              <a:t>Conexões poliméricas de aperto manual usinadas para sistemas com diâmetros de 20 a 63 mm, e conexões de alumínio altamente resistentes e com design inovador para sistemas com diâmetros de 80 a 158 mm, permitem fácil instalação, remoção e reutilização</a:t>
            </a:r>
            <a:r>
              <a:rPr lang="pt-BR" sz="1100">
                <a:solidFill>
                  <a:srgbClr val="000000"/>
                </a:solidFill>
                <a:effectLst/>
                <a:latin typeface="Arial" panose="020B0604020202020204" pitchFamily="34" charset="0"/>
                <a:ea typeface="Calibri" panose="020F0502020204030204" pitchFamily="34" charset="0"/>
              </a:rPr>
              <a:t>.</a:t>
            </a:r>
            <a:endParaRPr lang="pt-BR" sz="1100">
              <a:solidFill>
                <a:srgbClr val="000000"/>
              </a:solidFill>
              <a:effectLst/>
              <a:latin typeface="Calibri" panose="020F0502020204030204" pitchFamily="34" charset="0"/>
              <a:ea typeface="Calibri" panose="020F0502020204030204" pitchFamily="34" charset="0"/>
            </a:endParaRPr>
          </a:p>
        </p:txBody>
      </p:sp>
      <p:sp>
        <p:nvSpPr>
          <p:cNvPr id="25" name="Freeform 11">
            <a:extLst>
              <a:ext uri="{FF2B5EF4-FFF2-40B4-BE49-F238E27FC236}">
                <a16:creationId xmlns:a16="http://schemas.microsoft.com/office/drawing/2014/main" id="{AFFAA8B0-6821-0F8C-802B-BDF821CA2238}"/>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5"/>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4EFA-5A9A-1F60-6B15-A40A363480F3}"/>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ABE07B5B-1D79-E199-B4AC-366ABF667AA6}"/>
              </a:ext>
            </a:extLst>
          </p:cNvPr>
          <p:cNvGrpSpPr/>
          <p:nvPr/>
        </p:nvGrpSpPr>
        <p:grpSpPr>
          <a:xfrm>
            <a:off x="540482" y="1415058"/>
            <a:ext cx="374337" cy="187168"/>
            <a:chOff x="0" y="0"/>
            <a:chExt cx="812800" cy="406400"/>
          </a:xfrm>
        </p:grpSpPr>
        <p:sp>
          <p:nvSpPr>
            <p:cNvPr id="14" name="Freeform 14">
              <a:extLst>
                <a:ext uri="{FF2B5EF4-FFF2-40B4-BE49-F238E27FC236}">
                  <a16:creationId xmlns:a16="http://schemas.microsoft.com/office/drawing/2014/main" id="{B7C61CF7-C9C2-6A3E-545A-70A48BC423C9}"/>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6B1F28E2-9120-537D-363F-967F3DF0C61F}"/>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pic>
        <p:nvPicPr>
          <p:cNvPr id="7" name="Imagem 6">
            <a:extLst>
              <a:ext uri="{FF2B5EF4-FFF2-40B4-BE49-F238E27FC236}">
                <a16:creationId xmlns:a16="http://schemas.microsoft.com/office/drawing/2014/main" id="{6B4D6266-47A1-6D4B-C3DB-C50E2629F1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363" y="-34643"/>
            <a:ext cx="7422137" cy="859247"/>
          </a:xfrm>
          <a:prstGeom prst="rect">
            <a:avLst/>
          </a:prstGeom>
        </p:spPr>
      </p:pic>
      <p:grpSp>
        <p:nvGrpSpPr>
          <p:cNvPr id="8" name="Group 8">
            <a:extLst>
              <a:ext uri="{FF2B5EF4-FFF2-40B4-BE49-F238E27FC236}">
                <a16:creationId xmlns:a16="http://schemas.microsoft.com/office/drawing/2014/main" id="{7DB5DA69-8395-F965-B2F8-BD3E6C6A0DBF}"/>
              </a:ext>
            </a:extLst>
          </p:cNvPr>
          <p:cNvGrpSpPr/>
          <p:nvPr/>
        </p:nvGrpSpPr>
        <p:grpSpPr>
          <a:xfrm>
            <a:off x="1" y="10514133"/>
            <a:ext cx="7556500" cy="179269"/>
            <a:chOff x="0" y="0"/>
            <a:chExt cx="3047987" cy="131886"/>
          </a:xfrm>
        </p:grpSpPr>
        <p:sp>
          <p:nvSpPr>
            <p:cNvPr id="9" name="Freeform 9">
              <a:extLst>
                <a:ext uri="{FF2B5EF4-FFF2-40B4-BE49-F238E27FC236}">
                  <a16:creationId xmlns:a16="http://schemas.microsoft.com/office/drawing/2014/main" id="{30542830-77B5-8DA7-6131-2A45468B3A5C}"/>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a:extLst>
                <a:ext uri="{FF2B5EF4-FFF2-40B4-BE49-F238E27FC236}">
                  <a16:creationId xmlns:a16="http://schemas.microsoft.com/office/drawing/2014/main" id="{50BDFD24-9095-6A8B-EAB8-21D23C0C855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3" name="CaixaDeTexto 2">
            <a:extLst>
              <a:ext uri="{FF2B5EF4-FFF2-40B4-BE49-F238E27FC236}">
                <a16:creationId xmlns:a16="http://schemas.microsoft.com/office/drawing/2014/main" id="{FAC9AC64-03A4-455A-A093-7FCD815894A3}"/>
              </a:ext>
            </a:extLst>
          </p:cNvPr>
          <p:cNvSpPr txBox="1"/>
          <p:nvPr/>
        </p:nvSpPr>
        <p:spPr>
          <a:xfrm>
            <a:off x="914819" y="1336056"/>
            <a:ext cx="6194407" cy="825419"/>
          </a:xfrm>
          <a:prstGeom prst="rect">
            <a:avLst/>
          </a:prstGeom>
          <a:noFill/>
        </p:spPr>
        <p:txBody>
          <a:bodyPr wrap="square">
            <a:spAutoFit/>
          </a:bodyPr>
          <a:lstStyle/>
          <a:p>
            <a:pPr algn="just">
              <a:lnSpc>
                <a:spcPct val="150000"/>
              </a:lnSpc>
              <a:spcAft>
                <a:spcPts val="800"/>
              </a:spcAft>
              <a:buNone/>
            </a:pPr>
            <a:r>
              <a:rPr lang="pt-BR" sz="1100">
                <a:solidFill>
                  <a:srgbClr val="000000"/>
                </a:solidFill>
                <a:effectLst/>
                <a:latin typeface="Montserrat" panose="00000500000000000000" pitchFamily="2" charset="0"/>
                <a:ea typeface="Calibri" panose="020F0502020204030204" pitchFamily="34" charset="0"/>
              </a:rPr>
              <a:t> A confiança no desempenho das soluções SimplAir® EPL está expressa em nossa garantia de 10 anos, assim, nosso cliente poderá ficar igualmente seguro quanto, com relação à confiabilidade do equipamento em seus ambientes de trabalho. </a:t>
            </a:r>
          </a:p>
        </p:txBody>
      </p:sp>
      <p:sp>
        <p:nvSpPr>
          <p:cNvPr id="5" name="CaixaDeTexto 4">
            <a:extLst>
              <a:ext uri="{FF2B5EF4-FFF2-40B4-BE49-F238E27FC236}">
                <a16:creationId xmlns:a16="http://schemas.microsoft.com/office/drawing/2014/main" id="{F6B67388-429E-9D61-EB43-CBCC8C95397C}"/>
              </a:ext>
            </a:extLst>
          </p:cNvPr>
          <p:cNvSpPr txBox="1"/>
          <p:nvPr/>
        </p:nvSpPr>
        <p:spPr>
          <a:xfrm>
            <a:off x="820376" y="2327525"/>
            <a:ext cx="6170736" cy="825419"/>
          </a:xfrm>
          <a:prstGeom prst="rect">
            <a:avLst/>
          </a:prstGeom>
          <a:noFill/>
        </p:spPr>
        <p:txBody>
          <a:bodyPr wrap="square">
            <a:spAutoFit/>
          </a:bodyPr>
          <a:lstStyle/>
          <a:p>
            <a:pPr marL="171450" indent="-171450" algn="just">
              <a:lnSpc>
                <a:spcPct val="150000"/>
              </a:lnSpc>
              <a:spcAft>
                <a:spcPts val="800"/>
              </a:spcAft>
              <a:buFont typeface="Arial" panose="020B0604020202020204" pitchFamily="34" charset="0"/>
              <a:buChar char="•"/>
            </a:pPr>
            <a:r>
              <a:rPr lang="pt-BR" sz="1100">
                <a:effectLst/>
                <a:latin typeface="Montserrat" panose="00000500000000000000" pitchFamily="2" charset="0"/>
                <a:ea typeface="Calibri" panose="020F0502020204030204" pitchFamily="34" charset="0"/>
              </a:rPr>
              <a:t>Feito com processos de rigorosa precisão e com os materiais e acabamentos da mais alta qualidade</a:t>
            </a:r>
            <a:r>
              <a:rPr lang="pt-BR" sz="1100">
                <a:solidFill>
                  <a:srgbClr val="000000"/>
                </a:solidFill>
                <a:effectLst/>
                <a:latin typeface="Montserrat" panose="00000500000000000000" pitchFamily="2" charset="0"/>
                <a:ea typeface="Calibri" panose="020F0502020204030204" pitchFamily="34" charset="0"/>
              </a:rPr>
              <a:t>, o sistema SimplAir® EPL proporciona desempenho à prova de vazamentos e resistente à corrosão para as mais diversas aplicações industriais. </a:t>
            </a:r>
          </a:p>
        </p:txBody>
      </p:sp>
      <p:grpSp>
        <p:nvGrpSpPr>
          <p:cNvPr id="6" name="Group 13">
            <a:extLst>
              <a:ext uri="{FF2B5EF4-FFF2-40B4-BE49-F238E27FC236}">
                <a16:creationId xmlns:a16="http://schemas.microsoft.com/office/drawing/2014/main" id="{5CED23BE-541B-C403-3D6D-32E1105A8B48}"/>
              </a:ext>
            </a:extLst>
          </p:cNvPr>
          <p:cNvGrpSpPr/>
          <p:nvPr/>
        </p:nvGrpSpPr>
        <p:grpSpPr>
          <a:xfrm>
            <a:off x="516382" y="3650111"/>
            <a:ext cx="374337" cy="187168"/>
            <a:chOff x="0" y="0"/>
            <a:chExt cx="812800" cy="406400"/>
          </a:xfrm>
        </p:grpSpPr>
        <p:sp>
          <p:nvSpPr>
            <p:cNvPr id="16" name="Freeform 14">
              <a:extLst>
                <a:ext uri="{FF2B5EF4-FFF2-40B4-BE49-F238E27FC236}">
                  <a16:creationId xmlns:a16="http://schemas.microsoft.com/office/drawing/2014/main" id="{8DC1AD0F-1C7E-4DF8-7D27-0DA99E3876BD}"/>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7" name="TextBox 15">
              <a:extLst>
                <a:ext uri="{FF2B5EF4-FFF2-40B4-BE49-F238E27FC236}">
                  <a16:creationId xmlns:a16="http://schemas.microsoft.com/office/drawing/2014/main" id="{B6AF21B7-30BC-5609-F760-A68EBC83BAEE}"/>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27" name="TextBox 19">
            <a:extLst>
              <a:ext uri="{FF2B5EF4-FFF2-40B4-BE49-F238E27FC236}">
                <a16:creationId xmlns:a16="http://schemas.microsoft.com/office/drawing/2014/main" id="{8EB5C6E6-EDF4-B166-686F-E0C310E11C30}"/>
              </a:ext>
            </a:extLst>
          </p:cNvPr>
          <p:cNvSpPr txBox="1"/>
          <p:nvPr/>
        </p:nvSpPr>
        <p:spPr>
          <a:xfrm>
            <a:off x="1035050" y="3625329"/>
            <a:ext cx="6170737"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ESPECIFICAÇÕES</a:t>
            </a:r>
          </a:p>
        </p:txBody>
      </p:sp>
      <p:graphicFrame>
        <p:nvGraphicFramePr>
          <p:cNvPr id="34" name="Tabela 33">
            <a:extLst>
              <a:ext uri="{FF2B5EF4-FFF2-40B4-BE49-F238E27FC236}">
                <a16:creationId xmlns:a16="http://schemas.microsoft.com/office/drawing/2014/main" id="{70BF17E2-99C9-D61D-3C36-BBF02AA841F1}"/>
              </a:ext>
            </a:extLst>
          </p:cNvPr>
          <p:cNvGraphicFramePr>
            <a:graphicFrameLocks noGrp="1"/>
          </p:cNvGraphicFramePr>
          <p:nvPr>
            <p:extLst>
              <p:ext uri="{D42A27DB-BD31-4B8C-83A1-F6EECF244321}">
                <p14:modId xmlns:p14="http://schemas.microsoft.com/office/powerpoint/2010/main" val="2410515093"/>
              </p:ext>
            </p:extLst>
          </p:nvPr>
        </p:nvGraphicFramePr>
        <p:xfrm>
          <a:off x="540482" y="4154541"/>
          <a:ext cx="6556882" cy="4187940"/>
        </p:xfrm>
        <a:graphic>
          <a:graphicData uri="http://schemas.openxmlformats.org/drawingml/2006/table">
            <a:tbl>
              <a:tblPr/>
              <a:tblGrid>
                <a:gridCol w="1403961">
                  <a:extLst>
                    <a:ext uri="{9D8B030D-6E8A-4147-A177-3AD203B41FA5}">
                      <a16:colId xmlns:a16="http://schemas.microsoft.com/office/drawing/2014/main" val="3851197701"/>
                    </a:ext>
                  </a:extLst>
                </a:gridCol>
                <a:gridCol w="3134251">
                  <a:extLst>
                    <a:ext uri="{9D8B030D-6E8A-4147-A177-3AD203B41FA5}">
                      <a16:colId xmlns:a16="http://schemas.microsoft.com/office/drawing/2014/main" val="1157946163"/>
                    </a:ext>
                  </a:extLst>
                </a:gridCol>
                <a:gridCol w="2018670">
                  <a:extLst>
                    <a:ext uri="{9D8B030D-6E8A-4147-A177-3AD203B41FA5}">
                      <a16:colId xmlns:a16="http://schemas.microsoft.com/office/drawing/2014/main" val="1191488961"/>
                    </a:ext>
                  </a:extLst>
                </a:gridCol>
              </a:tblGrid>
              <a:tr h="135202">
                <a:tc>
                  <a:txBody>
                    <a:bodyPr/>
                    <a:lstStyle/>
                    <a:p>
                      <a:pPr algn="ctr" fontAlgn="t">
                        <a:buNone/>
                      </a:pPr>
                      <a:r>
                        <a:rPr lang="pt-BR" sz="900" b="1" i="0" u="none" strike="noStrike">
                          <a:solidFill>
                            <a:srgbClr val="FFFFFF"/>
                          </a:solidFill>
                          <a:effectLst/>
                          <a:latin typeface="Calibri" panose="020F0502020204030204" pitchFamily="34" charset="0"/>
                        </a:rPr>
                        <a:t>TAMANHO [mm]</a:t>
                      </a:r>
                    </a:p>
                  </a:txBody>
                  <a:tcPr marL="5715" marR="5715" marT="57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pt-BR" sz="900" b="1" i="0" u="none" strike="noStrike">
                          <a:solidFill>
                            <a:srgbClr val="FFFFFF"/>
                          </a:solidFill>
                          <a:effectLst/>
                          <a:latin typeface="Calibri" panose="020F0502020204030204" pitchFamily="34" charset="0"/>
                        </a:rPr>
                        <a:t>20, 25, 32, 40, 63</a:t>
                      </a: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pt-BR" sz="900" b="1" i="0" u="none" strike="noStrike">
                          <a:solidFill>
                            <a:srgbClr val="FFFFFF"/>
                          </a:solidFill>
                          <a:effectLst/>
                          <a:latin typeface="Calibri" panose="020F0502020204030204" pitchFamily="34" charset="0"/>
                        </a:rPr>
                        <a:t>80, 110, 158</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231260317"/>
                  </a:ext>
                </a:extLst>
              </a:tr>
              <a:tr h="135202">
                <a:tc>
                  <a:txBody>
                    <a:bodyPr/>
                    <a:lstStyle/>
                    <a:p>
                      <a:pPr algn="ctr" fontAlgn="ctr">
                        <a:buNone/>
                      </a:pPr>
                      <a:r>
                        <a:rPr lang="pt-BR" sz="900" b="1" i="0" u="none" strike="noStrike">
                          <a:solidFill>
                            <a:srgbClr val="000000"/>
                          </a:solidFill>
                          <a:effectLst/>
                          <a:latin typeface="Calibri" panose="020F0502020204030204" pitchFamily="34" charset="0"/>
                        </a:rPr>
                        <a:t>Pressão máx. de serviço</a:t>
                      </a: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pt-BR" sz="900" b="0" i="0" u="none" strike="noStrike">
                          <a:solidFill>
                            <a:srgbClr val="000000"/>
                          </a:solidFill>
                          <a:effectLst/>
                          <a:latin typeface="Calibri" panose="020F0502020204030204" pitchFamily="34" charset="0"/>
                        </a:rPr>
                        <a:t>14 bar</a:t>
                      </a:r>
                    </a:p>
                  </a:txBody>
                  <a:tcPr marL="5715" marR="5715" marT="571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14 bar</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836853604"/>
                  </a:ext>
                </a:extLst>
              </a:tr>
              <a:tr h="135202">
                <a:tc>
                  <a:txBody>
                    <a:bodyPr/>
                    <a:lstStyle/>
                    <a:p>
                      <a:pPr algn="ctr" fontAlgn="ctr">
                        <a:buNone/>
                      </a:pPr>
                      <a:endParaRPr lang="pt-BR" sz="900" b="1" i="0" u="none" strike="noStrike">
                        <a:solidFill>
                          <a:srgbClr val="000000"/>
                        </a:solidFill>
                        <a:effectLst/>
                        <a:latin typeface="Calibri" panose="020F0502020204030204" pitchFamily="34" charset="0"/>
                      </a:endParaRP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pt-BR" sz="900" b="0" i="0" u="none" strike="noStrike">
                        <a:solidFill>
                          <a:srgbClr val="000000"/>
                        </a:solidFill>
                        <a:effectLst/>
                        <a:latin typeface="Calibri" panose="020F0502020204030204" pitchFamily="34" charset="0"/>
                      </a:endParaRPr>
                    </a:p>
                  </a:txBody>
                  <a:tcPr marL="5715" marR="5715" marT="571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14 bar (12 bar para 158 mm)</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0751072"/>
                  </a:ext>
                </a:extLst>
              </a:tr>
              <a:tr h="264996">
                <a:tc>
                  <a:txBody>
                    <a:bodyPr/>
                    <a:lstStyle/>
                    <a:p>
                      <a:pPr algn="ctr" fontAlgn="t">
                        <a:buNone/>
                      </a:pPr>
                      <a:r>
                        <a:rPr lang="pt-BR" sz="900" b="1" i="0" u="none" strike="noStrike">
                          <a:solidFill>
                            <a:srgbClr val="000000"/>
                          </a:solidFill>
                          <a:effectLst/>
                          <a:latin typeface="Calibri" panose="020F0502020204030204" pitchFamily="34" charset="0"/>
                        </a:rPr>
                        <a:t>Temperatura máx. de serviço</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-10°C a 70°C</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-10°C a 70°C</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78975985"/>
                  </a:ext>
                </a:extLst>
              </a:tr>
              <a:tr h="505374">
                <a:tc>
                  <a:txBody>
                    <a:bodyPr/>
                    <a:lstStyle/>
                    <a:p>
                      <a:pPr algn="ctr" fontAlgn="ctr">
                        <a:buNone/>
                      </a:pPr>
                      <a:r>
                        <a:rPr lang="pt-BR" sz="900" b="1" i="0" u="none" strike="noStrike">
                          <a:solidFill>
                            <a:srgbClr val="000000"/>
                          </a:solidFill>
                          <a:effectLst/>
                          <a:latin typeface="Calibri" panose="020F0502020204030204" pitchFamily="34" charset="0"/>
                        </a:rPr>
                        <a:t>Material do tubo</a:t>
                      </a: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Alumínio EN AW-6060 extrudado e calibrado; T6 temperado, resistente à radiação UV – apropriado para utilização em ambientes internos/externos</a:t>
                      </a:r>
                    </a:p>
                  </a:txBody>
                  <a:tcPr marL="5715" marR="5715" marT="571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pt-BR" sz="900" b="0" i="0" u="none" strike="noStrike">
                        <a:solidFill>
                          <a:srgbClr val="000000"/>
                        </a:solidFill>
                        <a:effectLst/>
                        <a:latin typeface="Calibri" panose="020F0502020204030204" pitchFamily="34" charset="0"/>
                      </a:endParaRPr>
                    </a:p>
                  </a:txBody>
                  <a:tcPr marL="5715" marR="5715" marT="571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2179817"/>
                  </a:ext>
                </a:extLst>
              </a:tr>
              <a:tr h="135202">
                <a:tc>
                  <a:txBody>
                    <a:bodyPr/>
                    <a:lstStyle/>
                    <a:p>
                      <a:pPr algn="ctr" fontAlgn="ctr">
                        <a:buNone/>
                      </a:pPr>
                      <a:endParaRPr lang="pt-BR" sz="900" b="1" i="0" u="none" strike="noStrike">
                        <a:solidFill>
                          <a:srgbClr val="000000"/>
                        </a:solidFill>
                        <a:effectLst/>
                        <a:latin typeface="Calibri" panose="020F0502020204030204" pitchFamily="34" charset="0"/>
                      </a:endParaRP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endParaRPr lang="pt-BR" sz="900" b="0" i="0" u="none" strike="noStrike">
                        <a:solidFill>
                          <a:srgbClr val="000000"/>
                        </a:solidFill>
                        <a:effectLst/>
                        <a:latin typeface="Calibri" panose="020F0502020204030204" pitchFamily="34" charset="0"/>
                      </a:endParaRPr>
                    </a:p>
                  </a:txBody>
                  <a:tcPr marL="5715" marR="5715" marT="571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endParaRPr lang="pt-BR" sz="900" b="0" i="0" u="none" strike="noStrike">
                        <a:solidFill>
                          <a:srgbClr val="000000"/>
                        </a:solidFill>
                        <a:effectLst/>
                        <a:latin typeface="Calibri" panose="020F0502020204030204" pitchFamily="34" charset="0"/>
                      </a:endParaRPr>
                    </a:p>
                  </a:txBody>
                  <a:tcPr marL="5715" marR="5715" marT="571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5056206"/>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Certificação da pintura</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Pintura com pó Qualicoat® (retardador de chama)</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3767946"/>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Peso do tubo</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20mm          0,23 kg/m</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80mm          1,58 kg/m</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932182109"/>
                  </a:ext>
                </a:extLst>
              </a:tr>
              <a:tr h="135202">
                <a:tc>
                  <a:txBody>
                    <a:bodyPr/>
                    <a:lstStyle/>
                    <a:p>
                      <a:pPr algn="l" fontAlgn="b">
                        <a:buNone/>
                      </a:pPr>
                      <a:endParaRPr lang="pt-BR" sz="900" b="0" i="0" u="none" strike="noStrike">
                        <a:solidFill>
                          <a:srgbClr val="000000"/>
                        </a:solidFill>
                        <a:effectLst/>
                        <a:latin typeface="Calibri" panose="020F0502020204030204" pitchFamily="34" charset="0"/>
                      </a:endParaRP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25mm          0,30 kg/m</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110mm         2,37 kg/m </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7368525"/>
                  </a:ext>
                </a:extLst>
              </a:tr>
              <a:tr h="135202">
                <a:tc>
                  <a:txBody>
                    <a:bodyPr/>
                    <a:lstStyle/>
                    <a:p>
                      <a:pPr algn="l" fontAlgn="b">
                        <a:buNone/>
                      </a:pPr>
                      <a:endParaRPr lang="pt-BR" sz="900" b="0" i="0" u="none" strike="noStrike">
                        <a:solidFill>
                          <a:srgbClr val="000000"/>
                        </a:solidFill>
                        <a:effectLst/>
                        <a:latin typeface="Calibri" panose="020F0502020204030204" pitchFamily="34" charset="0"/>
                      </a:endParaRP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32mm          0,39 kg/m</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158mm         4,70 kg/m</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206942891"/>
                  </a:ext>
                </a:extLst>
              </a:tr>
              <a:tr h="135202">
                <a:tc>
                  <a:txBody>
                    <a:bodyPr/>
                    <a:lstStyle/>
                    <a:p>
                      <a:pPr algn="l" fontAlgn="b">
                        <a:buNone/>
                      </a:pPr>
                      <a:endParaRPr lang="pt-BR" sz="900" b="0" i="0" u="none" strike="noStrike">
                        <a:solidFill>
                          <a:srgbClr val="000000"/>
                        </a:solidFill>
                        <a:effectLst/>
                        <a:latin typeface="Calibri" panose="020F0502020204030204" pitchFamily="34" charset="0"/>
                      </a:endParaRP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40mm         0,49 kg/m</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9599355"/>
                  </a:ext>
                </a:extLst>
              </a:tr>
              <a:tr h="135202">
                <a:tc>
                  <a:txBody>
                    <a:bodyPr/>
                    <a:lstStyle/>
                    <a:p>
                      <a:pPr algn="l" fontAlgn="b">
                        <a:buNone/>
                      </a:pPr>
                      <a:endParaRPr lang="pt-BR" sz="900" b="0" i="0" u="none" strike="noStrike">
                        <a:solidFill>
                          <a:srgbClr val="000000"/>
                        </a:solidFill>
                        <a:effectLst/>
                        <a:latin typeface="Calibri" panose="020F0502020204030204" pitchFamily="34" charset="0"/>
                      </a:endParaRP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63mm          1,03 kg/m</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635077776"/>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Material da conexão</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polímero usinado </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Alumínio </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6433595"/>
                  </a:ext>
                </a:extLst>
              </a:tr>
              <a:tr h="135202">
                <a:tc>
                  <a:txBody>
                    <a:bodyPr/>
                    <a:lstStyle/>
                    <a:p>
                      <a:pPr algn="ctr" fontAlgn="t">
                        <a:buNone/>
                      </a:pPr>
                      <a:endParaRPr lang="pt-BR" sz="900" b="1" i="0" u="none" strike="noStrike">
                        <a:solidFill>
                          <a:srgbClr val="000000"/>
                        </a:solidFill>
                        <a:effectLst/>
                        <a:latin typeface="Calibri" panose="020F0502020204030204" pitchFamily="34" charset="0"/>
                      </a:endParaRP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Ultramid® B3EG6</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EN AB 42100/44100</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40735412"/>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Vedações tipo ‘O-ring’</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padrão NBR 70 (-35°C a +110°C) </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491062"/>
                  </a:ext>
                </a:extLst>
              </a:tr>
              <a:tr h="135202">
                <a:tc>
                  <a:txBody>
                    <a:bodyPr/>
                    <a:lstStyle/>
                    <a:p>
                      <a:pPr algn="ctr" fontAlgn="t">
                        <a:buNone/>
                      </a:pPr>
                      <a:endParaRPr lang="pt-BR" sz="900" b="1" i="0" u="none" strike="noStrike">
                        <a:solidFill>
                          <a:srgbClr val="000000"/>
                        </a:solidFill>
                        <a:effectLst/>
                        <a:latin typeface="Calibri" panose="020F0502020204030204" pitchFamily="34" charset="0"/>
                      </a:endParaRP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 VITON® opcional</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245632957"/>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Pressão do teste de ruptura</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130 bar</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70 bar</a:t>
                      </a: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4080831"/>
                  </a:ext>
                </a:extLst>
              </a:tr>
              <a:tr h="264996">
                <a:tc>
                  <a:txBody>
                    <a:bodyPr/>
                    <a:lstStyle/>
                    <a:p>
                      <a:pPr algn="ctr" fontAlgn="ctr">
                        <a:buNone/>
                      </a:pPr>
                      <a:r>
                        <a:rPr lang="pt-BR" sz="900" b="1" i="0" u="none" strike="noStrike">
                          <a:solidFill>
                            <a:srgbClr val="000000"/>
                          </a:solidFill>
                          <a:effectLst/>
                          <a:latin typeface="Calibri" panose="020F0502020204030204" pitchFamily="34" charset="0"/>
                        </a:rPr>
                        <a:t>Tempo de montagem necessário</a:t>
                      </a: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60% menos que sistemas tradicionais de tubulação </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74551525"/>
                  </a:ext>
                </a:extLst>
              </a:tr>
              <a:tr h="135202">
                <a:tc>
                  <a:txBody>
                    <a:bodyPr/>
                    <a:lstStyle/>
                    <a:p>
                      <a:pPr algn="ctr" fontAlgn="ctr">
                        <a:buNone/>
                      </a:pPr>
                      <a:endParaRPr lang="pt-BR" sz="900" b="1" i="0" u="none" strike="noStrike">
                        <a:solidFill>
                          <a:srgbClr val="000000"/>
                        </a:solidFill>
                        <a:effectLst/>
                        <a:latin typeface="Calibri" panose="020F0502020204030204" pitchFamily="34" charset="0"/>
                      </a:endParaRP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15% menos que sistemas de tubulação modular da concorrência</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713565"/>
                  </a:ext>
                </a:extLst>
              </a:tr>
              <a:tr h="135202">
                <a:tc>
                  <a:txBody>
                    <a:bodyPr/>
                    <a:lstStyle/>
                    <a:p>
                      <a:pPr algn="ctr" fontAlgn="ctr">
                        <a:buNone/>
                      </a:pPr>
                      <a:r>
                        <a:rPr lang="pt-BR" sz="900" b="1" i="0" u="none" strike="noStrike">
                          <a:solidFill>
                            <a:srgbClr val="000000"/>
                          </a:solidFill>
                          <a:effectLst/>
                          <a:latin typeface="Calibri" panose="020F0502020204030204" pitchFamily="34" charset="0"/>
                        </a:rPr>
                        <a:t>Normas e certificação</a:t>
                      </a: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Tubulação de acordo com Processo ASME B31.3 </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915261118"/>
                  </a:ext>
                </a:extLst>
              </a:tr>
              <a:tr h="135202">
                <a:tc>
                  <a:txBody>
                    <a:bodyPr/>
                    <a:lstStyle/>
                    <a:p>
                      <a:pPr algn="ctr" fontAlgn="ctr">
                        <a:buNone/>
                      </a:pPr>
                      <a:endParaRPr lang="pt-BR" sz="900" b="1" i="0" u="none" strike="noStrike">
                        <a:solidFill>
                          <a:srgbClr val="000000"/>
                        </a:solidFill>
                        <a:effectLst/>
                        <a:latin typeface="Calibri" panose="020F0502020204030204" pitchFamily="34" charset="0"/>
                      </a:endParaRPr>
                    </a:p>
                  </a:txBody>
                  <a:tcPr marL="5715" marR="5715" marT="571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97/23/CE Diretiz de equipamento de pressão (P.E.D.)</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0115232"/>
                  </a:ext>
                </a:extLst>
              </a:tr>
              <a:tr h="264996">
                <a:tc>
                  <a:txBody>
                    <a:bodyPr/>
                    <a:lstStyle/>
                    <a:p>
                      <a:pPr algn="ctr" fontAlgn="t">
                        <a:buNone/>
                      </a:pPr>
                      <a:r>
                        <a:rPr lang="pt-BR" sz="900" b="1" i="0" u="none" strike="noStrike">
                          <a:solidFill>
                            <a:srgbClr val="000000"/>
                          </a:solidFill>
                          <a:effectLst/>
                          <a:latin typeface="Calibri" panose="020F0502020204030204" pitchFamily="34" charset="0"/>
                        </a:rPr>
                        <a:t>Aplicação</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tubulações para ar comprimido, vácuo e gases inertes (por exemplo, nitrogênio ou argônio)</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830353265"/>
                  </a:ext>
                </a:extLst>
              </a:tr>
              <a:tr h="135202">
                <a:tc>
                  <a:txBody>
                    <a:bodyPr/>
                    <a:lstStyle/>
                    <a:p>
                      <a:pPr algn="ctr" fontAlgn="t">
                        <a:buNone/>
                      </a:pPr>
                      <a:r>
                        <a:rPr lang="pt-BR" sz="900" b="1" i="0" u="none" strike="noStrike">
                          <a:solidFill>
                            <a:srgbClr val="000000"/>
                          </a:solidFill>
                          <a:effectLst/>
                          <a:latin typeface="Calibri" panose="020F0502020204030204" pitchFamily="34" charset="0"/>
                        </a:rPr>
                        <a:t>Roscas</a:t>
                      </a:r>
                    </a:p>
                  </a:txBody>
                  <a:tcPr marL="5715" marR="5715" marT="5715" marB="0">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Calibri" panose="020F0502020204030204" pitchFamily="34" charset="0"/>
                        </a:rPr>
                        <a:t>BSP e NPT disponíveis </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0254913"/>
                  </a:ext>
                </a:extLst>
              </a:tr>
              <a:tr h="135202">
                <a:tc>
                  <a:txBody>
                    <a:bodyPr/>
                    <a:lstStyle/>
                    <a:p>
                      <a:pPr algn="l" fontAlgn="b">
                        <a:buNone/>
                      </a:pPr>
                      <a:endParaRPr lang="pt-BR" sz="900" b="0" i="0" u="none" strike="noStrike">
                        <a:solidFill>
                          <a:srgbClr val="000000"/>
                        </a:solidFill>
                        <a:effectLst/>
                        <a:latin typeface="Calibri" panose="020F0502020204030204" pitchFamily="34" charset="0"/>
                      </a:endParaRPr>
                    </a:p>
                  </a:txBody>
                  <a:tcPr marL="5715" marR="5715" marT="571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pt-BR" sz="900" b="0" i="0" u="none" strike="noStrike">
                          <a:solidFill>
                            <a:srgbClr val="000000"/>
                          </a:solidFill>
                          <a:effectLst/>
                          <a:latin typeface="Calibri" panose="020F0502020204030204" pitchFamily="34" charset="0"/>
                        </a:rPr>
                        <a:t>Design exclusivo da Ingersoll Rand e produto patenteado</a:t>
                      </a:r>
                    </a:p>
                  </a:txBody>
                  <a:tcPr marL="5715" marR="5715" marT="571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endParaRPr lang="pt-BR" sz="900" b="0" i="0" u="none" strike="noStrike">
                        <a:solidFill>
                          <a:srgbClr val="000000"/>
                        </a:solidFill>
                        <a:effectLst/>
                        <a:latin typeface="Calibri" panose="020F0502020204030204" pitchFamily="34" charset="0"/>
                      </a:endParaRPr>
                    </a:p>
                  </a:txBody>
                  <a:tcPr marL="5715" marR="5715" marT="571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98554693"/>
                  </a:ext>
                </a:extLst>
              </a:tr>
            </a:tbl>
          </a:graphicData>
        </a:graphic>
      </p:graphicFrame>
      <p:sp>
        <p:nvSpPr>
          <p:cNvPr id="41" name="Freeform 11">
            <a:extLst>
              <a:ext uri="{FF2B5EF4-FFF2-40B4-BE49-F238E27FC236}">
                <a16:creationId xmlns:a16="http://schemas.microsoft.com/office/drawing/2014/main" id="{F645F147-F07B-E7D0-23C9-25D1093F9565}"/>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3"/>
            <a:stretch>
              <a:fillRect/>
            </a:stretch>
          </a:blipFill>
        </p:spPr>
      </p:sp>
    </p:spTree>
    <p:extLst>
      <p:ext uri="{BB962C8B-B14F-4D97-AF65-F5344CB8AC3E}">
        <p14:creationId xmlns:p14="http://schemas.microsoft.com/office/powerpoint/2010/main" val="1569117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6EE1-755E-DA9F-F099-7363C5C170F7}"/>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8C670E73-0DD9-D56F-1FC5-97351CD4B9C4}"/>
              </a:ext>
            </a:extLst>
          </p:cNvPr>
          <p:cNvGrpSpPr/>
          <p:nvPr/>
        </p:nvGrpSpPr>
        <p:grpSpPr>
          <a:xfrm>
            <a:off x="481013" y="1277723"/>
            <a:ext cx="374337" cy="187168"/>
            <a:chOff x="0" y="0"/>
            <a:chExt cx="812800" cy="406400"/>
          </a:xfrm>
        </p:grpSpPr>
        <p:sp>
          <p:nvSpPr>
            <p:cNvPr id="14" name="Freeform 14">
              <a:extLst>
                <a:ext uri="{FF2B5EF4-FFF2-40B4-BE49-F238E27FC236}">
                  <a16:creationId xmlns:a16="http://schemas.microsoft.com/office/drawing/2014/main" id="{4980B40F-2B8C-A243-659C-827C1FC0F5C9}"/>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3F1BD0DE-F1F9-4E62-FF3F-BB2E869EE772}"/>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9" name="TextBox 19">
            <a:extLst>
              <a:ext uri="{FF2B5EF4-FFF2-40B4-BE49-F238E27FC236}">
                <a16:creationId xmlns:a16="http://schemas.microsoft.com/office/drawing/2014/main" id="{71A9A064-C007-F4D4-A67E-089174E72ACE}"/>
              </a:ext>
            </a:extLst>
          </p:cNvPr>
          <p:cNvSpPr txBox="1"/>
          <p:nvPr/>
        </p:nvSpPr>
        <p:spPr>
          <a:xfrm>
            <a:off x="987968" y="1252941"/>
            <a:ext cx="6170737"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OBSERVAÇÕES IMPORTANTES:</a:t>
            </a:r>
          </a:p>
        </p:txBody>
      </p:sp>
      <p:pic>
        <p:nvPicPr>
          <p:cNvPr id="7" name="Imagem 6">
            <a:extLst>
              <a:ext uri="{FF2B5EF4-FFF2-40B4-BE49-F238E27FC236}">
                <a16:creationId xmlns:a16="http://schemas.microsoft.com/office/drawing/2014/main" id="{23371DA3-6356-9964-29F3-760A38654D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363" y="-34643"/>
            <a:ext cx="7464673" cy="859247"/>
          </a:xfrm>
          <a:prstGeom prst="rect">
            <a:avLst/>
          </a:prstGeom>
        </p:spPr>
      </p:pic>
      <p:grpSp>
        <p:nvGrpSpPr>
          <p:cNvPr id="12" name="Group 8">
            <a:extLst>
              <a:ext uri="{FF2B5EF4-FFF2-40B4-BE49-F238E27FC236}">
                <a16:creationId xmlns:a16="http://schemas.microsoft.com/office/drawing/2014/main" id="{A97CEF05-D1B0-F446-7362-BB2992C657D1}"/>
              </a:ext>
            </a:extLst>
          </p:cNvPr>
          <p:cNvGrpSpPr/>
          <p:nvPr/>
        </p:nvGrpSpPr>
        <p:grpSpPr>
          <a:xfrm>
            <a:off x="1" y="10514133"/>
            <a:ext cx="7556500" cy="179269"/>
            <a:chOff x="0" y="0"/>
            <a:chExt cx="3047987" cy="131886"/>
          </a:xfrm>
        </p:grpSpPr>
        <p:sp>
          <p:nvSpPr>
            <p:cNvPr id="16" name="Freeform 9">
              <a:extLst>
                <a:ext uri="{FF2B5EF4-FFF2-40B4-BE49-F238E27FC236}">
                  <a16:creationId xmlns:a16="http://schemas.microsoft.com/office/drawing/2014/main" id="{4155192A-6DA8-557E-5D5A-C626957FF220}"/>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7" name="TextBox 10">
              <a:extLst>
                <a:ext uri="{FF2B5EF4-FFF2-40B4-BE49-F238E27FC236}">
                  <a16:creationId xmlns:a16="http://schemas.microsoft.com/office/drawing/2014/main" id="{871C9A18-460A-8CB5-7D7F-1236AEBB5BE9}"/>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CaixaDeTexto 1">
            <a:extLst>
              <a:ext uri="{FF2B5EF4-FFF2-40B4-BE49-F238E27FC236}">
                <a16:creationId xmlns:a16="http://schemas.microsoft.com/office/drawing/2014/main" id="{BB2EAB50-DAF1-3290-10D5-ACAFD1D5CE44}"/>
              </a:ext>
            </a:extLst>
          </p:cNvPr>
          <p:cNvSpPr txBox="1"/>
          <p:nvPr/>
        </p:nvSpPr>
        <p:spPr>
          <a:xfrm>
            <a:off x="493714" y="1627392"/>
            <a:ext cx="6664992" cy="3574889"/>
          </a:xfrm>
          <a:prstGeom prst="rect">
            <a:avLst/>
          </a:prstGeom>
          <a:noFill/>
        </p:spPr>
        <p:txBody>
          <a:bodyPr wrap="square">
            <a:spAutoFit/>
          </a:bodyPr>
          <a:lstStyle/>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Material de primeira linha de alta qualidade;</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Não está incluso instalações elétricas;</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Não está incluso serviços de guindaste;</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Não está incluso reparos na construção civil e possíveis abrigos de alvenaria;</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Não está incluso abertura e fechamento de valas;</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Não está incluso locação de plataforma elevatória, caso se faça necessário fica por responsabilidade do cliente;</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Opção para a execução dos serviços em sábados ou fora do horário de expediente, acrescentar 35% sobre o valor de mão de obra;</a:t>
            </a:r>
            <a:endParaRPr lang="pt-BR" sz="1100">
              <a:solidFill>
                <a:srgbClr val="000000"/>
              </a:solidFill>
              <a:effectLst/>
              <a:latin typeface="Montserrat" panose="00000500000000000000" pitchFamily="2" charset="0"/>
              <a:ea typeface="Calibri" panose="020F0502020204030204" pitchFamily="34" charset="0"/>
            </a:endParaRPr>
          </a:p>
          <a:p>
            <a:pPr marL="342900" lvl="0" indent="-342900" algn="just">
              <a:lnSpc>
                <a:spcPct val="150000"/>
              </a:lnSpc>
              <a:spcAft>
                <a:spcPts val="800"/>
              </a:spcAft>
              <a:buFont typeface="Wingdings" panose="05000000000000000000" pitchFamily="2" charset="2"/>
              <a:buChar char=""/>
            </a:pPr>
            <a:r>
              <a:rPr lang="pt-BR" sz="1100">
                <a:solidFill>
                  <a:srgbClr val="000000"/>
                </a:solidFill>
                <a:effectLst/>
                <a:latin typeface="Montserrat" panose="00000500000000000000" pitchFamily="2" charset="0"/>
                <a:ea typeface="Times New Roman" panose="02020603050405020304" pitchFamily="18" charset="0"/>
              </a:rPr>
              <a:t>Opção para a execução dos serviços em domingos ou feriados, acrescentar 50% sobre o valor de mão de obra;</a:t>
            </a:r>
            <a:endParaRPr lang="pt-BR" sz="1100">
              <a:solidFill>
                <a:srgbClr val="000000"/>
              </a:solidFill>
              <a:effectLst/>
              <a:latin typeface="Montserrat" panose="00000500000000000000" pitchFamily="2" charset="0"/>
              <a:ea typeface="Calibri" panose="020F0502020204030204" pitchFamily="34" charset="0"/>
            </a:endParaRPr>
          </a:p>
        </p:txBody>
      </p:sp>
      <p:sp>
        <p:nvSpPr>
          <p:cNvPr id="3" name="Freeform 11">
            <a:extLst>
              <a:ext uri="{FF2B5EF4-FFF2-40B4-BE49-F238E27FC236}">
                <a16:creationId xmlns:a16="http://schemas.microsoft.com/office/drawing/2014/main" id="{1CC52FD1-1231-0AD7-F6FE-FC4D96ACC681}"/>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3"/>
            <a:stretch>
              <a:fillRect/>
            </a:stretch>
          </a:blipFill>
        </p:spPr>
      </p:sp>
      <p:sp>
        <p:nvSpPr>
          <p:cNvPr id="5" name="CaixaDeTexto 4">
            <a:extLst>
              <a:ext uri="{FF2B5EF4-FFF2-40B4-BE49-F238E27FC236}">
                <a16:creationId xmlns:a16="http://schemas.microsoft.com/office/drawing/2014/main" id="{72F71A95-D35F-7494-3C05-71836350D668}"/>
              </a:ext>
            </a:extLst>
          </p:cNvPr>
          <p:cNvSpPr txBox="1"/>
          <p:nvPr/>
        </p:nvSpPr>
        <p:spPr>
          <a:xfrm>
            <a:off x="487363" y="5514762"/>
            <a:ext cx="6664991" cy="918970"/>
          </a:xfrm>
          <a:prstGeom prst="rect">
            <a:avLst/>
          </a:prstGeom>
          <a:noFill/>
        </p:spPr>
        <p:txBody>
          <a:bodyPr wrap="square">
            <a:spAutoFit/>
          </a:bodyPr>
          <a:lstStyle/>
          <a:p>
            <a:pPr>
              <a:lnSpc>
                <a:spcPct val="107000"/>
              </a:lnSpc>
              <a:spcAft>
                <a:spcPts val="800"/>
              </a:spcAft>
              <a:buNone/>
              <a:tabLst>
                <a:tab pos="1466850" algn="l"/>
              </a:tabLst>
            </a:pPr>
            <a:r>
              <a:rPr lang="pt-BR" sz="1100">
                <a:solidFill>
                  <a:srgbClr val="000000"/>
                </a:solidFill>
                <a:effectLst/>
                <a:latin typeface="Montserrat" panose="00000500000000000000" pitchFamily="2" charset="0"/>
                <a:ea typeface="Times New Roman" panose="02020603050405020304" pitchFamily="18" charset="0"/>
              </a:rPr>
              <a:t>Por eventualidade ocorra a prolongação para a conclusão da obra por motivos adversos do tomador do serviço, caso se faça necessário será efetuado a cobrança de despesas extras como: deslocamentos, hospedagem e alimentação dos técnicos;</a:t>
            </a:r>
            <a:br>
              <a:rPr lang="pt-BR" sz="1800" b="1">
                <a:solidFill>
                  <a:srgbClr val="000000"/>
                </a:solidFill>
                <a:effectLst/>
                <a:latin typeface="Arial" panose="020B0604020202020204" pitchFamily="34" charset="0"/>
                <a:ea typeface="Calibri" panose="020F0502020204030204" pitchFamily="34" charset="0"/>
              </a:rPr>
            </a:br>
            <a:endParaRPr lang="pt-BR" sz="1800">
              <a:solidFill>
                <a:srgbClr val="000000"/>
              </a:solidFill>
              <a:effectLst/>
              <a:latin typeface="Calibri" panose="020F0502020204030204" pitchFamily="34" charset="0"/>
              <a:ea typeface="Calibri" panose="020F0502020204030204" pitchFamily="34" charset="0"/>
            </a:endParaRPr>
          </a:p>
        </p:txBody>
      </p:sp>
      <p:pic>
        <p:nvPicPr>
          <p:cNvPr id="20" name="Imagem 19" descr="Uma imagem contendo Diagrama&#10;&#10;O conteúdo gerado por IA pode estar incorreto.">
            <a:extLst>
              <a:ext uri="{FF2B5EF4-FFF2-40B4-BE49-F238E27FC236}">
                <a16:creationId xmlns:a16="http://schemas.microsoft.com/office/drawing/2014/main" id="{061B73CE-0D2D-ABB9-E429-1BB1AA3E6F4E}"/>
              </a:ext>
            </a:extLst>
          </p:cNvPr>
          <p:cNvPicPr>
            <a:picLocks noChangeAspect="1"/>
          </p:cNvPicPr>
          <p:nvPr/>
        </p:nvPicPr>
        <p:blipFill>
          <a:blip r:embed="rId4" cstate="print">
            <a:extLst>
              <a:ext uri="{28A0092B-C50C-407E-A947-70E740481C1C}">
                <a14:useLocalDpi xmlns:a14="http://schemas.microsoft.com/office/drawing/2010/main" val="0"/>
              </a:ext>
            </a:extLst>
          </a:blip>
          <a:srcRect l="15714" t="14145" r="15714"/>
          <a:stretch>
            <a:fillRect/>
          </a:stretch>
        </p:blipFill>
        <p:spPr>
          <a:xfrm>
            <a:off x="2167381" y="6235662"/>
            <a:ext cx="5181600" cy="3649265"/>
          </a:xfrm>
          <a:prstGeom prst="rect">
            <a:avLst/>
          </a:prstGeom>
        </p:spPr>
      </p:pic>
    </p:spTree>
    <p:extLst>
      <p:ext uri="{BB962C8B-B14F-4D97-AF65-F5344CB8AC3E}">
        <p14:creationId xmlns:p14="http://schemas.microsoft.com/office/powerpoint/2010/main" val="4037794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7" name="Freeform 17"/>
          <p:cNvSpPr/>
          <p:nvPr/>
        </p:nvSpPr>
        <p:spPr>
          <a:xfrm>
            <a:off x="540377" y="8220012"/>
            <a:ext cx="775680" cy="775680"/>
          </a:xfrm>
          <a:custGeom>
            <a:avLst/>
            <a:gdLst/>
            <a:ahLst/>
            <a:cxnLst/>
            <a:rect l="l" t="t" r="r" b="b"/>
            <a:pathLst>
              <a:path w="775680" h="775680">
                <a:moveTo>
                  <a:pt x="0" y="0"/>
                </a:moveTo>
                <a:lnTo>
                  <a:pt x="775680" y="0"/>
                </a:lnTo>
                <a:lnTo>
                  <a:pt x="775680" y="775680"/>
                </a:lnTo>
                <a:lnTo>
                  <a:pt x="0" y="775680"/>
                </a:lnTo>
                <a:lnTo>
                  <a:pt x="0" y="0"/>
                </a:lnTo>
                <a:close/>
              </a:path>
            </a:pathLst>
          </a:custGeom>
          <a:blipFill>
            <a:blip r:embed="rId2"/>
            <a:stretch>
              <a:fillRect/>
            </a:stretch>
          </a:blipFill>
        </p:spPr>
      </p:sp>
      <p:sp>
        <p:nvSpPr>
          <p:cNvPr id="18" name="TextBox 18"/>
          <p:cNvSpPr txBox="1"/>
          <p:nvPr/>
        </p:nvSpPr>
        <p:spPr>
          <a:xfrm>
            <a:off x="1034174" y="1034283"/>
            <a:ext cx="4608974" cy="306702"/>
          </a:xfrm>
          <a:prstGeom prst="rect">
            <a:avLst/>
          </a:prstGeom>
        </p:spPr>
        <p:txBody>
          <a:bodyPr lIns="0" tIns="0" rIns="0" bIns="0" rtlCol="0" anchor="t">
            <a:spAutoFit/>
          </a:bodyPr>
          <a:lstStyle/>
          <a:p>
            <a:pPr>
              <a:lnSpc>
                <a:spcPts val="2520"/>
              </a:lnSpc>
            </a:pPr>
            <a:r>
              <a:rPr lang="en-US" b="1">
                <a:solidFill>
                  <a:srgbClr val="6F6F6F"/>
                </a:solidFill>
                <a:latin typeface="Montserrat" panose="00000500000000000000" pitchFamily="2" charset="0"/>
                <a:ea typeface="Montserrat Bold"/>
                <a:cs typeface="Montserrat Bold"/>
                <a:sym typeface="Montserrat Bold"/>
              </a:rPr>
              <a:t>CONDIÇÕES COMERCIAIS</a:t>
            </a:r>
          </a:p>
        </p:txBody>
      </p:sp>
      <p:sp>
        <p:nvSpPr>
          <p:cNvPr id="19" name="TextBox 19"/>
          <p:cNvSpPr txBox="1"/>
          <p:nvPr/>
        </p:nvSpPr>
        <p:spPr>
          <a:xfrm>
            <a:off x="1382698" y="8346307"/>
            <a:ext cx="5463604" cy="855555"/>
          </a:xfrm>
          <a:prstGeom prst="rect">
            <a:avLst/>
          </a:prstGeom>
        </p:spPr>
        <p:txBody>
          <a:bodyPr wrap="square" lIns="0" tIns="0" rIns="0" bIns="0" rtlCol="0" anchor="t">
            <a:spAutoFit/>
          </a:bodyPr>
          <a:lstStyle/>
          <a:p>
            <a:pPr algn="just">
              <a:lnSpc>
                <a:spcPts val="1679"/>
              </a:lnSpc>
            </a:pPr>
            <a:r>
              <a:rPr lang="en-US" sz="1200">
                <a:solidFill>
                  <a:srgbClr val="000000"/>
                </a:solidFill>
                <a:latin typeface="Montserrat"/>
                <a:ea typeface="Montserrat"/>
                <a:cs typeface="Montserrat"/>
                <a:sym typeface="Montserrat"/>
              </a:rPr>
              <a:t>É parte integrante desta proposta as condições gerais de venda da Ingersoll Rand® que seque no link abaixo:</a:t>
            </a:r>
          </a:p>
          <a:p>
            <a:pPr algn="just">
              <a:lnSpc>
                <a:spcPts val="1679"/>
              </a:lnSpc>
            </a:pPr>
            <a:r>
              <a:rPr lang="en-US" sz="1200">
                <a:solidFill>
                  <a:srgbClr val="000000"/>
                </a:solidFill>
                <a:latin typeface="Montserrat"/>
                <a:ea typeface="Montserrat"/>
                <a:cs typeface="Montserrat"/>
                <a:sym typeface="Montserrat"/>
              </a:rPr>
              <a:t>Clique </a:t>
            </a:r>
            <a:r>
              <a:rPr lang="en-US" sz="1200" u="sng">
                <a:solidFill>
                  <a:srgbClr val="000000"/>
                </a:solidFill>
                <a:latin typeface="Montserrat"/>
                <a:ea typeface="Montserrat"/>
                <a:cs typeface="Montserrat"/>
                <a:sym typeface="Montserrat"/>
                <a:hlinkClick r:id="rId3" tooltip="https://drive.google.com/file/d/1u8ru2W8YvmpBJ7NwRy4gI2Pdve1BwAxh/view?usp=sharing"/>
              </a:rPr>
              <a:t>aqui</a:t>
            </a:r>
            <a:r>
              <a:rPr lang="en-US" sz="1200">
                <a:solidFill>
                  <a:srgbClr val="000000"/>
                </a:solidFill>
                <a:latin typeface="Montserrat"/>
                <a:ea typeface="Montserrat"/>
                <a:cs typeface="Montserrat"/>
                <a:sym typeface="Montserrat"/>
              </a:rPr>
              <a:t> ou aproxime a câmera do seu celular no QR Code</a:t>
            </a:r>
          </a:p>
          <a:p>
            <a:pPr algn="just">
              <a:lnSpc>
                <a:spcPts val="1679"/>
              </a:lnSpc>
            </a:pPr>
            <a:endParaRPr lang="en-US" sz="1200">
              <a:solidFill>
                <a:srgbClr val="000000"/>
              </a:solidFill>
              <a:latin typeface="Montserrat"/>
              <a:ea typeface="Montserrat"/>
              <a:cs typeface="Montserrat"/>
              <a:sym typeface="Montserrat"/>
            </a:endParaRPr>
          </a:p>
        </p:txBody>
      </p:sp>
      <p:graphicFrame>
        <p:nvGraphicFramePr>
          <p:cNvPr id="21" name="Tabela 20">
            <a:extLst>
              <a:ext uri="{FF2B5EF4-FFF2-40B4-BE49-F238E27FC236}">
                <a16:creationId xmlns:a16="http://schemas.microsoft.com/office/drawing/2014/main" id="{A8D18F1B-AAA9-DA55-9BEC-62B65C0AD508}"/>
              </a:ext>
            </a:extLst>
          </p:cNvPr>
          <p:cNvGraphicFramePr>
            <a:graphicFrameLocks noGrp="1"/>
          </p:cNvGraphicFramePr>
          <p:nvPr>
            <p:extLst>
              <p:ext uri="{D42A27DB-BD31-4B8C-83A1-F6EECF244321}">
                <p14:modId xmlns:p14="http://schemas.microsoft.com/office/powerpoint/2010/main" val="2393409355"/>
              </p:ext>
            </p:extLst>
          </p:nvPr>
        </p:nvGraphicFramePr>
        <p:xfrm>
          <a:off x="661402" y="2122099"/>
          <a:ext cx="6184900" cy="977265"/>
        </p:xfrm>
        <a:graphic>
          <a:graphicData uri="http://schemas.openxmlformats.org/drawingml/2006/table">
            <a:tbl>
              <a:tblPr/>
              <a:tblGrid>
                <a:gridCol w="599460">
                  <a:extLst>
                    <a:ext uri="{9D8B030D-6E8A-4147-A177-3AD203B41FA5}">
                      <a16:colId xmlns:a16="http://schemas.microsoft.com/office/drawing/2014/main" val="20000"/>
                    </a:ext>
                  </a:extLst>
                </a:gridCol>
                <a:gridCol w="599460">
                  <a:extLst>
                    <a:ext uri="{9D8B030D-6E8A-4147-A177-3AD203B41FA5}">
                      <a16:colId xmlns:a16="http://schemas.microsoft.com/office/drawing/2014/main" val="20001"/>
                    </a:ext>
                  </a:extLst>
                </a:gridCol>
                <a:gridCol w="1779348">
                  <a:extLst>
                    <a:ext uri="{9D8B030D-6E8A-4147-A177-3AD203B41FA5}">
                      <a16:colId xmlns:a16="http://schemas.microsoft.com/office/drawing/2014/main" val="20002"/>
                    </a:ext>
                  </a:extLst>
                </a:gridCol>
                <a:gridCol w="694612">
                  <a:extLst>
                    <a:ext uri="{9D8B030D-6E8A-4147-A177-3AD203B41FA5}">
                      <a16:colId xmlns:a16="http://schemas.microsoft.com/office/drawing/2014/main" val="20003"/>
                    </a:ext>
                  </a:extLst>
                </a:gridCol>
                <a:gridCol w="1256010">
                  <a:extLst>
                    <a:ext uri="{9D8B030D-6E8A-4147-A177-3AD203B41FA5}">
                      <a16:colId xmlns:a16="http://schemas.microsoft.com/office/drawing/2014/main" val="20004"/>
                    </a:ext>
                  </a:extLst>
                </a:gridCol>
                <a:gridCol w="1256010">
                  <a:extLst>
                    <a:ext uri="{9D8B030D-6E8A-4147-A177-3AD203B41FA5}">
                      <a16:colId xmlns:a16="http://schemas.microsoft.com/office/drawing/2014/main" val="20005"/>
                    </a:ext>
                  </a:extLst>
                </a:gridCol>
              </a:tblGrid>
              <a:tr h="266700">
                <a:tc>
                  <a:txBody>
                    <a:bodyPr/>
                    <a:lstStyle/>
                    <a:p>
                      <a:pPr algn="ctr" fontAlgn="ctr"/>
                      <a:r>
                        <a:rPr lang="pt-BR" sz="1100" b="0" i="0" u="none" strike="noStrike" dirty="0">
                          <a:solidFill>
                            <a:srgbClr val="000000"/>
                          </a:solidFill>
                          <a:effectLst/>
                          <a:latin typeface="Montserrat" panose="00000500000000000000" pitchFamily="2" charset="0"/>
                        </a:rPr>
                        <a:t>Item</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Montserrat" panose="00000500000000000000" pitchFamily="2" charset="0"/>
                        </a:rPr>
                        <a:t>Qtde</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gridSpan="2">
                  <a:txBody>
                    <a:bodyPr/>
                    <a:lstStyle/>
                    <a:p>
                      <a:pPr algn="l" fontAlgn="ctr"/>
                      <a:r>
                        <a:rPr lang="pt-BR" sz="1100" b="0" i="0" u="none" strike="noStrike">
                          <a:solidFill>
                            <a:srgbClr val="000000"/>
                          </a:solidFill>
                          <a:effectLst/>
                          <a:latin typeface="Montserrat" panose="00000500000000000000" pitchFamily="2" charset="0"/>
                        </a:rPr>
                        <a:t>Descrição</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tc>
                  <a:txBody>
                    <a:bodyPr/>
                    <a:lstStyle/>
                    <a:p>
                      <a:pPr algn="ctr" fontAlgn="ctr"/>
                      <a:r>
                        <a:rPr lang="pt-BR" sz="1100" b="0" i="0" u="none" strike="noStrike">
                          <a:solidFill>
                            <a:srgbClr val="000000"/>
                          </a:solidFill>
                          <a:effectLst/>
                          <a:latin typeface="Montserrat" panose="00000500000000000000" pitchFamily="2" charset="0"/>
                        </a:rPr>
                        <a:t>Valor Unit. (R$)</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Montserrat" panose="00000500000000000000" pitchFamily="2" charset="0"/>
                        </a:rPr>
                        <a:t>Valor Total (R$)</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40481">
                <a:tc>
                  <a:txBody>
                    <a:bodyPr/>
                    <a:lstStyle/>
                    <a:p>
                      <a:pPr algn="ctr" fontAlgn="ctr"/>
                      <a:r>
                        <a:rPr lang="pt-BR" sz="1100" b="0" i="0" u="none" strike="noStrike" dirty="0">
                          <a:solidFill>
                            <a:srgbClr val="000000"/>
                          </a:solidFill>
                          <a:effectLst/>
                          <a:latin typeface="Montserrat" panose="00000500000000000000" pitchFamily="2" charset="0"/>
                        </a:rPr>
                        <a:t>01</a:t>
                      </a:r>
                    </a:p>
                  </a:txBody>
                  <a:tcPr marL="9525" marR="9525" marT="9525"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Montserrat" panose="00000500000000000000" pitchFamily="2" charset="0"/>
                        </a:rPr>
                        <a:t>01</a:t>
                      </a: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endParaRPr lang="pt-BR" sz="1100" b="0" i="0" u="none" strike="noStrike" dirty="0">
                        <a:solidFill>
                          <a:srgbClr val="000000"/>
                        </a:solidFill>
                        <a:effectLst/>
                        <a:latin typeface="Montserrat" panose="00000500000000000000" pitchFamily="2" charset="0"/>
                      </a:endParaRP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endParaRPr lang="pt-BR" sz="1100" b="0" i="0" u="none" strike="noStrike" dirty="0">
                        <a:solidFill>
                          <a:srgbClr val="000000"/>
                        </a:solidFill>
                        <a:effectLst/>
                        <a:latin typeface="Montserrat" panose="00000500000000000000" pitchFamily="2" charset="0"/>
                      </a:endParaRP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Montserrat" panose="00000500000000000000" pitchFamily="2" charset="0"/>
                        </a:rPr>
                        <a:t> </a:t>
                      </a:r>
                    </a:p>
                  </a:txBody>
                  <a:tcPr marL="9525" marR="9525" marT="9525"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00">
                <a:tc>
                  <a:txBody>
                    <a:bodyPr/>
                    <a:lstStyle/>
                    <a:p>
                      <a:pPr algn="ctr" fontAlgn="ctr"/>
                      <a:r>
                        <a:rPr lang="pt-BR" sz="1100" b="0" i="0" u="none" strike="noStrike">
                          <a:solidFill>
                            <a:srgbClr val="000000"/>
                          </a:solidFill>
                          <a:effectLst/>
                          <a:latin typeface="Montserrat" panose="00000500000000000000" pitchFamily="2"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Montserrat" panose="00000500000000000000" pitchFamily="2"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pt-BR" sz="1100" b="0" i="0" u="none" strike="noStrike">
                          <a:solidFill>
                            <a:srgbClr val="000000"/>
                          </a:solidFill>
                          <a:effectLst/>
                          <a:latin typeface="Montserrat" panose="00000500000000000000" pitchFamily="2"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r>
                        <a:rPr lang="pt-BR" sz="1100" b="0" i="0" u="none" strike="noStrike">
                          <a:solidFill>
                            <a:srgbClr val="000000"/>
                          </a:solidFill>
                          <a:effectLst/>
                          <a:latin typeface="Montserrat" panose="00000500000000000000" pitchFamily="2"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a:solidFill>
                            <a:srgbClr val="000000"/>
                          </a:solidFill>
                          <a:effectLst/>
                          <a:latin typeface="Montserrat" panose="00000500000000000000" pitchFamily="2"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algn="ctr" fontAlgn="ctr"/>
                      <a:endParaRPr lang="pt-BR" sz="1100" b="0" i="0" u="none" strike="noStrike">
                        <a:solidFill>
                          <a:srgbClr val="000000"/>
                        </a:solidFill>
                        <a:effectLst/>
                        <a:latin typeface="Montserrat" panose="00000500000000000000" pitchFamily="2"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pt-BR" sz="1100" b="0" i="0" u="none" strike="noStrike">
                        <a:solidFill>
                          <a:srgbClr val="000000"/>
                        </a:solidFill>
                        <a:effectLst/>
                        <a:latin typeface="Montserrat" panose="00000500000000000000" pitchFamily="2"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pt-BR" sz="1100" b="0" i="0" u="none" strike="noStrike">
                        <a:solidFill>
                          <a:srgbClr val="000000"/>
                        </a:solidFill>
                        <a:effectLst/>
                        <a:latin typeface="Montserrat" panose="00000500000000000000" pitchFamily="2" charset="0"/>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100" b="0" i="0" u="none" strike="noStrike">
                          <a:solidFill>
                            <a:srgbClr val="000000"/>
                          </a:solidFill>
                          <a:effectLst/>
                          <a:latin typeface="Montserrat" panose="00000500000000000000" pitchFamily="2" charset="0"/>
                        </a:rPr>
                        <a:t>TOTAL</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gridSpan="2">
                  <a:txBody>
                    <a:bodyPr/>
                    <a:lstStyle/>
                    <a:p>
                      <a:pPr algn="ctr" fontAlgn="ctr"/>
                      <a:r>
                        <a:rPr lang="pt-BR" sz="1100" b="0" i="0" u="none" strike="noStrike" dirty="0">
                          <a:solidFill>
                            <a:srgbClr val="000000"/>
                          </a:solidFill>
                          <a:effectLst/>
                          <a:latin typeface="Montserrat" panose="00000500000000000000" pitchFamily="2"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extLst>
                  <a:ext uri="{0D108BD9-81ED-4DB2-BD59-A6C34878D82A}">
                    <a16:rowId xmlns:a16="http://schemas.microsoft.com/office/drawing/2014/main" val="10003"/>
                  </a:ext>
                </a:extLst>
              </a:tr>
            </a:tbl>
          </a:graphicData>
        </a:graphic>
      </p:graphicFrame>
      <p:pic>
        <p:nvPicPr>
          <p:cNvPr id="7" name="Imagem 6">
            <a:extLst>
              <a:ext uri="{FF2B5EF4-FFF2-40B4-BE49-F238E27FC236}">
                <a16:creationId xmlns:a16="http://schemas.microsoft.com/office/drawing/2014/main" id="{3EC5EECF-0F62-4FB5-D499-FE3386399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614" y="-2216"/>
            <a:ext cx="7464673" cy="859247"/>
          </a:xfrm>
          <a:prstGeom prst="rect">
            <a:avLst/>
          </a:prstGeom>
        </p:spPr>
      </p:pic>
      <p:grpSp>
        <p:nvGrpSpPr>
          <p:cNvPr id="8" name="Group 8">
            <a:extLst>
              <a:ext uri="{FF2B5EF4-FFF2-40B4-BE49-F238E27FC236}">
                <a16:creationId xmlns:a16="http://schemas.microsoft.com/office/drawing/2014/main" id="{9F4DD33E-2A9B-6E52-0C0E-A59EB5AEC0DC}"/>
              </a:ext>
            </a:extLst>
          </p:cNvPr>
          <p:cNvGrpSpPr/>
          <p:nvPr/>
        </p:nvGrpSpPr>
        <p:grpSpPr>
          <a:xfrm>
            <a:off x="1" y="10514133"/>
            <a:ext cx="7556500" cy="179269"/>
            <a:chOff x="0" y="0"/>
            <a:chExt cx="3047987" cy="131886"/>
          </a:xfrm>
        </p:grpSpPr>
        <p:sp>
          <p:nvSpPr>
            <p:cNvPr id="9" name="Freeform 9">
              <a:extLst>
                <a:ext uri="{FF2B5EF4-FFF2-40B4-BE49-F238E27FC236}">
                  <a16:creationId xmlns:a16="http://schemas.microsoft.com/office/drawing/2014/main" id="{3E5570C8-3096-8541-E137-369CD23CE72D}"/>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a:extLst>
                <a:ext uri="{FF2B5EF4-FFF2-40B4-BE49-F238E27FC236}">
                  <a16:creationId xmlns:a16="http://schemas.microsoft.com/office/drawing/2014/main" id="{5009C1B2-9C3D-EB3C-EE72-F4D368C30562}"/>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Freeform 11">
            <a:extLst>
              <a:ext uri="{FF2B5EF4-FFF2-40B4-BE49-F238E27FC236}">
                <a16:creationId xmlns:a16="http://schemas.microsoft.com/office/drawing/2014/main" id="{6F3B806C-62EE-E8ED-78E5-57AC3AE29CDB}"/>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5"/>
            <a:stretch>
              <a:fillRect/>
            </a:stretch>
          </a:blipFill>
        </p:spPr>
      </p:sp>
      <p:graphicFrame>
        <p:nvGraphicFramePr>
          <p:cNvPr id="4" name="Tabela 3">
            <a:extLst>
              <a:ext uri="{FF2B5EF4-FFF2-40B4-BE49-F238E27FC236}">
                <a16:creationId xmlns:a16="http://schemas.microsoft.com/office/drawing/2014/main" id="{1D902516-3D82-68C7-AC48-ACF913C704B8}"/>
              </a:ext>
            </a:extLst>
          </p:cNvPr>
          <p:cNvGraphicFramePr>
            <a:graphicFrameLocks noGrp="1"/>
          </p:cNvGraphicFramePr>
          <p:nvPr>
            <p:extLst>
              <p:ext uri="{D42A27DB-BD31-4B8C-83A1-F6EECF244321}">
                <p14:modId xmlns:p14="http://schemas.microsoft.com/office/powerpoint/2010/main" val="1758325665"/>
              </p:ext>
            </p:extLst>
          </p:nvPr>
        </p:nvGraphicFramePr>
        <p:xfrm>
          <a:off x="661401" y="4848297"/>
          <a:ext cx="6184901" cy="3166238"/>
        </p:xfrm>
        <a:graphic>
          <a:graphicData uri="http://schemas.openxmlformats.org/drawingml/2006/table">
            <a:tbl>
              <a:tblPr firstRow="1" firstCol="1" bandRow="1"/>
              <a:tblGrid>
                <a:gridCol w="2507249">
                  <a:extLst>
                    <a:ext uri="{9D8B030D-6E8A-4147-A177-3AD203B41FA5}">
                      <a16:colId xmlns:a16="http://schemas.microsoft.com/office/drawing/2014/main" val="1390279608"/>
                    </a:ext>
                  </a:extLst>
                </a:gridCol>
                <a:gridCol w="685800">
                  <a:extLst>
                    <a:ext uri="{9D8B030D-6E8A-4147-A177-3AD203B41FA5}">
                      <a16:colId xmlns:a16="http://schemas.microsoft.com/office/drawing/2014/main" val="3360731125"/>
                    </a:ext>
                  </a:extLst>
                </a:gridCol>
                <a:gridCol w="1080697">
                  <a:extLst>
                    <a:ext uri="{9D8B030D-6E8A-4147-A177-3AD203B41FA5}">
                      <a16:colId xmlns:a16="http://schemas.microsoft.com/office/drawing/2014/main" val="3539777607"/>
                    </a:ext>
                  </a:extLst>
                </a:gridCol>
                <a:gridCol w="928479">
                  <a:extLst>
                    <a:ext uri="{9D8B030D-6E8A-4147-A177-3AD203B41FA5}">
                      <a16:colId xmlns:a16="http://schemas.microsoft.com/office/drawing/2014/main" val="1991370378"/>
                    </a:ext>
                  </a:extLst>
                </a:gridCol>
                <a:gridCol w="982676">
                  <a:extLst>
                    <a:ext uri="{9D8B030D-6E8A-4147-A177-3AD203B41FA5}">
                      <a16:colId xmlns:a16="http://schemas.microsoft.com/office/drawing/2014/main" val="3614035052"/>
                    </a:ext>
                  </a:extLst>
                </a:gridCol>
              </a:tblGrid>
              <a:tr h="247650">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Previsão de entrega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Frete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Condições de pagamento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Impostos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Validade da proposta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16249192"/>
                  </a:ext>
                </a:extLst>
              </a:tr>
              <a:tr h="247650">
                <a:tc>
                  <a:txBody>
                    <a:bodyPr/>
                    <a:lstStyle/>
                    <a:p>
                      <a:pPr algn="just">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10 dias após aprovação do pedido para início das obras. Sob consulta da disponibilidade da equipe técnica.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CIF</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A combinar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Inclusos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10 dias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4697874"/>
                  </a:ext>
                </a:extLst>
              </a:tr>
              <a:tr h="247650">
                <a:tc gridSpan="5">
                  <a:txBody>
                    <a:bodyPr/>
                    <a:lstStyle/>
                    <a:p>
                      <a:pPr algn="ctr">
                        <a:lnSpc>
                          <a:spcPct val="107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Faturamento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489198593"/>
                  </a:ext>
                </a:extLst>
              </a:tr>
              <a:tr h="247650">
                <a:tc gridSpan="5">
                  <a:txBody>
                    <a:bodyPr/>
                    <a:lstStyle/>
                    <a:p>
                      <a:pPr>
                        <a:lnSpc>
                          <a:spcPct val="150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Caso sejamos contemplados com o seu pedido de compra, este deverá ser emitido para:</a:t>
                      </a:r>
                    </a:p>
                    <a:p>
                      <a:pPr>
                        <a:lnSpc>
                          <a:spcPct val="150000"/>
                        </a:lnSpc>
                        <a:spcBef>
                          <a:spcPts val="200"/>
                        </a:spcBef>
                        <a:spcAft>
                          <a:spcPts val="200"/>
                        </a:spcAft>
                        <a:buNone/>
                        <a:tabLst>
                          <a:tab pos="1466850" algn="l"/>
                        </a:tabLst>
                      </a:pPr>
                      <a:r>
                        <a:rPr lang="pt-BR" sz="1100" b="1">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EVOLUCAO COM DE COMPRESSORES E EQUIP LTDA</a:t>
                      </a:r>
                      <a:endPar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endParaRPr>
                    </a:p>
                    <a:p>
                      <a:pPr>
                        <a:lnSpc>
                          <a:spcPct val="150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CNPJ: 07.382.761/0001-02 | Insc. Estadual: 255.034.520</a:t>
                      </a:r>
                    </a:p>
                    <a:p>
                      <a:pPr>
                        <a:lnSpc>
                          <a:spcPct val="150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Rua Pedro Robl, 13 – Colonial | CEP: 89.288-150</a:t>
                      </a:r>
                    </a:p>
                    <a:p>
                      <a:pPr>
                        <a:lnSpc>
                          <a:spcPct val="150000"/>
                        </a:lnSpc>
                        <a:spcBef>
                          <a:spcPts val="200"/>
                        </a:spcBef>
                        <a:spcAft>
                          <a:spcPts val="200"/>
                        </a:spcAft>
                        <a:buNone/>
                        <a:tabLst>
                          <a:tab pos="1466850" algn="l"/>
                        </a:tabLst>
                      </a:pPr>
                      <a:r>
                        <a:rPr lang="pt-BR" sz="1100">
                          <a:solidFill>
                            <a:srgbClr val="000000"/>
                          </a:solidFill>
                          <a:effectLst/>
                          <a:latin typeface="Montserrat" panose="00000500000000000000" pitchFamily="2" charset="0"/>
                          <a:ea typeface="Calibri" panose="020F0502020204030204" pitchFamily="34" charset="0"/>
                          <a:cs typeface="Times New Roman" panose="02020603050405020304" pitchFamily="18" charset="0"/>
                        </a:rPr>
                        <a:t>São Bento do Sul – SC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79653954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78478" y="1313080"/>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6" name="TextBox 16"/>
          <p:cNvSpPr txBox="1"/>
          <p:nvPr/>
        </p:nvSpPr>
        <p:spPr>
          <a:xfrm>
            <a:off x="1082469" y="1262963"/>
            <a:ext cx="4608974" cy="306702"/>
          </a:xfrm>
          <a:prstGeom prst="rect">
            <a:avLst/>
          </a:prstGeom>
        </p:spPr>
        <p:txBody>
          <a:bodyPr lIns="0" tIns="0" rIns="0" bIns="0" rtlCol="0" anchor="t">
            <a:spAutoFit/>
          </a:bodyPr>
          <a:lstStyle/>
          <a:p>
            <a:pPr>
              <a:lnSpc>
                <a:spcPts val="2520"/>
              </a:lnSpc>
            </a:pPr>
            <a:r>
              <a:rPr lang="en-US" b="1">
                <a:solidFill>
                  <a:srgbClr val="6F6F6F"/>
                </a:solidFill>
                <a:latin typeface="Montserrat" panose="00000500000000000000" pitchFamily="2" charset="0"/>
                <a:ea typeface="Montserrat Bold"/>
                <a:cs typeface="Montserrat Bold"/>
                <a:sym typeface="Montserrat Bold"/>
              </a:rPr>
              <a:t>GARANTIA</a:t>
            </a:r>
          </a:p>
        </p:txBody>
      </p:sp>
      <p:sp>
        <p:nvSpPr>
          <p:cNvPr id="19" name="Freeform 19"/>
          <p:cNvSpPr/>
          <p:nvPr/>
        </p:nvSpPr>
        <p:spPr>
          <a:xfrm>
            <a:off x="2885344" y="8859112"/>
            <a:ext cx="1295561" cy="1533895"/>
          </a:xfrm>
          <a:custGeom>
            <a:avLst/>
            <a:gdLst/>
            <a:ahLst/>
            <a:cxnLst/>
            <a:rect l="l" t="t" r="r" b="b"/>
            <a:pathLst>
              <a:path w="1295561" h="1533895">
                <a:moveTo>
                  <a:pt x="0" y="0"/>
                </a:moveTo>
                <a:lnTo>
                  <a:pt x="1295561" y="0"/>
                </a:lnTo>
                <a:lnTo>
                  <a:pt x="1295561" y="1533895"/>
                </a:lnTo>
                <a:lnTo>
                  <a:pt x="0" y="1533895"/>
                </a:lnTo>
                <a:lnTo>
                  <a:pt x="0" y="0"/>
                </a:lnTo>
                <a:close/>
              </a:path>
            </a:pathLst>
          </a:custGeom>
          <a:blipFill>
            <a:blip r:embed="rId2"/>
            <a:stretch>
              <a:fillRect l="-22727" t="-9148" r="-14257" b="-13137"/>
            </a:stretch>
          </a:blipFill>
        </p:spPr>
      </p:sp>
      <p:sp>
        <p:nvSpPr>
          <p:cNvPr id="20" name="TextBox 20"/>
          <p:cNvSpPr txBox="1"/>
          <p:nvPr/>
        </p:nvSpPr>
        <p:spPr>
          <a:xfrm>
            <a:off x="4352961" y="8832760"/>
            <a:ext cx="2676964" cy="1262718"/>
          </a:xfrm>
          <a:prstGeom prst="rect">
            <a:avLst/>
          </a:prstGeom>
        </p:spPr>
        <p:txBody>
          <a:bodyPr lIns="0" tIns="0" rIns="0" bIns="0" rtlCol="0" anchor="t">
            <a:spAutoFit/>
          </a:bodyPr>
          <a:lstStyle/>
          <a:p>
            <a:pPr algn="just">
              <a:lnSpc>
                <a:spcPts val="1679"/>
              </a:lnSpc>
            </a:pPr>
            <a:r>
              <a:rPr lang="en-US" sz="1200" b="1">
                <a:solidFill>
                  <a:srgbClr val="000000"/>
                </a:solidFill>
                <a:latin typeface="Montserrat Bold"/>
                <a:ea typeface="Montserrat Bold"/>
                <a:cs typeface="Montserrat Bold"/>
                <a:sym typeface="Montserrat Bold"/>
              </a:rPr>
              <a:t>Conheça nossos</a:t>
            </a:r>
          </a:p>
          <a:p>
            <a:pPr algn="just">
              <a:lnSpc>
                <a:spcPts val="2099"/>
              </a:lnSpc>
            </a:pPr>
            <a:r>
              <a:rPr lang="en-US" sz="1499" b="1">
                <a:solidFill>
                  <a:srgbClr val="000000"/>
                </a:solidFill>
                <a:latin typeface="Montserrat Bold"/>
                <a:ea typeface="Montserrat Bold"/>
                <a:cs typeface="Montserrat Bold"/>
                <a:sym typeface="Montserrat Bold"/>
              </a:rPr>
              <a:t>Planos de Serviços</a:t>
            </a:r>
          </a:p>
          <a:p>
            <a:pPr algn="just">
              <a:lnSpc>
                <a:spcPts val="1540"/>
              </a:lnSpc>
            </a:pPr>
            <a:r>
              <a:rPr lang="en-US" sz="1100">
                <a:solidFill>
                  <a:srgbClr val="000000"/>
                </a:solidFill>
                <a:latin typeface="Montserrat"/>
                <a:ea typeface="Montserrat"/>
                <a:cs typeface="Montserrat"/>
                <a:sym typeface="Montserrat"/>
              </a:rPr>
              <a:t>E amortize custos com manutenções, além de obter paz de espirito na geração de ar comprimido.</a:t>
            </a:r>
          </a:p>
          <a:p>
            <a:pPr algn="just">
              <a:lnSpc>
                <a:spcPts val="1679"/>
              </a:lnSpc>
            </a:pPr>
            <a:endParaRPr lang="en-US" sz="1100">
              <a:solidFill>
                <a:srgbClr val="000000"/>
              </a:solidFill>
              <a:latin typeface="Montserrat"/>
              <a:ea typeface="Montserrat"/>
              <a:cs typeface="Montserrat"/>
              <a:sym typeface="Montserrat"/>
            </a:endParaRPr>
          </a:p>
        </p:txBody>
      </p:sp>
      <p:sp>
        <p:nvSpPr>
          <p:cNvPr id="21" name="TextBox 21"/>
          <p:cNvSpPr txBox="1"/>
          <p:nvPr/>
        </p:nvSpPr>
        <p:spPr>
          <a:xfrm>
            <a:off x="4303464" y="10104005"/>
            <a:ext cx="3251765" cy="419538"/>
          </a:xfrm>
          <a:prstGeom prst="rect">
            <a:avLst/>
          </a:prstGeom>
        </p:spPr>
        <p:txBody>
          <a:bodyPr wrap="square" lIns="0" tIns="0" rIns="0" bIns="0" rtlCol="0" anchor="t">
            <a:spAutoFit/>
          </a:bodyPr>
          <a:lstStyle/>
          <a:p>
            <a:pPr algn="just">
              <a:lnSpc>
                <a:spcPts val="1679"/>
              </a:lnSpc>
            </a:pPr>
            <a:r>
              <a:rPr lang="en-US" sz="1200">
                <a:solidFill>
                  <a:srgbClr val="000000"/>
                </a:solidFill>
                <a:latin typeface="Montserrat"/>
                <a:ea typeface="Montserrat"/>
                <a:cs typeface="Montserrat"/>
                <a:sym typeface="Montserrat"/>
              </a:rPr>
              <a:t>Informe-se com seu consultor técnico.</a:t>
            </a:r>
          </a:p>
          <a:p>
            <a:pPr algn="just">
              <a:lnSpc>
                <a:spcPts val="1679"/>
              </a:lnSpc>
            </a:pPr>
            <a:endParaRPr lang="en-US" sz="1200">
              <a:solidFill>
                <a:srgbClr val="000000"/>
              </a:solidFill>
              <a:latin typeface="Montserrat"/>
              <a:ea typeface="Montserrat"/>
              <a:cs typeface="Montserrat"/>
              <a:sym typeface="Montserrat"/>
            </a:endParaRPr>
          </a:p>
        </p:txBody>
      </p:sp>
      <p:grpSp>
        <p:nvGrpSpPr>
          <p:cNvPr id="28" name="Group 8">
            <a:extLst>
              <a:ext uri="{FF2B5EF4-FFF2-40B4-BE49-F238E27FC236}">
                <a16:creationId xmlns:a16="http://schemas.microsoft.com/office/drawing/2014/main" id="{84C9A318-1014-EA26-ACEC-0DAE02ABFA8F}"/>
              </a:ext>
            </a:extLst>
          </p:cNvPr>
          <p:cNvGrpSpPr/>
          <p:nvPr/>
        </p:nvGrpSpPr>
        <p:grpSpPr>
          <a:xfrm>
            <a:off x="26701" y="10531095"/>
            <a:ext cx="7556500" cy="231978"/>
            <a:chOff x="0" y="0"/>
            <a:chExt cx="3047987" cy="131886"/>
          </a:xfrm>
        </p:grpSpPr>
        <p:sp>
          <p:nvSpPr>
            <p:cNvPr id="29" name="Freeform 9">
              <a:extLst>
                <a:ext uri="{FF2B5EF4-FFF2-40B4-BE49-F238E27FC236}">
                  <a16:creationId xmlns:a16="http://schemas.microsoft.com/office/drawing/2014/main" id="{A8D3FDFB-D282-C987-F9BB-0630517A2ED7}"/>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0" name="TextBox 10">
              <a:extLst>
                <a:ext uri="{FF2B5EF4-FFF2-40B4-BE49-F238E27FC236}">
                  <a16:creationId xmlns:a16="http://schemas.microsoft.com/office/drawing/2014/main" id="{33F55148-D997-671E-1865-BE160274372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7" name="Imagem 6">
            <a:extLst>
              <a:ext uri="{FF2B5EF4-FFF2-40B4-BE49-F238E27FC236}">
                <a16:creationId xmlns:a16="http://schemas.microsoft.com/office/drawing/2014/main" id="{E2EF2D97-63F5-D0E0-D7BC-C500B2F55A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sp>
        <p:nvSpPr>
          <p:cNvPr id="8" name="CaixaDeTexto 7">
            <a:extLst>
              <a:ext uri="{FF2B5EF4-FFF2-40B4-BE49-F238E27FC236}">
                <a16:creationId xmlns:a16="http://schemas.microsoft.com/office/drawing/2014/main" id="{B147C937-EB1B-F873-58D1-921E7D503C48}"/>
              </a:ext>
            </a:extLst>
          </p:cNvPr>
          <p:cNvSpPr txBox="1"/>
          <p:nvPr/>
        </p:nvSpPr>
        <p:spPr>
          <a:xfrm>
            <a:off x="-526575" y="1648282"/>
            <a:ext cx="7556500" cy="6740307"/>
          </a:xfrm>
          <a:prstGeom prst="rect">
            <a:avLst/>
          </a:prstGeom>
          <a:noFill/>
        </p:spPr>
        <p:txBody>
          <a:bodyPr wrap="square">
            <a:spAutoFit/>
          </a:bodyPr>
          <a:lstStyle/>
          <a:p>
            <a:pPr lvl="2" algn="just"/>
            <a:r>
              <a:rPr lang="pt-BR" sz="1200" b="1">
                <a:latin typeface="Montserrat" panose="00000500000000000000" pitchFamily="2" charset="0"/>
              </a:rPr>
              <a:t>1.11.1</a:t>
            </a:r>
            <a:r>
              <a:rPr lang="pt-BR" sz="1200">
                <a:latin typeface="Montserrat" panose="00000500000000000000" pitchFamily="2" charset="0"/>
              </a:rPr>
              <a:t>  Exceto quando os documentos de garantia dispuserem de forma diferente, a Ingersoll Rand garante que: (i) os Equipamentos contam com garantia contra defeitos de fabricação por um período de 12 (doze)  meses contados da data emissão da nota fiscal, (ii) as partes e peças de reposição vendidas são garantidos contra defeitos de fabricação por um período de 6 (seis) meses contados da data de emissão da nota fiscal; (iii) as partes e peças recondicionadas contam com garantia contra defeitos de fabricação por um período de 3 (três) meses, contados da data de emissão da nota fiscal; (iv) os serviços são pelo período de 90 (noventa) dias a contar da sua execução.</a:t>
            </a:r>
          </a:p>
          <a:p>
            <a:pPr lvl="2" algn="just"/>
            <a:r>
              <a:rPr lang="pt-BR" sz="1200" b="1">
                <a:latin typeface="Montserrat" panose="00000500000000000000" pitchFamily="2" charset="0"/>
              </a:rPr>
              <a:t>1.11.2</a:t>
            </a:r>
            <a:r>
              <a:rPr lang="pt-BR" sz="1200">
                <a:latin typeface="Montserrat" panose="00000500000000000000" pitchFamily="2" charset="0"/>
              </a:rPr>
              <a:t>  Durante os períodos acima previstos, a Ingersoll Rand, a seu critério, substituirá ou reparará as partes ou peças dos Equipamentos nas quais, após sua avaliação técnica, forem constatados defeitos de fabricação, sem custo para a Compradora. Para fazer jus à garantia ora estipulada, a Compradora deverá comprovar a compra efetuada e a data em que esta tiver ocorrido, no momento de solicitar o reparo sob garantia, sendo certo que a presente garantia será válida somente no território brasileiro, não sendo aplicável a Equipamentos que tenham sido adquiridos nesse território e posteriormente exportados pela Compradora. A presente garantia não se aplica a defeitos apresentados em decorrência de uso indevido dos Equipamentos, intervenções técnicas realizados por pessoal não autorizado pela Ingersoll Rand, corrosão, erosão, uso em condições anormais de clima, umidade, partículas de ar ou temperatura, modificações realizadas nos Equipamentos sem a prévia e expressa autorização, por escrito, da Ingersoll Rand ou não atendimento às práticas e condições de uso,  serviços e manutenção recomendadas nos manuais técnicos que acompanham os Equipamentos. Toda manutenção ou reparo nos Equipamentos deve ser realizada por profissionais qualificados e autorizados pela Ingersoll Rand em sua rede de distribuidores e assistência técnica, e todas as partes e peças utilizadas em tais manutenções e reparos devem ser genuínas e aprovadas pela Ingersoll Rand. Qualquer eventual inobservância às condições ora previstas invalidará a garantia ora regulada, para todos os fins e efeitos.</a:t>
            </a:r>
          </a:p>
          <a:p>
            <a:pPr lvl="2" algn="just"/>
            <a:r>
              <a:rPr lang="pt-BR" sz="1200" b="1">
                <a:latin typeface="Montserrat" panose="00000500000000000000" pitchFamily="2" charset="0"/>
              </a:rPr>
              <a:t>1.11.3</a:t>
            </a:r>
            <a:r>
              <a:rPr lang="pt-BR" sz="1200">
                <a:latin typeface="Montserrat" panose="00000500000000000000" pitchFamily="2" charset="0"/>
              </a:rPr>
              <a:t> A presente garantia não se aplica a motores que sejam fabricados por terceiros, os quais dispõem de garantia própria prestada pelo respectivo fabricante.</a:t>
            </a:r>
          </a:p>
          <a:p>
            <a:pPr lvl="2" algn="just"/>
            <a:r>
              <a:rPr lang="pt-BR" sz="1200" b="1">
                <a:latin typeface="Montserrat" panose="00000500000000000000" pitchFamily="2" charset="0"/>
              </a:rPr>
              <a:t>1.11.4 </a:t>
            </a:r>
            <a:r>
              <a:rPr lang="pt-BR" sz="1200">
                <a:latin typeface="Montserrat" panose="00000500000000000000" pitchFamily="2" charset="0"/>
              </a:rPr>
              <a:t> Nenhum reparo, substituição, refazimento, ajuste ou modificação realizado a título de garantia prorrogará os prazos originais de garantia, quer para o Equipamento, seus acessórios ou peças substituídas.</a:t>
            </a:r>
          </a:p>
        </p:txBody>
      </p:sp>
      <p:sp>
        <p:nvSpPr>
          <p:cNvPr id="2" name="Freeform 11">
            <a:extLst>
              <a:ext uri="{FF2B5EF4-FFF2-40B4-BE49-F238E27FC236}">
                <a16:creationId xmlns:a16="http://schemas.microsoft.com/office/drawing/2014/main" id="{1E1C7C52-88DA-2552-E5B8-0B02439A082D}"/>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4"/>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dirty="0"/>
            </a:p>
          </p:txBody>
        </p:sp>
      </p:grpSp>
      <p:sp>
        <p:nvSpPr>
          <p:cNvPr id="16" name="Freeform 16"/>
          <p:cNvSpPr/>
          <p:nvPr/>
        </p:nvSpPr>
        <p:spPr>
          <a:xfrm>
            <a:off x="627503" y="4344490"/>
            <a:ext cx="163664" cy="249392"/>
          </a:xfrm>
          <a:custGeom>
            <a:avLst/>
            <a:gdLst/>
            <a:ahLst/>
            <a:cxnLst/>
            <a:rect l="l" t="t" r="r" b="b"/>
            <a:pathLst>
              <a:path w="163664" h="249392">
                <a:moveTo>
                  <a:pt x="0" y="0"/>
                </a:moveTo>
                <a:lnTo>
                  <a:pt x="163664" y="0"/>
                </a:lnTo>
                <a:lnTo>
                  <a:pt x="163664" y="249392"/>
                </a:lnTo>
                <a:lnTo>
                  <a:pt x="0" y="249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627505" y="4799170"/>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3853719" y="4381761"/>
            <a:ext cx="163664" cy="249392"/>
          </a:xfrm>
          <a:custGeom>
            <a:avLst/>
            <a:gdLst/>
            <a:ahLst/>
            <a:cxnLst/>
            <a:rect l="l" t="t" r="r" b="b"/>
            <a:pathLst>
              <a:path w="163664" h="249392">
                <a:moveTo>
                  <a:pt x="0" y="0"/>
                </a:moveTo>
                <a:lnTo>
                  <a:pt x="163663" y="0"/>
                </a:lnTo>
                <a:lnTo>
                  <a:pt x="163663" y="249393"/>
                </a:lnTo>
                <a:lnTo>
                  <a:pt x="0" y="249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3838353" y="4788364"/>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AutoShape 20"/>
          <p:cNvSpPr/>
          <p:nvPr/>
        </p:nvSpPr>
        <p:spPr>
          <a:xfrm flipH="1" flipV="1">
            <a:off x="3696717" y="3744249"/>
            <a:ext cx="0" cy="1524421"/>
          </a:xfrm>
          <a:prstGeom prst="line">
            <a:avLst/>
          </a:prstGeom>
          <a:ln w="19050" cap="flat">
            <a:solidFill>
              <a:srgbClr val="000000"/>
            </a:solidFill>
            <a:prstDash val="solid"/>
            <a:headEnd type="none" w="sm" len="sm"/>
            <a:tailEnd type="none" w="sm" len="sm"/>
          </a:ln>
        </p:spPr>
      </p:sp>
      <p:sp>
        <p:nvSpPr>
          <p:cNvPr id="21" name="TextBox 21"/>
          <p:cNvSpPr txBox="1"/>
          <p:nvPr/>
        </p:nvSpPr>
        <p:spPr>
          <a:xfrm>
            <a:off x="1034174" y="1034285"/>
            <a:ext cx="4608974" cy="621027"/>
          </a:xfrm>
          <a:prstGeom prst="rect">
            <a:avLst/>
          </a:prstGeom>
        </p:spPr>
        <p:txBody>
          <a:bodyPr lIns="0" tIns="0" rIns="0" bIns="0" rtlCol="0" anchor="t">
            <a:spAutoFit/>
          </a:bodyPr>
          <a:lstStyle/>
          <a:p>
            <a:pPr>
              <a:lnSpc>
                <a:spcPts val="2520"/>
              </a:lnSpc>
            </a:pPr>
            <a:r>
              <a:rPr lang="en-US" b="1" dirty="0">
                <a:solidFill>
                  <a:srgbClr val="6F6F6F"/>
                </a:solidFill>
                <a:latin typeface="Montserrat" panose="00000500000000000000" pitchFamily="2" charset="0"/>
                <a:ea typeface="Montserrat Bold"/>
                <a:cs typeface="Montserrat Bold"/>
                <a:sym typeface="Montserrat Bold"/>
              </a:rPr>
              <a:t>À DISPOSIÇÃO</a:t>
            </a:r>
          </a:p>
          <a:p>
            <a:pPr>
              <a:lnSpc>
                <a:spcPts val="2520"/>
              </a:lnSpc>
            </a:pPr>
            <a:endParaRPr lang="en-US" b="1" dirty="0">
              <a:solidFill>
                <a:srgbClr val="6F6F6F"/>
              </a:solidFill>
              <a:latin typeface="Montserrat Bold"/>
              <a:ea typeface="Montserrat Bold"/>
              <a:cs typeface="Montserrat Bold"/>
              <a:sym typeface="Montserrat Bold"/>
            </a:endParaRPr>
          </a:p>
        </p:txBody>
      </p:sp>
      <p:sp>
        <p:nvSpPr>
          <p:cNvPr id="22" name="TextBox 22"/>
          <p:cNvSpPr txBox="1"/>
          <p:nvPr/>
        </p:nvSpPr>
        <p:spPr>
          <a:xfrm>
            <a:off x="509944" y="1636262"/>
            <a:ext cx="6128010" cy="1945597"/>
          </a:xfrm>
          <a:prstGeom prst="rect">
            <a:avLst/>
          </a:prstGeom>
        </p:spPr>
        <p:txBody>
          <a:bodyPr lIns="0" tIns="0" rIns="0" bIns="0" rtlCol="0" anchor="t">
            <a:spAutoFit/>
          </a:bodyPr>
          <a:lstStyle/>
          <a:p>
            <a:pPr algn="just">
              <a:lnSpc>
                <a:spcPts val="1679"/>
              </a:lnSpc>
            </a:pPr>
            <a:r>
              <a:rPr lang="en-US" sz="1200" dirty="0">
                <a:solidFill>
                  <a:srgbClr val="000000"/>
                </a:solidFill>
                <a:latin typeface="Montserrat"/>
                <a:ea typeface="Montserrat"/>
                <a:cs typeface="Montserrat"/>
                <a:sym typeface="Montserrat"/>
              </a:rPr>
              <a:t>A </a:t>
            </a:r>
            <a:r>
              <a:rPr lang="en-US" sz="1200" dirty="0" err="1">
                <a:solidFill>
                  <a:srgbClr val="000000"/>
                </a:solidFill>
                <a:latin typeface="Montserrat"/>
                <a:ea typeface="Montserrat"/>
                <a:cs typeface="Montserrat"/>
                <a:sym typeface="Montserrat"/>
              </a:rPr>
              <a:t>Evolução</a:t>
            </a:r>
            <a:r>
              <a:rPr lang="en-US" sz="1200">
                <a:solidFill>
                  <a:srgbClr val="000000"/>
                </a:solidFill>
                <a:latin typeface="Montserrat"/>
                <a:ea typeface="Montserrat"/>
                <a:cs typeface="Montserrat"/>
                <a:sym typeface="Montserrat"/>
              </a:rPr>
              <a:t> Compressores conta com equipe comercial e técnica altamente qualificada, para fornecimento de produtos, serviços e soluções no consumo de ar comprimido, assim aprimorando o consumo de energia elétrica, a produtividade e as operações dos clientes.</a:t>
            </a:r>
          </a:p>
          <a:p>
            <a:pPr algn="just">
              <a:lnSpc>
                <a:spcPts val="1679"/>
              </a:lnSpc>
            </a:pPr>
            <a:r>
              <a:rPr lang="en-US" sz="1200">
                <a:solidFill>
                  <a:srgbClr val="000000"/>
                </a:solidFill>
                <a:latin typeface="Montserrat"/>
                <a:ea typeface="Montserrat"/>
                <a:cs typeface="Montserrat"/>
                <a:sym typeface="Montserrat"/>
              </a:rPr>
              <a:t> Atualmente a Evolução Compressores conta com duas unidades, sendo uma em São Bento do Sul e outra em Joinville ambas no estado de Santa Catarina.</a:t>
            </a:r>
          </a:p>
          <a:p>
            <a:pPr algn="just">
              <a:lnSpc>
                <a:spcPts val="1679"/>
              </a:lnSpc>
            </a:pPr>
            <a:r>
              <a:rPr lang="en-US" sz="1200">
                <a:solidFill>
                  <a:srgbClr val="000000"/>
                </a:solidFill>
                <a:latin typeface="Montserrat"/>
                <a:ea typeface="Montserrat"/>
                <a:cs typeface="Montserrat"/>
                <a:sym typeface="Montserrat"/>
              </a:rPr>
              <a:t> Estamos no mercado há mais de 40 anos, oferecendo comprometimento, produtividade e inteligência nos negócios dos clientes.</a:t>
            </a:r>
          </a:p>
          <a:p>
            <a:pPr algn="just">
              <a:lnSpc>
                <a:spcPts val="1679"/>
              </a:lnSpc>
            </a:pPr>
            <a:endParaRPr lang="en-US" sz="1200">
              <a:solidFill>
                <a:srgbClr val="000000"/>
              </a:solidFill>
              <a:latin typeface="Montserrat"/>
              <a:ea typeface="Montserrat"/>
              <a:cs typeface="Montserrat"/>
              <a:sym typeface="Montserrat"/>
            </a:endParaRPr>
          </a:p>
        </p:txBody>
      </p:sp>
      <p:sp>
        <p:nvSpPr>
          <p:cNvPr id="23" name="TextBox 23"/>
          <p:cNvSpPr txBox="1"/>
          <p:nvPr/>
        </p:nvSpPr>
        <p:spPr>
          <a:xfrm>
            <a:off x="573418" y="3783718"/>
            <a:ext cx="210824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Joinville-SC</a:t>
            </a:r>
          </a:p>
        </p:txBody>
      </p:sp>
      <p:sp>
        <p:nvSpPr>
          <p:cNvPr id="24" name="TextBox 24"/>
          <p:cNvSpPr txBox="1"/>
          <p:nvPr/>
        </p:nvSpPr>
        <p:spPr>
          <a:xfrm>
            <a:off x="3870851" y="3744247"/>
            <a:ext cx="304286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São Bento do Sul - SC</a:t>
            </a:r>
          </a:p>
        </p:txBody>
      </p:sp>
      <p:sp>
        <p:nvSpPr>
          <p:cNvPr id="25" name="TextBox 25"/>
          <p:cNvSpPr txBox="1"/>
          <p:nvPr/>
        </p:nvSpPr>
        <p:spPr>
          <a:xfrm>
            <a:off x="928217" y="4402868"/>
            <a:ext cx="270404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dos suíços, 17210 - Costa e Silva</a:t>
            </a:r>
          </a:p>
        </p:txBody>
      </p:sp>
      <p:sp>
        <p:nvSpPr>
          <p:cNvPr id="26" name="TextBox 26"/>
          <p:cNvSpPr txBox="1"/>
          <p:nvPr/>
        </p:nvSpPr>
        <p:spPr>
          <a:xfrm>
            <a:off x="928217" y="4818723"/>
            <a:ext cx="140223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3455-0337</a:t>
            </a:r>
          </a:p>
        </p:txBody>
      </p:sp>
      <p:sp>
        <p:nvSpPr>
          <p:cNvPr id="27" name="TextBox 27"/>
          <p:cNvSpPr txBox="1"/>
          <p:nvPr/>
        </p:nvSpPr>
        <p:spPr>
          <a:xfrm>
            <a:off x="4184286" y="4380331"/>
            <a:ext cx="2289067" cy="408035"/>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Pedro Robl, 13 - Colonial</a:t>
            </a:r>
          </a:p>
          <a:p>
            <a:pPr algn="ctr">
              <a:lnSpc>
                <a:spcPts val="1640"/>
              </a:lnSpc>
            </a:pPr>
            <a:endParaRPr lang="en-US" sz="1171">
              <a:solidFill>
                <a:srgbClr val="000000"/>
              </a:solidFill>
              <a:latin typeface="Montserrat"/>
              <a:ea typeface="Montserrat"/>
              <a:cs typeface="Montserrat"/>
              <a:sym typeface="Montserrat"/>
            </a:endParaRPr>
          </a:p>
        </p:txBody>
      </p:sp>
      <p:sp>
        <p:nvSpPr>
          <p:cNvPr id="28" name="TextBox 28"/>
          <p:cNvSpPr txBox="1"/>
          <p:nvPr/>
        </p:nvSpPr>
        <p:spPr>
          <a:xfrm>
            <a:off x="4184284" y="4755717"/>
            <a:ext cx="1590096" cy="396199"/>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3635-0222</a:t>
            </a:r>
          </a:p>
          <a:p>
            <a:pPr algn="ctr">
              <a:lnSpc>
                <a:spcPts val="1640"/>
              </a:lnSpc>
            </a:pPr>
            <a:endParaRPr lang="en-US" sz="1171">
              <a:solidFill>
                <a:srgbClr val="000000"/>
              </a:solidFill>
              <a:latin typeface="Montserrat"/>
              <a:ea typeface="Montserrat"/>
              <a:cs typeface="Montserrat"/>
              <a:sym typeface="Montserrat"/>
            </a:endParaRPr>
          </a:p>
        </p:txBody>
      </p:sp>
      <p:sp>
        <p:nvSpPr>
          <p:cNvPr id="29" name="TextBox 29"/>
          <p:cNvSpPr txBox="1"/>
          <p:nvPr/>
        </p:nvSpPr>
        <p:spPr>
          <a:xfrm>
            <a:off x="675990" y="5963877"/>
            <a:ext cx="6128010" cy="855555"/>
          </a:xfrm>
          <a:prstGeom prst="rect">
            <a:avLst/>
          </a:prstGeom>
        </p:spPr>
        <p:txBody>
          <a:bodyPr lIns="0" tIns="0" rIns="0" bIns="0" rtlCol="0" anchor="t">
            <a:spAutoFit/>
          </a:bodyPr>
          <a:lstStyle/>
          <a:p>
            <a:pPr algn="just">
              <a:lnSpc>
                <a:spcPts val="1679"/>
              </a:lnSpc>
            </a:pPr>
            <a:r>
              <a:rPr lang="en-US" sz="1200">
                <a:solidFill>
                  <a:srgbClr val="000000"/>
                </a:solidFill>
                <a:latin typeface="Montserrat"/>
                <a:ea typeface="Montserrat"/>
                <a:cs typeface="Montserrat"/>
                <a:sym typeface="Montserrat"/>
              </a:rPr>
              <a:t>Agradecemos a oportunidade e vossa atenção à nossa proposta técnica e comercial referente a fornecimento de equipamentos para geração de ar comprimido.</a:t>
            </a:r>
          </a:p>
          <a:p>
            <a:pPr algn="just">
              <a:lnSpc>
                <a:spcPts val="1679"/>
              </a:lnSpc>
            </a:pPr>
            <a:endParaRPr lang="en-US" sz="1200">
              <a:solidFill>
                <a:srgbClr val="000000"/>
              </a:solidFill>
              <a:latin typeface="Montserrat"/>
              <a:ea typeface="Montserrat"/>
              <a:cs typeface="Montserrat"/>
              <a:sym typeface="Montserrat"/>
            </a:endParaRPr>
          </a:p>
        </p:txBody>
      </p:sp>
      <p:sp>
        <p:nvSpPr>
          <p:cNvPr id="30" name="TextBox 30"/>
          <p:cNvSpPr txBox="1"/>
          <p:nvPr/>
        </p:nvSpPr>
        <p:spPr>
          <a:xfrm>
            <a:off x="675990" y="6923997"/>
            <a:ext cx="6324722" cy="855427"/>
          </a:xfrm>
          <a:prstGeom prst="rect">
            <a:avLst/>
          </a:prstGeom>
        </p:spPr>
        <p:txBody>
          <a:bodyPr lIns="0" tIns="0" rIns="0" bIns="0" rtlCol="0" anchor="t">
            <a:spAutoFit/>
          </a:bodyPr>
          <a:lstStyle/>
          <a:p>
            <a:pPr>
              <a:lnSpc>
                <a:spcPts val="1675"/>
              </a:lnSpc>
            </a:pPr>
            <a:r>
              <a:rPr lang="en-US" sz="1196">
                <a:solidFill>
                  <a:srgbClr val="000000"/>
                </a:solidFill>
                <a:latin typeface="Montserrat" panose="00000500000000000000" pitchFamily="2" charset="0"/>
                <a:ea typeface="Montserrat Medium"/>
                <a:cs typeface="Montserrat Medium"/>
                <a:sym typeface="Montserrat Medium"/>
              </a:rPr>
              <a:t>Desde já ficamos à disposição para esclarecimentos de quaisquer dúvidas ou para o fornecimento de informações adicionais que se fizerem necessárias.</a:t>
            </a:r>
          </a:p>
          <a:p>
            <a:pPr>
              <a:lnSpc>
                <a:spcPts val="1675"/>
              </a:lnSpc>
            </a:pPr>
            <a:endParaRPr lang="en-US" sz="1196" b="1">
              <a:solidFill>
                <a:srgbClr val="000000"/>
              </a:solidFill>
              <a:latin typeface="Montserrat Medium"/>
              <a:ea typeface="Montserrat Medium"/>
              <a:cs typeface="Montserrat Medium"/>
              <a:sym typeface="Montserrat Medium"/>
            </a:endParaRPr>
          </a:p>
          <a:p>
            <a:pPr>
              <a:lnSpc>
                <a:spcPts val="1675"/>
              </a:lnSpc>
            </a:pPr>
            <a:endParaRPr lang="en-US" sz="1196" b="1">
              <a:solidFill>
                <a:srgbClr val="000000"/>
              </a:solidFill>
              <a:latin typeface="Montserrat Medium"/>
              <a:ea typeface="Montserrat Medium"/>
              <a:cs typeface="Montserrat Medium"/>
              <a:sym typeface="Montserrat Medium"/>
            </a:endParaRPr>
          </a:p>
        </p:txBody>
      </p:sp>
      <p:sp>
        <p:nvSpPr>
          <p:cNvPr id="31" name="TextBox 31"/>
          <p:cNvSpPr txBox="1"/>
          <p:nvPr/>
        </p:nvSpPr>
        <p:spPr>
          <a:xfrm>
            <a:off x="691357" y="8216860"/>
            <a:ext cx="6324722" cy="1509452"/>
          </a:xfrm>
          <a:prstGeom prst="rect">
            <a:avLst/>
          </a:prstGeom>
        </p:spPr>
        <p:txBody>
          <a:bodyPr lIns="0" tIns="0" rIns="0" bIns="0" rtlCol="0" anchor="t">
            <a:spAutoFit/>
          </a:bodyPr>
          <a:lstStyle/>
          <a:p>
            <a:pPr>
              <a:lnSpc>
                <a:spcPts val="1675"/>
              </a:lnSpc>
            </a:pPr>
            <a:r>
              <a:rPr lang="en-US" sz="1196">
                <a:solidFill>
                  <a:srgbClr val="000000"/>
                </a:solidFill>
                <a:latin typeface="Montserrat" panose="00000500000000000000" pitchFamily="2" charset="0"/>
                <a:ea typeface="Montserrat Medium"/>
                <a:cs typeface="Montserrat Medium"/>
                <a:sym typeface="Montserrat Medium"/>
              </a:rPr>
              <a:t>Atenciosamente,</a:t>
            </a:r>
          </a:p>
          <a:p>
            <a:pPr>
              <a:lnSpc>
                <a:spcPts val="1675"/>
              </a:lnSpc>
            </a:pPr>
            <a:endParaRPr lang="en-US" sz="1196">
              <a:solidFill>
                <a:srgbClr val="000000"/>
              </a:solidFill>
              <a:latin typeface="Montserrat" panose="00000500000000000000" pitchFamily="2" charset="0"/>
              <a:ea typeface="Montserrat Medium"/>
              <a:cs typeface="Montserrat Medium"/>
              <a:sym typeface="Montserrat Medium"/>
            </a:endParaRPr>
          </a:p>
          <a:p>
            <a:pPr>
              <a:lnSpc>
                <a:spcPts val="1675"/>
              </a:lnSpc>
            </a:pPr>
            <a:r>
              <a:rPr lang="en-US" sz="1196">
                <a:solidFill>
                  <a:srgbClr val="000000"/>
                </a:solidFill>
                <a:latin typeface="Montserrat" panose="00000500000000000000" pitchFamily="2" charset="0"/>
                <a:ea typeface="Montserrat Medium"/>
                <a:cs typeface="Montserrat Medium"/>
                <a:sym typeface="Montserrat Medium"/>
              </a:rPr>
              <a:t>Nome Sobrenome</a:t>
            </a:r>
          </a:p>
          <a:p>
            <a:pPr>
              <a:lnSpc>
                <a:spcPts val="1675"/>
              </a:lnSpc>
            </a:pPr>
            <a:r>
              <a:rPr lang="en-US" sz="1196">
                <a:solidFill>
                  <a:srgbClr val="000000"/>
                </a:solidFill>
                <a:latin typeface="Montserrat" panose="00000500000000000000" pitchFamily="2" charset="0"/>
                <a:ea typeface="Montserrat Medium"/>
                <a:cs typeface="Montserrat Medium"/>
                <a:sym typeface="Montserrat Medium"/>
              </a:rPr>
              <a:t>Consultor Técnico de Vendas</a:t>
            </a:r>
          </a:p>
          <a:p>
            <a:pPr>
              <a:lnSpc>
                <a:spcPts val="1675"/>
              </a:lnSpc>
            </a:pPr>
            <a:r>
              <a:rPr lang="en-US" sz="1196">
                <a:solidFill>
                  <a:srgbClr val="000000"/>
                </a:solidFill>
                <a:latin typeface="Montserrat" panose="00000500000000000000" pitchFamily="2" charset="0"/>
                <a:ea typeface="Montserrat Medium"/>
                <a:cs typeface="Montserrat Medium"/>
                <a:sym typeface="Montserrat Medium"/>
              </a:rPr>
              <a:t>     (47) 00000</a:t>
            </a:r>
          </a:p>
          <a:p>
            <a:pPr>
              <a:lnSpc>
                <a:spcPts val="1675"/>
              </a:lnSpc>
            </a:pPr>
            <a:r>
              <a:rPr lang="en-US" sz="1196" b="1" u="sng">
                <a:solidFill>
                  <a:srgbClr val="000000"/>
                </a:solidFill>
                <a:latin typeface="Montserrat Medium"/>
                <a:ea typeface="Montserrat Medium"/>
                <a:cs typeface="Montserrat Medium"/>
                <a:sym typeface="Montserrat Medium"/>
                <a:hlinkClick r:id="rId6" tooltip="mailto:tavares@evolucaocompressores.com.br"/>
              </a:rPr>
              <a:t>email@evolucaocompressores.com.br</a:t>
            </a:r>
            <a:r>
              <a:rPr lang="en-US" sz="1196" b="1">
                <a:solidFill>
                  <a:srgbClr val="000000"/>
                </a:solidFill>
                <a:latin typeface="Montserrat Medium"/>
                <a:ea typeface="Montserrat Medium"/>
                <a:cs typeface="Montserrat Medium"/>
                <a:sym typeface="Montserrat Medium"/>
              </a:rPr>
              <a:t> </a:t>
            </a:r>
          </a:p>
          <a:p>
            <a:pPr>
              <a:lnSpc>
                <a:spcPts val="1675"/>
              </a:lnSpc>
            </a:pPr>
            <a:endParaRPr lang="en-US" sz="1196" b="1">
              <a:solidFill>
                <a:srgbClr val="000000"/>
              </a:solidFill>
              <a:latin typeface="Montserrat Medium"/>
              <a:ea typeface="Montserrat Medium"/>
              <a:cs typeface="Montserrat Medium"/>
              <a:sym typeface="Montserrat Medium"/>
            </a:endParaRPr>
          </a:p>
        </p:txBody>
      </p:sp>
      <p:pic>
        <p:nvPicPr>
          <p:cNvPr id="36" name="Imagem 35">
            <a:extLst>
              <a:ext uri="{FF2B5EF4-FFF2-40B4-BE49-F238E27FC236}">
                <a16:creationId xmlns:a16="http://schemas.microsoft.com/office/drawing/2014/main" id="{D45A9AA0-0CD1-0BDD-757A-35EB2637447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826" y="63341"/>
            <a:ext cx="7464673" cy="859247"/>
          </a:xfrm>
          <a:prstGeom prst="rect">
            <a:avLst/>
          </a:prstGeom>
        </p:spPr>
      </p:pic>
      <p:pic>
        <p:nvPicPr>
          <p:cNvPr id="7" name="Imagem 6">
            <a:hlinkClick r:id="rId8" tooltip="Visite nosso website"/>
            <a:extLst>
              <a:ext uri="{FF2B5EF4-FFF2-40B4-BE49-F238E27FC236}">
                <a16:creationId xmlns:a16="http://schemas.microsoft.com/office/drawing/2014/main" id="{1D054A0C-0791-1A18-BD12-DD239E6D218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360020" y="9857205"/>
            <a:ext cx="655158" cy="655158"/>
          </a:xfrm>
          <a:prstGeom prst="rect">
            <a:avLst/>
          </a:prstGeom>
        </p:spPr>
      </p:pic>
      <p:pic>
        <p:nvPicPr>
          <p:cNvPr id="8" name="Imagem 7">
            <a:hlinkClick r:id="rId10" tooltip="Vídeo Institucional"/>
            <a:extLst>
              <a:ext uri="{FF2B5EF4-FFF2-40B4-BE49-F238E27FC236}">
                <a16:creationId xmlns:a16="http://schemas.microsoft.com/office/drawing/2014/main" id="{A4A434A5-4653-F7A1-1BCB-6B1FD1D9C63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52535" y="10160011"/>
            <a:ext cx="369574" cy="335547"/>
          </a:xfrm>
          <a:prstGeom prst="rect">
            <a:avLst/>
          </a:prstGeom>
        </p:spPr>
      </p:pic>
      <p:pic>
        <p:nvPicPr>
          <p:cNvPr id="9" name="Imagem 8">
            <a:hlinkClick r:id="rId12"/>
            <a:extLst>
              <a:ext uri="{FF2B5EF4-FFF2-40B4-BE49-F238E27FC236}">
                <a16:creationId xmlns:a16="http://schemas.microsoft.com/office/drawing/2014/main" id="{4764EA7B-DDC0-F1FD-A698-CE8FB23530D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467681" y="10137173"/>
            <a:ext cx="322849" cy="322849"/>
          </a:xfrm>
          <a:prstGeom prst="rect">
            <a:avLst/>
          </a:prstGeom>
        </p:spPr>
      </p:pic>
      <p:pic>
        <p:nvPicPr>
          <p:cNvPr id="10" name="Imagem 9">
            <a:hlinkClick r:id="rId14"/>
            <a:extLst>
              <a:ext uri="{FF2B5EF4-FFF2-40B4-BE49-F238E27FC236}">
                <a16:creationId xmlns:a16="http://schemas.microsoft.com/office/drawing/2014/main" id="{EFC4E57F-AFCE-FE69-B516-E41C5581A00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874612" y="10137172"/>
            <a:ext cx="322849" cy="322849"/>
          </a:xfrm>
          <a:prstGeom prst="rect">
            <a:avLst/>
          </a:prstGeom>
        </p:spPr>
      </p:pic>
      <p:pic>
        <p:nvPicPr>
          <p:cNvPr id="12" name="Imagem 11">
            <a:hlinkClick r:id="rId16"/>
            <a:extLst>
              <a:ext uri="{FF2B5EF4-FFF2-40B4-BE49-F238E27FC236}">
                <a16:creationId xmlns:a16="http://schemas.microsoft.com/office/drawing/2014/main" id="{5D3C9FEB-8FCF-C112-8A57-8F1D5A16CCEA}"/>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281543" y="10140452"/>
            <a:ext cx="322849" cy="322849"/>
          </a:xfrm>
          <a:prstGeom prst="rect">
            <a:avLst/>
          </a:prstGeom>
        </p:spPr>
      </p:pic>
      <p:pic>
        <p:nvPicPr>
          <p:cNvPr id="32" name="Imagem 31">
            <a:hlinkClick r:id="rId18"/>
            <a:extLst>
              <a:ext uri="{FF2B5EF4-FFF2-40B4-BE49-F238E27FC236}">
                <a16:creationId xmlns:a16="http://schemas.microsoft.com/office/drawing/2014/main" id="{6B0A0210-A9AB-5E7A-55E6-3341FBFBCE38}"/>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659624" y="10137172"/>
            <a:ext cx="341088" cy="341088"/>
          </a:xfrm>
          <a:prstGeom prst="rect">
            <a:avLst/>
          </a:prstGeom>
        </p:spPr>
      </p:pic>
      <p:sp>
        <p:nvSpPr>
          <p:cNvPr id="34" name="CaixaDeTexto 33">
            <a:extLst>
              <a:ext uri="{FF2B5EF4-FFF2-40B4-BE49-F238E27FC236}">
                <a16:creationId xmlns:a16="http://schemas.microsoft.com/office/drawing/2014/main" id="{7AEB7EC8-E04C-7768-5E4D-62A404AF4F28}"/>
              </a:ext>
            </a:extLst>
          </p:cNvPr>
          <p:cNvSpPr txBox="1"/>
          <p:nvPr/>
        </p:nvSpPr>
        <p:spPr>
          <a:xfrm>
            <a:off x="4322663" y="9601198"/>
            <a:ext cx="3794760" cy="307777"/>
          </a:xfrm>
          <a:prstGeom prst="rect">
            <a:avLst/>
          </a:prstGeom>
          <a:noFill/>
        </p:spPr>
        <p:txBody>
          <a:bodyPr wrap="square">
            <a:spAutoFit/>
          </a:bodyPr>
          <a:lstStyle/>
          <a:p>
            <a:r>
              <a:rPr lang="pt-BR" sz="1400" b="1">
                <a:latin typeface="Montserrat" panose="00000500000000000000" pitchFamily="2" charset="0"/>
                <a:cs typeface="Aharoni" panose="02010803020104030203" pitchFamily="2" charset="-79"/>
              </a:rPr>
              <a:t>Conecte-se com a gente:</a:t>
            </a:r>
            <a:endParaRPr lang="pt-BR" sz="1400" b="1" dirty="0">
              <a:latin typeface="Montserrat" panose="00000500000000000000" pitchFamily="2" charset="0"/>
              <a:cs typeface="Aharoni" panose="02010803020104030203" pitchFamily="2" charset="-79"/>
            </a:endParaRPr>
          </a:p>
        </p:txBody>
      </p:sp>
      <p:grpSp>
        <p:nvGrpSpPr>
          <p:cNvPr id="33" name="Group 8">
            <a:extLst>
              <a:ext uri="{FF2B5EF4-FFF2-40B4-BE49-F238E27FC236}">
                <a16:creationId xmlns:a16="http://schemas.microsoft.com/office/drawing/2014/main" id="{2F308341-1EB1-B506-2147-0C3FDEEFEBB9}"/>
              </a:ext>
            </a:extLst>
          </p:cNvPr>
          <p:cNvGrpSpPr/>
          <p:nvPr/>
        </p:nvGrpSpPr>
        <p:grpSpPr>
          <a:xfrm>
            <a:off x="1" y="10514133"/>
            <a:ext cx="7556500" cy="179269"/>
            <a:chOff x="0" y="0"/>
            <a:chExt cx="3047987" cy="131886"/>
          </a:xfrm>
        </p:grpSpPr>
        <p:sp>
          <p:nvSpPr>
            <p:cNvPr id="35" name="Freeform 9">
              <a:extLst>
                <a:ext uri="{FF2B5EF4-FFF2-40B4-BE49-F238E27FC236}">
                  <a16:creationId xmlns:a16="http://schemas.microsoft.com/office/drawing/2014/main" id="{B8DDF2EA-A70F-06C0-F0D0-87C79DE23B19}"/>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40" name="TextBox 10">
              <a:extLst>
                <a:ext uri="{FF2B5EF4-FFF2-40B4-BE49-F238E27FC236}">
                  <a16:creationId xmlns:a16="http://schemas.microsoft.com/office/drawing/2014/main" id="{E578A217-F2C1-C746-FE9C-5BFFA37D56A4}"/>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Freeform 11">
            <a:extLst>
              <a:ext uri="{FF2B5EF4-FFF2-40B4-BE49-F238E27FC236}">
                <a16:creationId xmlns:a16="http://schemas.microsoft.com/office/drawing/2014/main" id="{7E92E002-D698-BB2C-FE90-F7C3293E519A}"/>
              </a:ext>
            </a:extLst>
          </p:cNvPr>
          <p:cNvSpPr/>
          <p:nvPr/>
        </p:nvSpPr>
        <p:spPr>
          <a:xfrm>
            <a:off x="207519" y="9686856"/>
            <a:ext cx="2350359" cy="891017"/>
          </a:xfrm>
          <a:custGeom>
            <a:avLst/>
            <a:gdLst/>
            <a:ahLst/>
            <a:cxnLst/>
            <a:rect l="l" t="t" r="r" b="b"/>
            <a:pathLst>
              <a:path w="2350359" h="891017">
                <a:moveTo>
                  <a:pt x="0" y="0"/>
                </a:moveTo>
                <a:lnTo>
                  <a:pt x="2350359" y="0"/>
                </a:lnTo>
                <a:lnTo>
                  <a:pt x="2350359" y="891017"/>
                </a:lnTo>
                <a:lnTo>
                  <a:pt x="0" y="891017"/>
                </a:lnTo>
                <a:lnTo>
                  <a:pt x="0" y="0"/>
                </a:lnTo>
                <a:close/>
              </a:path>
            </a:pathLst>
          </a:custGeom>
          <a:blipFill>
            <a:blip r:embed="rId20"/>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2313</TotalTime>
  <Words>1920</Words>
  <Application>Microsoft Office PowerPoint</Application>
  <PresentationFormat>Personalizar</PresentationFormat>
  <Paragraphs>159</Paragraphs>
  <Slides>11</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11</vt:i4>
      </vt:variant>
    </vt:vector>
  </HeadingPairs>
  <TitlesOfParts>
    <vt:vector size="22" baseType="lpstr">
      <vt:lpstr>Montserrat Medium</vt:lpstr>
      <vt:lpstr>Montserrat Ultra-Bold</vt:lpstr>
      <vt:lpstr>Open Sans</vt:lpstr>
      <vt:lpstr>Aptos</vt:lpstr>
      <vt:lpstr>Montserrat</vt:lpstr>
      <vt:lpstr>Wingdings</vt:lpstr>
      <vt:lpstr>Neue Montreal</vt:lpstr>
      <vt:lpstr>Montserrat Bold</vt:lpstr>
      <vt:lpstr>Calibri</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Linha -E</dc:title>
  <dc:creator>EvolucaoCompressores</dc:creator>
  <cp:lastModifiedBy>Kamille Silveira</cp:lastModifiedBy>
  <cp:revision>37</cp:revision>
  <cp:lastPrinted>2025-08-20T12:01:41Z</cp:lastPrinted>
  <dcterms:created xsi:type="dcterms:W3CDTF">2006-08-16T00:00:00Z</dcterms:created>
  <dcterms:modified xsi:type="dcterms:W3CDTF">2025-09-11T13:44:18Z</dcterms:modified>
  <dc:identifier>DAGwijnfSlk</dc:identifier>
</cp:coreProperties>
</file>