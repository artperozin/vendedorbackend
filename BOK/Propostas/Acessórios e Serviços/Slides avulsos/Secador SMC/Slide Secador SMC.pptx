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80" r:id="rId2"/>
  </p:sldIdLst>
  <p:sldSz cx="7556500" cy="10693400"/>
  <p:notesSz cx="6797675" cy="9925050"/>
  <p:embeddedFontLst>
    <p:embeddedFont>
      <p:font typeface="Montserrat" panose="00000500000000000000" pitchFamily="2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322" autoAdjust="0"/>
  </p:normalViewPr>
  <p:slideViewPr>
    <p:cSldViewPr>
      <p:cViewPr varScale="1">
        <p:scale>
          <a:sx n="50" d="100"/>
          <a:sy n="50" d="100"/>
        </p:scale>
        <p:origin x="2635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53" d="100"/>
          <a:sy n="53" d="100"/>
        </p:scale>
        <p:origin x="25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8AE6E75-3963-358C-A73B-9402468FF9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2F854B-2621-EBBB-CE73-09A4CE0E5B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78E1D-67DD-4E8C-88DC-F4D6FD930920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06E5410-A1BE-B047-3F91-1BA665B9806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148F886-C3DA-2757-9543-221935C257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BC10D-DFA5-4BF4-A947-533D8B255A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009541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86573-8530-45A5-A38F-2574AED3FDB8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1239838"/>
            <a:ext cx="2365375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51DBA-812A-4523-B99E-697B9AE51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8582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7BF51-9047-4BAA-EA18-8BB67EBCE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>
            <a:extLst>
              <a:ext uri="{FF2B5EF4-FFF2-40B4-BE49-F238E27FC236}">
                <a16:creationId xmlns:a16="http://schemas.microsoft.com/office/drawing/2014/main" id="{C4071BEE-C36D-AF0A-589C-D5DC2041D0B9}"/>
              </a:ext>
            </a:extLst>
          </p:cNvPr>
          <p:cNvSpPr txBox="1"/>
          <p:nvPr/>
        </p:nvSpPr>
        <p:spPr>
          <a:xfrm>
            <a:off x="494992" y="1082845"/>
            <a:ext cx="4608974" cy="372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80"/>
              </a:lnSpc>
            </a:pPr>
            <a:r>
              <a:rPr lang="en-US" sz="2200" b="1">
                <a:solidFill>
                  <a:srgbClr val="6F6F6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ITEM 01:</a:t>
            </a:r>
          </a:p>
        </p:txBody>
      </p:sp>
      <p:grpSp>
        <p:nvGrpSpPr>
          <p:cNvPr id="16" name="Group 8">
            <a:extLst>
              <a:ext uri="{FF2B5EF4-FFF2-40B4-BE49-F238E27FC236}">
                <a16:creationId xmlns:a16="http://schemas.microsoft.com/office/drawing/2014/main" id="{452B381C-D7DF-414C-AE1E-75995D1DEF83}"/>
              </a:ext>
            </a:extLst>
          </p:cNvPr>
          <p:cNvGrpSpPr/>
          <p:nvPr/>
        </p:nvGrpSpPr>
        <p:grpSpPr>
          <a:xfrm>
            <a:off x="-3500" y="10528423"/>
            <a:ext cx="7556500" cy="231978"/>
            <a:chOff x="0" y="0"/>
            <a:chExt cx="3047987" cy="131886"/>
          </a:xfrm>
        </p:grpSpPr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48EC492E-37F2-C008-DDDB-D37CADB9B053}"/>
                </a:ext>
              </a:extLst>
            </p:cNvPr>
            <p:cNvSpPr/>
            <p:nvPr/>
          </p:nvSpPr>
          <p:spPr>
            <a:xfrm>
              <a:off x="0" y="0"/>
              <a:ext cx="3047987" cy="131886"/>
            </a:xfrm>
            <a:custGeom>
              <a:avLst/>
              <a:gdLst/>
              <a:ahLst/>
              <a:cxnLst/>
              <a:rect l="l" t="t" r="r" b="b"/>
              <a:pathLst>
                <a:path w="3047987" h="131886">
                  <a:moveTo>
                    <a:pt x="0" y="0"/>
                  </a:moveTo>
                  <a:lnTo>
                    <a:pt x="3047987" y="0"/>
                  </a:lnTo>
                  <a:lnTo>
                    <a:pt x="3047987" y="131886"/>
                  </a:lnTo>
                  <a:lnTo>
                    <a:pt x="0" y="131886"/>
                  </a:lnTo>
                  <a:close/>
                </a:path>
              </a:pathLst>
            </a:custGeom>
            <a:solidFill>
              <a:srgbClr val="8B8A88"/>
            </a:solidFill>
          </p:spPr>
        </p:sp>
        <p:sp>
          <p:nvSpPr>
            <p:cNvPr id="18" name="TextBox 10">
              <a:extLst>
                <a:ext uri="{FF2B5EF4-FFF2-40B4-BE49-F238E27FC236}">
                  <a16:creationId xmlns:a16="http://schemas.microsoft.com/office/drawing/2014/main" id="{06A428DF-7D51-619F-2729-E7C739DCD36D}"/>
                </a:ext>
              </a:extLst>
            </p:cNvPr>
            <p:cNvSpPr txBox="1"/>
            <p:nvPr/>
          </p:nvSpPr>
          <p:spPr>
            <a:xfrm>
              <a:off x="0" y="-38100"/>
              <a:ext cx="3047987" cy="169986"/>
            </a:xfrm>
            <a:prstGeom prst="rect">
              <a:avLst/>
            </a:prstGeom>
          </p:spPr>
          <p:txBody>
            <a:bodyPr lIns="45156" tIns="45156" rIns="45156" bIns="45156" rtlCol="0" anchor="ctr"/>
            <a:lstStyle/>
            <a:p>
              <a:pPr algn="ctr">
                <a:lnSpc>
                  <a:spcPts val="2140"/>
                </a:lnSpc>
              </a:pPr>
              <a:endParaRPr/>
            </a:p>
          </p:txBody>
        </p: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05EDB80B-063C-7B50-CE51-4CBD906A2D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6" y="63341"/>
            <a:ext cx="7464673" cy="85924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62DF6AEA-A96B-0C3B-1A80-DE0F71541155}"/>
              </a:ext>
            </a:extLst>
          </p:cNvPr>
          <p:cNvSpPr txBox="1"/>
          <p:nvPr/>
        </p:nvSpPr>
        <p:spPr>
          <a:xfrm>
            <a:off x="403896" y="1582824"/>
            <a:ext cx="39839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BR" sz="1400">
                <a:solidFill>
                  <a:srgbClr val="595959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Secador de Ar por Refrigeração - SMC®</a:t>
            </a:r>
          </a:p>
          <a:p>
            <a:pPr lvl="0"/>
            <a:r>
              <a:rPr lang="pt-BR" sz="1400">
                <a:solidFill>
                  <a:srgbClr val="595959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Modelo: IDF15E1-20</a:t>
            </a:r>
          </a:p>
        </p:txBody>
      </p:sp>
      <p:grpSp>
        <p:nvGrpSpPr>
          <p:cNvPr id="8" name="Group 13">
            <a:extLst>
              <a:ext uri="{FF2B5EF4-FFF2-40B4-BE49-F238E27FC236}">
                <a16:creationId xmlns:a16="http://schemas.microsoft.com/office/drawing/2014/main" id="{9EB706F1-5B0E-6E5A-618F-F0EEAB87FB0E}"/>
              </a:ext>
            </a:extLst>
          </p:cNvPr>
          <p:cNvGrpSpPr/>
          <p:nvPr/>
        </p:nvGrpSpPr>
        <p:grpSpPr>
          <a:xfrm>
            <a:off x="494992" y="7331936"/>
            <a:ext cx="374337" cy="187168"/>
            <a:chOff x="0" y="0"/>
            <a:chExt cx="812800" cy="406400"/>
          </a:xfrm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DB72F3A8-2B3B-9ADE-7F9B-ECB36D185A7B}"/>
                </a:ext>
              </a:extLst>
            </p:cNvPr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727275"/>
            </a:solidFill>
          </p:spPr>
        </p: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23492AB5-3EE4-D447-FE5F-20A6F1CC4057}"/>
                </a:ext>
              </a:extLst>
            </p:cNvPr>
            <p:cNvSpPr txBox="1"/>
            <p:nvPr/>
          </p:nvSpPr>
          <p:spPr>
            <a:xfrm>
              <a:off x="0" y="-28575"/>
              <a:ext cx="6985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3"/>
                </a:lnSpc>
              </a:pPr>
              <a:endParaRPr/>
            </a:p>
          </p:txBody>
        </p:sp>
      </p:grpSp>
      <p:pic>
        <p:nvPicPr>
          <p:cNvPr id="21" name="Google Shape;111;p2">
            <a:extLst>
              <a:ext uri="{FF2B5EF4-FFF2-40B4-BE49-F238E27FC236}">
                <a16:creationId xmlns:a16="http://schemas.microsoft.com/office/drawing/2014/main" id="{C98903FA-2863-4AAC-C25C-79E0F07C2D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6739"/>
          <a:stretch>
            <a:fillRect/>
          </a:stretch>
        </p:blipFill>
        <p:spPr>
          <a:xfrm>
            <a:off x="4190789" y="1455587"/>
            <a:ext cx="3172150" cy="19049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" name="Google Shape;112;p2">
            <a:extLst>
              <a:ext uri="{FF2B5EF4-FFF2-40B4-BE49-F238E27FC236}">
                <a16:creationId xmlns:a16="http://schemas.microsoft.com/office/drawing/2014/main" id="{50DB550E-DE91-B16E-E9F6-2CC20A0DED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3138337"/>
              </p:ext>
            </p:extLst>
          </p:nvPr>
        </p:nvGraphicFramePr>
        <p:xfrm>
          <a:off x="654570" y="3745656"/>
          <a:ext cx="5918225" cy="3048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7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CARACTERISTICAS TÉCNICAS</a:t>
                      </a:r>
                      <a:endParaRPr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</a:t>
                      </a:r>
                      <a:endParaRPr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IDF15E1-20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Performance</a:t>
                      </a:r>
                      <a:endParaRPr sz="11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 row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Vazão</a:t>
                      </a:r>
                      <a:endParaRPr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m³/min</a:t>
                      </a:r>
                      <a:endParaRPr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109,5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PCM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186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m³/h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Pressão</a:t>
                      </a:r>
                      <a:endParaRPr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1,5 ~ 10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Bar(g)</a:t>
                      </a:r>
                      <a:endParaRPr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0,15 ~ 1,0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Tensão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220 / 60 / 1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 / Hz / Fase</a:t>
                      </a:r>
                      <a:endParaRPr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Gás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R134a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(HFC)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Aplicação</a:t>
                      </a:r>
                      <a:endParaRPr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Conexão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Rc3/4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Polegadas (")</a:t>
                      </a:r>
                      <a:endParaRPr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Comprimento</a:t>
                      </a:r>
                      <a:endParaRPr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485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Milímitros (mm)</a:t>
                      </a:r>
                      <a:endParaRPr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Largura</a:t>
                      </a:r>
                      <a:endParaRPr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270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Milímitros (mm)</a:t>
                      </a:r>
                      <a:endParaRPr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Altura</a:t>
                      </a:r>
                      <a:endParaRPr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568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Milímitros (mm)</a:t>
                      </a:r>
                      <a:endParaRPr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Peso</a:t>
                      </a:r>
                      <a:endParaRPr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</a:t>
                      </a:r>
                      <a:endParaRPr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Quilos (Kg)</a:t>
                      </a:r>
                      <a:endParaRPr/>
                    </a:p>
                  </a:txBody>
                  <a:tcPr marL="9525" marR="9525" marT="9525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25" name="TextBox 14">
            <a:extLst>
              <a:ext uri="{FF2B5EF4-FFF2-40B4-BE49-F238E27FC236}">
                <a16:creationId xmlns:a16="http://schemas.microsoft.com/office/drawing/2014/main" id="{986B6789-A460-28C2-743A-84D3C93C6811}"/>
              </a:ext>
            </a:extLst>
          </p:cNvPr>
          <p:cNvSpPr txBox="1"/>
          <p:nvPr/>
        </p:nvSpPr>
        <p:spPr>
          <a:xfrm>
            <a:off x="1029284" y="7203619"/>
            <a:ext cx="4608974" cy="355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80"/>
              </a:lnSpc>
            </a:pPr>
            <a:r>
              <a:rPr lang="en-US" b="1">
                <a:solidFill>
                  <a:srgbClr val="6F6F6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BENEFÍCIOS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671A97B-2B93-0AA1-769C-9212ADA5BD02}"/>
              </a:ext>
            </a:extLst>
          </p:cNvPr>
          <p:cNvSpPr txBox="1"/>
          <p:nvPr/>
        </p:nvSpPr>
        <p:spPr>
          <a:xfrm>
            <a:off x="403897" y="7802756"/>
            <a:ext cx="68590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69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✔"/>
            </a:pPr>
            <a:r>
              <a:rPr lang="pt-BR" sz="14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 Elimina a umidade presente no ar comprimido, evitando condensação de água na rede pneumática;</a:t>
            </a:r>
            <a:endParaRPr lang="pt-BR" sz="1400">
              <a:latin typeface="Montserrat" panose="00000500000000000000" pitchFamily="2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400">
              <a:solidFill>
                <a:schemeClr val="dk1"/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  <a:p>
            <a:pPr marL="0" marR="0" lvl="0" indent="-69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✔"/>
            </a:pPr>
            <a:r>
              <a:rPr lang="pt-BR" sz="14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 Fácil manuseio: basta fazer a instalação elétrica e acionar o botão de partida. O equipamento funcionará automaticamente, sem a necessidade de nenhuma parametrização;</a:t>
            </a:r>
            <a:endParaRPr lang="pt-BR" sz="1400">
              <a:latin typeface="Montserrat" panose="00000500000000000000" pitchFamily="2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400">
              <a:solidFill>
                <a:schemeClr val="dk1"/>
              </a:solidFill>
              <a:latin typeface="Montserrat" panose="00000500000000000000" pitchFamily="2" charset="0"/>
              <a:ea typeface="Arial"/>
              <a:cs typeface="Arial"/>
              <a:sym typeface="Arial"/>
            </a:endParaRPr>
          </a:p>
          <a:p>
            <a:pPr marL="0" marR="0" lvl="0" indent="-69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✔"/>
            </a:pPr>
            <a:r>
              <a:rPr lang="pt-BR" sz="1400">
                <a:solidFill>
                  <a:schemeClr val="dk1"/>
                </a:solidFill>
                <a:latin typeface="Montserrat" panose="00000500000000000000" pitchFamily="2" charset="0"/>
                <a:ea typeface="Arial"/>
                <a:cs typeface="Arial"/>
                <a:sym typeface="Arial"/>
              </a:rPr>
              <a:t>Preocupação com o meio ambiente devido ao uso de gás de refrigeração ecológico.</a:t>
            </a:r>
          </a:p>
        </p:txBody>
      </p:sp>
    </p:spTree>
    <p:extLst>
      <p:ext uri="{BB962C8B-B14F-4D97-AF65-F5344CB8AC3E}">
        <p14:creationId xmlns:p14="http://schemas.microsoft.com/office/powerpoint/2010/main" val="2681387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3305</TotalTime>
  <Words>147</Words>
  <Application>Microsoft Office PowerPoint</Application>
  <PresentationFormat>Personalizar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Noto Sans Symbols</vt:lpstr>
      <vt:lpstr>Calibri</vt:lpstr>
      <vt:lpstr>Arial</vt:lpstr>
      <vt:lpstr>Aptos</vt:lpstr>
      <vt:lpstr>Montserrat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Linha -E</dc:title>
  <dc:creator>EvolucaoCompressores</dc:creator>
  <cp:lastModifiedBy>Kamille Silveira</cp:lastModifiedBy>
  <cp:revision>35</cp:revision>
  <cp:lastPrinted>2025-08-20T12:01:41Z</cp:lastPrinted>
  <dcterms:created xsi:type="dcterms:W3CDTF">2006-08-16T00:00:00Z</dcterms:created>
  <dcterms:modified xsi:type="dcterms:W3CDTF">2025-09-02T18:47:54Z</dcterms:modified>
  <dc:identifier>DAGwijnfSlk</dc:identifier>
</cp:coreProperties>
</file>